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_rels/slideLayout1.xml.rels" ContentType="application/vnd.openxmlformats-package.relationships+xml"/>
  <Override PartName="/ppt/slideLayouts/slideLayout1.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20.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_rels/slide18.xml.rels" ContentType="application/vnd.openxmlformats-package.relationships+xml"/>
  <Override PartName="/ppt/slides/_rels/slide12.xml.rels" ContentType="application/vnd.openxmlformats-package.relationships+xml"/>
  <Override PartName="/ppt/slides/_rels/slide49.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9.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13.xml.rels" ContentType="application/vnd.openxmlformats-package.relationships+xml"/>
  <Override PartName="/ppt/slides/_rels/slide50.xml.rels" ContentType="application/vnd.openxmlformats-package.relationships+xml"/>
  <Override PartName="/ppt/slides/_rels/slide45.xml.rels" ContentType="application/vnd.openxmlformats-package.relationships+xml"/>
  <Override PartName="/ppt/slides/_rels/slide47.xml.rels" ContentType="application/vnd.openxmlformats-package.relationships+xml"/>
  <Override PartName="/ppt/slides/_rels/slide10.xml.rels" ContentType="application/vnd.openxmlformats-package.relationships+xml"/>
  <Override PartName="/ppt/slides/_rels/slide46.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28.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29.xml.rels" ContentType="application/vnd.openxmlformats-package.relationships+xml"/>
  <Override PartName="/ppt/slides/_rels/slide11.xml.rels" ContentType="application/vnd.openxmlformats-package.relationships+xml"/>
  <Override PartName="/ppt/slides/_rels/slide48.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34.xml.rels" ContentType="application/vnd.openxmlformats-package.relationships+xml"/>
  <Override PartName="/ppt/slides/_rels/slide35.xml.rels" ContentType="application/vnd.openxmlformats-package.relationships+xml"/>
  <Override PartName="/ppt/slides/_rels/slide41.xml.rels" ContentType="application/vnd.openxmlformats-package.relationships+xml"/>
  <Override PartName="/ppt/slides/_rels/slide39.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slide38.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39.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0.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49.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Slides/_rels/notesSlide2.xml.rels" ContentType="application/vnd.openxmlformats-package.relationships+xml"/>
  <Override PartName="/ppt/notesSlides/_rels/notesSlide48.xml.rels" ContentType="application/vnd.openxmlformats-package.relationships+xml"/>
  <Override PartName="/ppt/notesSlides/_rels/notesSlide11.xml.rels" ContentType="application/vnd.openxmlformats-package.relationships+xml"/>
  <Override PartName="/ppt/notesSlides/_rels/notesSlide47.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12.xml.rels" ContentType="application/vnd.openxmlformats-package.relationships+xml"/>
  <Override PartName="/ppt/notesSlides/_rels/notesSlide49.xml.rels" ContentType="application/vnd.openxmlformats-package.relationships+xml"/>
  <Override PartName="/ppt/notesSlides/_rels/notesSlide3.xml.rels" ContentType="application/vnd.openxmlformats-package.relationships+xml"/>
  <Override PartName="/ppt/notesSlides/_rels/notesSlide28.xml.rels" ContentType="application/vnd.openxmlformats-package.relationships+xml"/>
  <Override PartName="/ppt/notesSlides/_rels/notesSlide30.xml.rels" ContentType="application/vnd.openxmlformats-package.relationships+xml"/>
  <Override PartName="/ppt/notesSlides/_rels/notesSlide29.xml.rels" ContentType="application/vnd.openxmlformats-package.relationships+xml"/>
  <Override PartName="/ppt/notesSlides/_rels/notesSlide31.xml.rels" ContentType="application/vnd.openxmlformats-package.relationships+xml"/>
  <Override PartName="/ppt/notesSlides/_rels/notesSlide32.xml.rels" ContentType="application/vnd.openxmlformats-package.relationships+xml"/>
  <Override PartName="/ppt/notesSlides/_rels/notesSlide33.xml.rels" ContentType="application/vnd.openxmlformats-package.relationships+xml"/>
  <Override PartName="/ppt/notesSlides/_rels/notesSlide34.xml.rels" ContentType="application/vnd.openxmlformats-package.relationships+xml"/>
  <Override PartName="/ppt/notesSlides/_rels/notesSlide13.xml.rels" ContentType="application/vnd.openxmlformats-package.relationships+xml"/>
  <Override PartName="/ppt/notesSlides/_rels/notesSlide4.xml.rels" ContentType="application/vnd.openxmlformats-package.relationships+xml"/>
  <Override PartName="/ppt/notesSlides/_rels/notesSlide50.xml.rels" ContentType="application/vnd.openxmlformats-package.relationships+xml"/>
  <Override PartName="/ppt/notesSlides/_rels/notesSlide46.xml.rels" ContentType="application/vnd.openxmlformats-package.relationships+xml"/>
  <Override PartName="/ppt/notesSlides/_rels/notesSlide45.xml.rels" ContentType="application/vnd.openxmlformats-package.relationships+xml"/>
  <Override PartName="/ppt/notesSlides/_rels/notesSlide17.xml.rels" ContentType="application/vnd.openxmlformats-package.relationships+xml"/>
  <Override PartName="/ppt/notesSlides/_rels/notesSlide8.xml.rels" ContentType="application/vnd.openxmlformats-package.relationships+xml"/>
  <Override PartName="/ppt/notesSlides/_rels/notesSlide23.xml.rels" ContentType="application/vnd.openxmlformats-package.relationships+xml"/>
  <Override PartName="/ppt/notesSlides/_rels/notesSlide20.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24.xml.rels" ContentType="application/vnd.openxmlformats-package.relationships+xml"/>
  <Override PartName="/ppt/notesSlides/_rels/notesSlide19.xml.rels" ContentType="application/vnd.openxmlformats-package.relationships+xml"/>
  <Override PartName="/ppt/notesSlides/_rels/notesSlide21.xml.rels" ContentType="application/vnd.openxmlformats-package.relationships+xml"/>
  <Override PartName="/ppt/notesSlides/_rels/notesSlide22.xml.rels" ContentType="application/vnd.openxmlformats-package.relationships+xml"/>
  <Override PartName="/ppt/notesSlides/_rels/notesSlide25.xml.rels" ContentType="application/vnd.openxmlformats-package.relationships+xml"/>
  <Override PartName="/ppt/notesSlides/_rels/notesSlide26.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_rels/notesSlide6.xml.rels" ContentType="application/vnd.openxmlformats-package.relationships+xml"/>
  <Override PartName="/ppt/notesSlides/_rels/notesSlide15.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27.xml.rels" ContentType="application/vnd.openxmlformats-package.relationships+xml"/>
  <Override PartName="/ppt/notesSlides/_rels/notesSlide35.xml.rels" ContentType="application/vnd.openxmlformats-package.relationships+xml"/>
  <Override PartName="/ppt/notesSlides/_rels/notesSlide36.xml.rels" ContentType="application/vnd.openxmlformats-package.relationships+xml"/>
  <Override PartName="/ppt/notesSlides/_rels/notesSlide37.xml.rels" ContentType="application/vnd.openxmlformats-package.relationships+xml"/>
  <Override PartName="/ppt/notesSlides/_rels/notesSlide38.xml.rels" ContentType="application/vnd.openxmlformats-package.relationships+xml"/>
  <Override PartName="/ppt/notesSlides/_rels/notesSlide40.xml.rels" ContentType="application/vnd.openxmlformats-package.relationships+xml"/>
  <Override PartName="/ppt/notesSlides/_rels/notesSlide41.xml.rels" ContentType="application/vnd.openxmlformats-package.relationships+xml"/>
  <Override PartName="/ppt/notesSlides/_rels/notesSlide39.xml.rels" ContentType="application/vnd.openxmlformats-package.relationships+xml"/>
  <Override PartName="/ppt/notesSlides/_rels/notesSlide42.xml.rels" ContentType="application/vnd.openxmlformats-package.relationships+xml"/>
  <Override PartName="/ppt/notesSlides/_rels/notesSlide43.xml.rels" ContentType="application/vnd.openxmlformats-package.relationships+xml"/>
  <Override PartName="/ppt/notesSlides/_rels/notesSlide44.xml.rels" ContentType="application/vnd.openxmlformats-package.relationships+xml"/>
  <Override PartName="/ppt/notesSlides/notesSlide26.xml" ContentType="application/vnd.openxmlformats-officedocument.presentationml.notesSlide+xml"/>
  <Override PartName="/ppt/notesSlides/notesSlide9.xml" ContentType="application/vnd.openxmlformats-officedocument.presentationml.notesSlide+xml"/>
  <Override PartName="/ppt/notesSlides/notesSlide25.xml" ContentType="application/vnd.openxmlformats-officedocument.presentationml.notesSlide+xml"/>
  <Override PartName="/ppt/notesSlides/notesSlide8.xml" ContentType="application/vnd.openxmlformats-officedocument.presentationml.notesSlide+xml"/>
  <Override PartName="/ppt/notesSlides/notesSlide24.xml" ContentType="application/vnd.openxmlformats-officedocument.presentationml.notesSlide+xml"/>
  <Override PartName="/ppt/notesSlides/notesSlide7.xml" ContentType="application/vnd.openxmlformats-officedocument.presentationml.notesSlide+xml"/>
  <Override PartName="/ppt/notesSlides/notesSlide23.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5.xml" ContentType="application/vnd.openxmlformats-officedocument.presentationml.notesSlide+xml"/>
  <Override PartName="/ppt/notesSlides/notesSlide21.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27.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39.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0.xml" ContentType="application/vnd.openxmlformats-officedocument.presentationml.notesSlide+xml"/>
  <Override PartName="/ppt/notesSlides/notesSlide13.xml" ContentType="application/vnd.openxmlformats-officedocument.presentationml.notesSlide+xml"/>
  <Override PartName="/ppt/notesSlides/notesSlide11.xml" ContentType="application/vnd.openxmlformats-officedocument.presentationml.notesSlide+xml"/>
  <Override PartName="/ppt/notesSlides/notesSlide48.xml" ContentType="application/vnd.openxmlformats-officedocument.presentationml.notesSlide+xml"/>
  <Override PartName="/ppt/notesSlides/notesSlide34.xml" ContentType="application/vnd.openxmlformats-officedocument.presentationml.notesSlide+xml"/>
  <Override PartName="/ppt/notesSlides/notesSlide33.xml" ContentType="application/vnd.openxmlformats-officedocument.presentationml.notesSlide+xml"/>
  <Override PartName="/ppt/notesSlides/notesSlide32.xml" ContentType="application/vnd.openxmlformats-officedocument.presentationml.notesSlide+xml"/>
  <Override PartName="/ppt/notesSlides/notesSlide31.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2.xml" ContentType="application/vnd.openxmlformats-officedocument.presentationml.notesSlide+xml"/>
  <Override PartName="/ppt/notesSlides/notesSlide28.xml" ContentType="application/vnd.openxmlformats-officedocument.presentationml.notesSlide+xml"/>
  <Override PartName="/ppt/notesSlides/notesSlide49.xml" ContentType="application/vnd.openxmlformats-officedocument.presentationml.notesSlide+xml"/>
  <Override PartName="/ppt/notesSlides/notesSlide12.xml" ContentType="application/vnd.openxmlformats-officedocument.presentationml.notesSlide+xml"/>
  <Override PartName="/ppt/notesSlides/notesSlide10.xml" ContentType="application/vnd.openxmlformats-officedocument.presentationml.notesSlide+xml"/>
  <Override PartName="/ppt/notesSlides/notesSlide47.xml" ContentType="application/vnd.openxmlformats-officedocument.presentationml.notesSlide+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scatterChart>
        <c:scatterStyle val="line"/>
        <c:varyColors val="0"/>
        <c:ser>
          <c:idx val="0"/>
          <c:order val="0"/>
          <c:tx>
            <c:strRef>
              <c:f>label 0</c:f>
              <c:strCache>
                <c:ptCount val="1"/>
                <c:pt idx="0">
                  <c:v>y = x</c:v>
                </c:pt>
              </c:strCache>
            </c:strRef>
          </c:tx>
          <c:spPr>
            <a:solidFill>
              <a:srgbClr val="ff6b35"/>
            </a:solidFill>
            <a:ln w="38160">
              <a:solidFill>
                <a:srgbClr val="ff6b35"/>
              </a:solidFill>
              <a:round/>
            </a:ln>
          </c:spPr>
          <c:marker>
            <c:symbol val="none"/>
          </c:marker>
          <c:dLbls>
            <c:txPr>
              <a:bodyPr wrap="square"/>
              <a:lstStyle/>
              <a:p>
                <a:pPr>
                  <a:defRPr b="0" sz="1200" strike="noStrike" u="none">
                    <a:solidFill>
                      <a:srgbClr val="000000"/>
                    </a:solidFill>
                    <a:uFillTx/>
                    <a:latin typeface="Arial"/>
                  </a:defRPr>
                </a:pPr>
              </a:p>
            </c:txPr>
            <c:dLblPos val="r"/>
            <c:showLegendKey val="0"/>
            <c:showVal val="0"/>
            <c:showCatName val="0"/>
            <c:showSerName val="0"/>
            <c:showPercent val="0"/>
            <c:separator>; </c:separator>
            <c:showLeaderLines val="1"/>
            <c:leaderLines>
              <c:spPr>
                <a:ln w="38160">
                  <a:solidFill>
                    <a:srgbClr val="000000"/>
                  </a:solidFill>
                </a:ln>
              </c:spPr>
            </c:leaderLines>
            <c:extLst>
              <c:ext xmlns:c15="http://schemas.microsoft.com/office/drawing/2012/chart" uri="{CE6537A1-D6FC-4f65-9D91-7224C49458BB}">
                <c15:showLeaderLines val="1"/>
              </c:ext>
            </c:extLst>
          </c:dLbls>
          <c:xVal>
            <c:numRef>
              <c:f>1</c:f>
              <c:numCache>
                <c:formatCode>General</c:formatCode>
                <c:ptCount val="9"/>
                <c:pt idx="0">
                  <c:v>-4</c:v>
                </c:pt>
                <c:pt idx="1">
                  <c:v>-3</c:v>
                </c:pt>
                <c:pt idx="2">
                  <c:v>-2</c:v>
                </c:pt>
                <c:pt idx="3">
                  <c:v>-1</c:v>
                </c:pt>
                <c:pt idx="4">
                  <c:v>0</c:v>
                </c:pt>
                <c:pt idx="5">
                  <c:v>1</c:v>
                </c:pt>
                <c:pt idx="6">
                  <c:v>2</c:v>
                </c:pt>
                <c:pt idx="7">
                  <c:v>3</c:v>
                </c:pt>
                <c:pt idx="8">
                  <c:v>4</c:v>
                </c:pt>
              </c:numCache>
            </c:numRef>
          </c:xVal>
          <c:yVal>
            <c:numRef>
              <c:f>0</c:f>
              <c:numCache>
                <c:formatCode>General</c:formatCode>
                <c:ptCount val="9"/>
                <c:pt idx="0">
                  <c:v>-4</c:v>
                </c:pt>
                <c:pt idx="1">
                  <c:v>-3</c:v>
                </c:pt>
                <c:pt idx="2">
                  <c:v>-2</c:v>
                </c:pt>
                <c:pt idx="3">
                  <c:v>-1</c:v>
                </c:pt>
                <c:pt idx="4">
                  <c:v>0</c:v>
                </c:pt>
                <c:pt idx="5">
                  <c:v>1</c:v>
                </c:pt>
                <c:pt idx="6">
                  <c:v>2</c:v>
                </c:pt>
                <c:pt idx="7">
                  <c:v>3</c:v>
                </c:pt>
                <c:pt idx="8">
                  <c:v>4</c:v>
                </c:pt>
              </c:numCache>
            </c:numRef>
          </c:yVal>
          <c:smooth val="0"/>
        </c:ser>
        <c:axId val="44620587"/>
        <c:axId val="69479259"/>
      </c:scatterChart>
      <c:valAx>
        <c:axId val="44620587"/>
        <c:scaling>
          <c:orientation val="minMax"/>
          <c:max val="5"/>
          <c:min val="-5"/>
        </c:scaling>
        <c:delete val="0"/>
        <c:axPos val="b"/>
        <c:majorGridlines>
          <c:spPr>
            <a:ln w="12600">
              <a:solidFill>
                <a:srgbClr val="e8edf1"/>
              </a:solidFill>
              <a:round/>
            </a:ln>
          </c:spPr>
        </c:majorGridlines>
        <c:numFmt formatCode="General" sourceLinked="0"/>
        <c:majorTickMark val="none"/>
        <c:minorTickMark val="none"/>
        <c:tickLblPos val="low"/>
        <c:spPr>
          <a:ln w="12600">
            <a:solidFill>
              <a:srgbClr val="888888"/>
            </a:solidFill>
            <a:round/>
          </a:ln>
        </c:spPr>
        <c:txPr>
          <a:bodyPr/>
          <a:lstStyle/>
          <a:p>
            <a:pPr>
              <a:defRPr b="0" sz="1200" strike="noStrike" u="none">
                <a:solidFill>
                  <a:srgbClr val="5d6e7c"/>
                </a:solidFill>
                <a:uFillTx/>
                <a:latin typeface="Calibri"/>
              </a:defRPr>
            </a:pPr>
          </a:p>
        </c:txPr>
        <c:crossAx val="69479259"/>
        <c:crosses val="autoZero"/>
        <c:crossBetween val="midCat"/>
        <c:majorUnit val="1"/>
      </c:valAx>
      <c:valAx>
        <c:axId val="69479259"/>
        <c:scaling>
          <c:orientation val="minMax"/>
          <c:max val="5"/>
          <c:min val="-5"/>
        </c:scaling>
        <c:delete val="0"/>
        <c:axPos val="l"/>
        <c:majorGridlines>
          <c:spPr>
            <a:ln w="12600">
              <a:solidFill>
                <a:srgbClr val="e8edf1"/>
              </a:solidFill>
              <a:round/>
            </a:ln>
          </c:spPr>
        </c:majorGridlines>
        <c:numFmt formatCode="General" sourceLinked="0"/>
        <c:majorTickMark val="none"/>
        <c:minorTickMark val="none"/>
        <c:tickLblPos val="low"/>
        <c:spPr>
          <a:ln w="12600">
            <a:solidFill>
              <a:srgbClr val="888888"/>
            </a:solidFill>
            <a:round/>
          </a:ln>
        </c:spPr>
        <c:txPr>
          <a:bodyPr/>
          <a:lstStyle/>
          <a:p>
            <a:pPr>
              <a:defRPr b="0" sz="1200" strike="noStrike" u="none">
                <a:solidFill>
                  <a:srgbClr val="5d6e7c"/>
                </a:solidFill>
                <a:uFillTx/>
                <a:latin typeface="Calibri"/>
              </a:defRPr>
            </a:pPr>
          </a:p>
        </c:txPr>
        <c:crossAx val="44620587"/>
        <c:crosses val="autoZero"/>
        <c:crossBetween val="midCat"/>
        <c:majorUnit val="1"/>
      </c:valAx>
      <c:spPr>
        <a:noFill/>
        <a:ln w="0">
          <a:noFill/>
        </a:ln>
      </c:spPr>
    </c:plotArea>
    <c:plotVisOnly val="1"/>
    <c:dispBlanksAs val="span"/>
  </c:chart>
  <c:spPr>
    <a:no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scatterChart>
        <c:scatterStyle val="line"/>
        <c:varyColors val="0"/>
        <c:ser>
          <c:idx val="0"/>
          <c:order val="0"/>
          <c:tx>
            <c:strRef>
              <c:f>label 0</c:f>
              <c:strCache>
                <c:ptCount val="1"/>
                <c:pt idx="0">
                  <c:v>m = 0.5</c:v>
                </c:pt>
              </c:strCache>
            </c:strRef>
          </c:tx>
          <c:spPr>
            <a:solidFill>
              <a:srgbClr val="0e7c86"/>
            </a:solidFill>
            <a:ln w="38160">
              <a:solidFill>
                <a:srgbClr val="0e7c86"/>
              </a:solidFill>
              <a:round/>
            </a:ln>
          </c:spPr>
          <c:marker>
            <c:symbol val="none"/>
          </c:marker>
          <c:dLbls>
            <c:txPr>
              <a:bodyPr wrap="square"/>
              <a:lstStyle/>
              <a:p>
                <a:pPr>
                  <a:defRPr b="0" sz="1200" strike="noStrike" u="none">
                    <a:solidFill>
                      <a:srgbClr val="000000"/>
                    </a:solidFill>
                    <a:uFillTx/>
                    <a:latin typeface="Arial"/>
                  </a:defRPr>
                </a:pPr>
              </a:p>
            </c:txPr>
            <c:dLblPos val="r"/>
            <c:showLegendKey val="0"/>
            <c:showVal val="0"/>
            <c:showCatName val="0"/>
            <c:showSerName val="0"/>
            <c:showPercent val="0"/>
            <c:separator>; </c:separator>
            <c:showLeaderLines val="1"/>
            <c:leaderLines>
              <c:spPr>
                <a:ln w="38160">
                  <a:solidFill>
                    <a:srgbClr val="000000"/>
                  </a:solidFill>
                </a:ln>
              </c:spPr>
            </c:leaderLines>
            <c:extLst>
              <c:ext xmlns:c15="http://schemas.microsoft.com/office/drawing/2012/chart" uri="{CE6537A1-D6FC-4f65-9D91-7224C49458BB}">
                <c15:showLeaderLines val="1"/>
              </c:ext>
            </c:extLst>
          </c:dLbls>
          <c:xVal>
            <c:numRef>
              <c:f>1</c:f>
              <c:numCache>
                <c:formatCode>General</c:formatCode>
                <c:ptCount val="9"/>
                <c:pt idx="0">
                  <c:v>-4</c:v>
                </c:pt>
                <c:pt idx="1">
                  <c:v>-3</c:v>
                </c:pt>
                <c:pt idx="2">
                  <c:v>-2</c:v>
                </c:pt>
                <c:pt idx="3">
                  <c:v>-1</c:v>
                </c:pt>
                <c:pt idx="4">
                  <c:v>0</c:v>
                </c:pt>
                <c:pt idx="5">
                  <c:v>1</c:v>
                </c:pt>
                <c:pt idx="6">
                  <c:v>2</c:v>
                </c:pt>
                <c:pt idx="7">
                  <c:v>3</c:v>
                </c:pt>
                <c:pt idx="8">
                  <c:v>4</c:v>
                </c:pt>
              </c:numCache>
            </c:numRef>
          </c:xVal>
          <c:yVal>
            <c:numRef>
              <c:f>0</c:f>
              <c:numCache>
                <c:formatCode>General</c:formatCode>
                <c:ptCount val="9"/>
                <c:pt idx="0">
                  <c:v>-2</c:v>
                </c:pt>
                <c:pt idx="1">
                  <c:v>-1.5</c:v>
                </c:pt>
                <c:pt idx="2">
                  <c:v>-1</c:v>
                </c:pt>
                <c:pt idx="3">
                  <c:v>-0.5</c:v>
                </c:pt>
                <c:pt idx="4">
                  <c:v>0</c:v>
                </c:pt>
                <c:pt idx="5">
                  <c:v>0.5</c:v>
                </c:pt>
                <c:pt idx="6">
                  <c:v>1</c:v>
                </c:pt>
                <c:pt idx="7">
                  <c:v>1.5</c:v>
                </c:pt>
                <c:pt idx="8">
                  <c:v>2</c:v>
                </c:pt>
              </c:numCache>
            </c:numRef>
          </c:yVal>
          <c:smooth val="0"/>
        </c:ser>
        <c:ser>
          <c:idx val="1"/>
          <c:order val="1"/>
          <c:tx>
            <c:strRef>
              <c:f>label 2</c:f>
              <c:strCache>
                <c:ptCount val="1"/>
                <c:pt idx="0">
                  <c:v>m = 1</c:v>
                </c:pt>
              </c:strCache>
            </c:strRef>
          </c:tx>
          <c:spPr>
            <a:solidFill>
              <a:srgbClr val="ff6b35"/>
            </a:solidFill>
            <a:ln w="38160">
              <a:solidFill>
                <a:srgbClr val="ff6b35"/>
              </a:solidFill>
              <a:round/>
            </a:ln>
          </c:spPr>
          <c:marker>
            <c:symbol val="none"/>
          </c:marker>
          <c:dLbls>
            <c:txPr>
              <a:bodyPr wrap="square"/>
              <a:lstStyle/>
              <a:p>
                <a:pPr>
                  <a:defRPr b="0" sz="1200" strike="noStrike" u="none">
                    <a:solidFill>
                      <a:srgbClr val="000000"/>
                    </a:solidFill>
                    <a:uFillTx/>
                    <a:latin typeface="Arial"/>
                  </a:defRPr>
                </a:pPr>
              </a:p>
            </c:txPr>
            <c:dLblPos val="r"/>
            <c:showLegendKey val="0"/>
            <c:showVal val="0"/>
            <c:showCatName val="0"/>
            <c:showSerName val="0"/>
            <c:showPercent val="0"/>
            <c:separator>; </c:separator>
            <c:showLeaderLines val="1"/>
            <c:leaderLines>
              <c:spPr>
                <a:ln w="38160">
                  <a:solidFill>
                    <a:srgbClr val="000000"/>
                  </a:solidFill>
                </a:ln>
              </c:spPr>
            </c:leaderLines>
            <c:extLst>
              <c:ext xmlns:c15="http://schemas.microsoft.com/office/drawing/2012/chart" uri="{CE6537A1-D6FC-4f65-9D91-7224C49458BB}">
                <c15:showLeaderLines val="1"/>
              </c:ext>
            </c:extLst>
          </c:dLbls>
          <c:xVal>
            <c:numRef>
              <c:f>3</c:f>
              <c:numCache>
                <c:formatCode>General</c:formatCode>
                <c:ptCount val="9"/>
                <c:pt idx="0">
                  <c:v>-4</c:v>
                </c:pt>
                <c:pt idx="1">
                  <c:v>-3</c:v>
                </c:pt>
                <c:pt idx="2">
                  <c:v>-2</c:v>
                </c:pt>
                <c:pt idx="3">
                  <c:v>-1</c:v>
                </c:pt>
                <c:pt idx="4">
                  <c:v>0</c:v>
                </c:pt>
                <c:pt idx="5">
                  <c:v>1</c:v>
                </c:pt>
                <c:pt idx="6">
                  <c:v>2</c:v>
                </c:pt>
                <c:pt idx="7">
                  <c:v>3</c:v>
                </c:pt>
                <c:pt idx="8">
                  <c:v>4</c:v>
                </c:pt>
              </c:numCache>
            </c:numRef>
          </c:xVal>
          <c:yVal>
            <c:numRef>
              <c:f>2</c:f>
              <c:numCache>
                <c:formatCode>General</c:formatCode>
                <c:ptCount val="9"/>
                <c:pt idx="0">
                  <c:v>-4</c:v>
                </c:pt>
                <c:pt idx="1">
                  <c:v>-3</c:v>
                </c:pt>
                <c:pt idx="2">
                  <c:v>-2</c:v>
                </c:pt>
                <c:pt idx="3">
                  <c:v>-1</c:v>
                </c:pt>
                <c:pt idx="4">
                  <c:v>0</c:v>
                </c:pt>
                <c:pt idx="5">
                  <c:v>1</c:v>
                </c:pt>
                <c:pt idx="6">
                  <c:v>2</c:v>
                </c:pt>
                <c:pt idx="7">
                  <c:v>3</c:v>
                </c:pt>
                <c:pt idx="8">
                  <c:v>4</c:v>
                </c:pt>
              </c:numCache>
            </c:numRef>
          </c:yVal>
          <c:smooth val="0"/>
        </c:ser>
        <c:ser>
          <c:idx val="2"/>
          <c:order val="2"/>
          <c:tx>
            <c:strRef>
              <c:f>label 4</c:f>
              <c:strCache>
                <c:ptCount val="1"/>
                <c:pt idx="0">
                  <c:v>m = 2.5</c:v>
                </c:pt>
              </c:strCache>
            </c:strRef>
          </c:tx>
          <c:spPr>
            <a:solidFill>
              <a:srgbClr val="7d4e9e"/>
            </a:solidFill>
            <a:ln w="38160">
              <a:solidFill>
                <a:srgbClr val="7d4e9e"/>
              </a:solidFill>
              <a:round/>
            </a:ln>
          </c:spPr>
          <c:marker>
            <c:symbol val="none"/>
          </c:marker>
          <c:dLbls>
            <c:txPr>
              <a:bodyPr wrap="square"/>
              <a:lstStyle/>
              <a:p>
                <a:pPr>
                  <a:defRPr b="0" sz="1200" strike="noStrike" u="none">
                    <a:solidFill>
                      <a:srgbClr val="000000"/>
                    </a:solidFill>
                    <a:uFillTx/>
                    <a:latin typeface="Arial"/>
                  </a:defRPr>
                </a:pPr>
              </a:p>
            </c:txPr>
            <c:dLblPos val="r"/>
            <c:showLegendKey val="0"/>
            <c:showVal val="0"/>
            <c:showCatName val="0"/>
            <c:showSerName val="0"/>
            <c:showPercent val="0"/>
            <c:separator>; </c:separator>
            <c:showLeaderLines val="1"/>
            <c:leaderLines>
              <c:spPr>
                <a:ln w="38160">
                  <a:solidFill>
                    <a:srgbClr val="000000"/>
                  </a:solidFill>
                </a:ln>
              </c:spPr>
            </c:leaderLines>
            <c:extLst>
              <c:ext xmlns:c15="http://schemas.microsoft.com/office/drawing/2012/chart" uri="{CE6537A1-D6FC-4f65-9D91-7224C49458BB}">
                <c15:showLeaderLines val="1"/>
              </c:ext>
            </c:extLst>
          </c:dLbls>
          <c:xVal>
            <c:numRef>
              <c:f>5</c:f>
              <c:numCache>
                <c:formatCode>General</c:formatCode>
                <c:ptCount val="9"/>
                <c:pt idx="0">
                  <c:v>-4</c:v>
                </c:pt>
                <c:pt idx="1">
                  <c:v>-3</c:v>
                </c:pt>
                <c:pt idx="2">
                  <c:v>-2</c:v>
                </c:pt>
                <c:pt idx="3">
                  <c:v>-1</c:v>
                </c:pt>
                <c:pt idx="4">
                  <c:v>0</c:v>
                </c:pt>
                <c:pt idx="5">
                  <c:v>1</c:v>
                </c:pt>
                <c:pt idx="6">
                  <c:v>2</c:v>
                </c:pt>
                <c:pt idx="7">
                  <c:v>3</c:v>
                </c:pt>
                <c:pt idx="8">
                  <c:v>4</c:v>
                </c:pt>
              </c:numCache>
            </c:numRef>
          </c:xVal>
          <c:yVal>
            <c:numRef>
              <c:f>4</c:f>
              <c:numCache>
                <c:formatCode>General</c:formatCode>
                <c:ptCount val="9"/>
                <c:pt idx="0">
                  <c:v>-10</c:v>
                </c:pt>
                <c:pt idx="1">
                  <c:v>-7.5</c:v>
                </c:pt>
                <c:pt idx="2">
                  <c:v>-5</c:v>
                </c:pt>
                <c:pt idx="3">
                  <c:v>-2.5</c:v>
                </c:pt>
                <c:pt idx="4">
                  <c:v>0</c:v>
                </c:pt>
                <c:pt idx="5">
                  <c:v>2.5</c:v>
                </c:pt>
                <c:pt idx="6">
                  <c:v>5</c:v>
                </c:pt>
                <c:pt idx="7">
                  <c:v>7.5</c:v>
                </c:pt>
                <c:pt idx="8">
                  <c:v>10</c:v>
                </c:pt>
              </c:numCache>
            </c:numRef>
          </c:yVal>
          <c:smooth val="0"/>
        </c:ser>
        <c:axId val="3772938"/>
        <c:axId val="87308565"/>
      </c:scatterChart>
      <c:valAx>
        <c:axId val="3772938"/>
        <c:scaling>
          <c:orientation val="minMax"/>
          <c:max val="4"/>
          <c:min val="-4"/>
        </c:scaling>
        <c:delete val="0"/>
        <c:axPos val="b"/>
        <c:majorGridlines>
          <c:spPr>
            <a:ln w="12600">
              <a:solidFill>
                <a:srgbClr val="e8edf1"/>
              </a:solidFill>
              <a:round/>
            </a:ln>
          </c:spPr>
        </c:majorGridlines>
        <c:numFmt formatCode="General" sourceLinked="0"/>
        <c:majorTickMark val="none"/>
        <c:minorTickMark val="none"/>
        <c:tickLblPos val="low"/>
        <c:spPr>
          <a:ln w="12600">
            <a:solidFill>
              <a:srgbClr val="888888"/>
            </a:solidFill>
            <a:round/>
          </a:ln>
        </c:spPr>
        <c:txPr>
          <a:bodyPr/>
          <a:lstStyle/>
          <a:p>
            <a:pPr>
              <a:defRPr b="0" sz="1200" strike="noStrike" u="none">
                <a:solidFill>
                  <a:srgbClr val="5d6e7c"/>
                </a:solidFill>
                <a:uFillTx/>
                <a:latin typeface="Calibri"/>
              </a:defRPr>
            </a:pPr>
          </a:p>
        </c:txPr>
        <c:crossAx val="87308565"/>
        <c:crosses val="autoZero"/>
        <c:crossBetween val="midCat"/>
        <c:majorUnit val="1"/>
      </c:valAx>
      <c:valAx>
        <c:axId val="87308565"/>
        <c:scaling>
          <c:orientation val="minMax"/>
          <c:max val="10"/>
          <c:min val="-10"/>
        </c:scaling>
        <c:delete val="0"/>
        <c:axPos val="l"/>
        <c:majorGridlines>
          <c:spPr>
            <a:ln w="12600">
              <a:solidFill>
                <a:srgbClr val="e8edf1"/>
              </a:solidFill>
              <a:round/>
            </a:ln>
          </c:spPr>
        </c:majorGridlines>
        <c:numFmt formatCode="General" sourceLinked="0"/>
        <c:majorTickMark val="none"/>
        <c:minorTickMark val="none"/>
        <c:tickLblPos val="low"/>
        <c:spPr>
          <a:ln w="12600">
            <a:solidFill>
              <a:srgbClr val="888888"/>
            </a:solidFill>
            <a:round/>
          </a:ln>
        </c:spPr>
        <c:txPr>
          <a:bodyPr/>
          <a:lstStyle/>
          <a:p>
            <a:pPr>
              <a:defRPr b="0" sz="1200" strike="noStrike" u="none">
                <a:solidFill>
                  <a:srgbClr val="5d6e7c"/>
                </a:solidFill>
                <a:uFillTx/>
                <a:latin typeface="Calibri"/>
              </a:defRPr>
            </a:pPr>
          </a:p>
        </c:txPr>
        <c:crossAx val="3772938"/>
        <c:crosses val="autoZero"/>
        <c:crossBetween val="midCat"/>
        <c:majorUnit val="2"/>
      </c:valAx>
      <c:spPr>
        <a:noFill/>
        <a:ln w="0">
          <a:noFill/>
        </a:ln>
      </c:spPr>
    </c:plotArea>
    <c:legend>
      <c:legendPos val="b"/>
      <c:overlay val="0"/>
      <c:spPr>
        <a:noFill/>
        <a:ln w="0">
          <a:noFill/>
        </a:ln>
      </c:spPr>
      <c:txPr>
        <a:bodyPr/>
        <a:lstStyle/>
        <a:p>
          <a:pPr>
            <a:defRPr b="0" sz="1300" strike="noStrike" u="none">
              <a:solidFill>
                <a:srgbClr val="25323d"/>
              </a:solidFill>
              <a:uFillTx/>
              <a:latin typeface="Calibri"/>
            </a:defRPr>
          </a:pPr>
        </a:p>
      </c:txPr>
    </c:legend>
    <c:plotVisOnly val="1"/>
    <c:dispBlanksAs val="span"/>
  </c:chart>
  <c:spPr>
    <a:no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scatterChart>
        <c:scatterStyle val="line"/>
        <c:varyColors val="0"/>
        <c:ser>
          <c:idx val="0"/>
          <c:order val="0"/>
          <c:tx>
            <c:strRef>
              <c:f>label 0</c:f>
              <c:strCache>
                <c:ptCount val="1"/>
                <c:pt idx="0">
                  <c:v>b = -3</c:v>
                </c:pt>
              </c:strCache>
            </c:strRef>
          </c:tx>
          <c:spPr>
            <a:solidFill>
              <a:srgbClr val="0e7c86"/>
            </a:solidFill>
            <a:ln w="38160">
              <a:solidFill>
                <a:srgbClr val="0e7c86"/>
              </a:solidFill>
              <a:round/>
            </a:ln>
          </c:spPr>
          <c:marker>
            <c:symbol val="none"/>
          </c:marker>
          <c:dLbls>
            <c:txPr>
              <a:bodyPr wrap="square"/>
              <a:lstStyle/>
              <a:p>
                <a:pPr>
                  <a:defRPr b="0" sz="1200" strike="noStrike" u="none">
                    <a:solidFill>
                      <a:srgbClr val="000000"/>
                    </a:solidFill>
                    <a:uFillTx/>
                    <a:latin typeface="Arial"/>
                  </a:defRPr>
                </a:pPr>
              </a:p>
            </c:txPr>
            <c:dLblPos val="r"/>
            <c:showLegendKey val="0"/>
            <c:showVal val="0"/>
            <c:showCatName val="0"/>
            <c:showSerName val="0"/>
            <c:showPercent val="0"/>
            <c:separator>; </c:separator>
            <c:showLeaderLines val="1"/>
            <c:leaderLines>
              <c:spPr>
                <a:ln w="38160">
                  <a:solidFill>
                    <a:srgbClr val="000000"/>
                  </a:solidFill>
                </a:ln>
              </c:spPr>
            </c:leaderLines>
            <c:extLst>
              <c:ext xmlns:c15="http://schemas.microsoft.com/office/drawing/2012/chart" uri="{CE6537A1-D6FC-4f65-9D91-7224C49458BB}">
                <c15:showLeaderLines val="1"/>
              </c:ext>
            </c:extLst>
          </c:dLbls>
          <c:xVal>
            <c:numRef>
              <c:f>1</c:f>
              <c:numCache>
                <c:formatCode>General</c:formatCode>
                <c:ptCount val="9"/>
                <c:pt idx="0">
                  <c:v>-4</c:v>
                </c:pt>
                <c:pt idx="1">
                  <c:v>-3</c:v>
                </c:pt>
                <c:pt idx="2">
                  <c:v>-2</c:v>
                </c:pt>
                <c:pt idx="3">
                  <c:v>-1</c:v>
                </c:pt>
                <c:pt idx="4">
                  <c:v>0</c:v>
                </c:pt>
                <c:pt idx="5">
                  <c:v>1</c:v>
                </c:pt>
                <c:pt idx="6">
                  <c:v>2</c:v>
                </c:pt>
                <c:pt idx="7">
                  <c:v>3</c:v>
                </c:pt>
                <c:pt idx="8">
                  <c:v>4</c:v>
                </c:pt>
              </c:numCache>
            </c:numRef>
          </c:xVal>
          <c:yVal>
            <c:numRef>
              <c:f>0</c:f>
              <c:numCache>
                <c:formatCode>General</c:formatCode>
                <c:ptCount val="9"/>
                <c:pt idx="0">
                  <c:v>-7</c:v>
                </c:pt>
                <c:pt idx="1">
                  <c:v>-6</c:v>
                </c:pt>
                <c:pt idx="2">
                  <c:v>-5</c:v>
                </c:pt>
                <c:pt idx="3">
                  <c:v>-4</c:v>
                </c:pt>
                <c:pt idx="4">
                  <c:v>-3</c:v>
                </c:pt>
                <c:pt idx="5">
                  <c:v>-2</c:v>
                </c:pt>
                <c:pt idx="6">
                  <c:v>-1</c:v>
                </c:pt>
                <c:pt idx="7">
                  <c:v>0</c:v>
                </c:pt>
                <c:pt idx="8">
                  <c:v>1</c:v>
                </c:pt>
              </c:numCache>
            </c:numRef>
          </c:yVal>
          <c:smooth val="0"/>
        </c:ser>
        <c:ser>
          <c:idx val="1"/>
          <c:order val="1"/>
          <c:tx>
            <c:strRef>
              <c:f>label 2</c:f>
              <c:strCache>
                <c:ptCount val="1"/>
                <c:pt idx="0">
                  <c:v>b = 0</c:v>
                </c:pt>
              </c:strCache>
            </c:strRef>
          </c:tx>
          <c:spPr>
            <a:solidFill>
              <a:srgbClr val="ff6b35"/>
            </a:solidFill>
            <a:ln w="38160">
              <a:solidFill>
                <a:srgbClr val="ff6b35"/>
              </a:solidFill>
              <a:round/>
            </a:ln>
          </c:spPr>
          <c:marker>
            <c:symbol val="none"/>
          </c:marker>
          <c:dLbls>
            <c:txPr>
              <a:bodyPr wrap="square"/>
              <a:lstStyle/>
              <a:p>
                <a:pPr>
                  <a:defRPr b="0" sz="1200" strike="noStrike" u="none">
                    <a:solidFill>
                      <a:srgbClr val="000000"/>
                    </a:solidFill>
                    <a:uFillTx/>
                    <a:latin typeface="Arial"/>
                  </a:defRPr>
                </a:pPr>
              </a:p>
            </c:txPr>
            <c:dLblPos val="r"/>
            <c:showLegendKey val="0"/>
            <c:showVal val="0"/>
            <c:showCatName val="0"/>
            <c:showSerName val="0"/>
            <c:showPercent val="0"/>
            <c:separator>; </c:separator>
            <c:showLeaderLines val="1"/>
            <c:leaderLines>
              <c:spPr>
                <a:ln w="38160">
                  <a:solidFill>
                    <a:srgbClr val="000000"/>
                  </a:solidFill>
                </a:ln>
              </c:spPr>
            </c:leaderLines>
            <c:extLst>
              <c:ext xmlns:c15="http://schemas.microsoft.com/office/drawing/2012/chart" uri="{CE6537A1-D6FC-4f65-9D91-7224C49458BB}">
                <c15:showLeaderLines val="1"/>
              </c:ext>
            </c:extLst>
          </c:dLbls>
          <c:xVal>
            <c:numRef>
              <c:f>3</c:f>
              <c:numCache>
                <c:formatCode>General</c:formatCode>
                <c:ptCount val="9"/>
                <c:pt idx="0">
                  <c:v>-4</c:v>
                </c:pt>
                <c:pt idx="1">
                  <c:v>-3</c:v>
                </c:pt>
                <c:pt idx="2">
                  <c:v>-2</c:v>
                </c:pt>
                <c:pt idx="3">
                  <c:v>-1</c:v>
                </c:pt>
                <c:pt idx="4">
                  <c:v>0</c:v>
                </c:pt>
                <c:pt idx="5">
                  <c:v>1</c:v>
                </c:pt>
                <c:pt idx="6">
                  <c:v>2</c:v>
                </c:pt>
                <c:pt idx="7">
                  <c:v>3</c:v>
                </c:pt>
                <c:pt idx="8">
                  <c:v>4</c:v>
                </c:pt>
              </c:numCache>
            </c:numRef>
          </c:xVal>
          <c:yVal>
            <c:numRef>
              <c:f>2</c:f>
              <c:numCache>
                <c:formatCode>General</c:formatCode>
                <c:ptCount val="9"/>
                <c:pt idx="0">
                  <c:v>-4</c:v>
                </c:pt>
                <c:pt idx="1">
                  <c:v>-3</c:v>
                </c:pt>
                <c:pt idx="2">
                  <c:v>-2</c:v>
                </c:pt>
                <c:pt idx="3">
                  <c:v>-1</c:v>
                </c:pt>
                <c:pt idx="4">
                  <c:v>0</c:v>
                </c:pt>
                <c:pt idx="5">
                  <c:v>1</c:v>
                </c:pt>
                <c:pt idx="6">
                  <c:v>2</c:v>
                </c:pt>
                <c:pt idx="7">
                  <c:v>3</c:v>
                </c:pt>
                <c:pt idx="8">
                  <c:v>4</c:v>
                </c:pt>
              </c:numCache>
            </c:numRef>
          </c:yVal>
          <c:smooth val="0"/>
        </c:ser>
        <c:ser>
          <c:idx val="2"/>
          <c:order val="2"/>
          <c:tx>
            <c:strRef>
              <c:f>label 4</c:f>
              <c:strCache>
                <c:ptCount val="1"/>
                <c:pt idx="0">
                  <c:v>b = +3</c:v>
                </c:pt>
              </c:strCache>
            </c:strRef>
          </c:tx>
          <c:spPr>
            <a:solidFill>
              <a:srgbClr val="7d4e9e"/>
            </a:solidFill>
            <a:ln w="38160">
              <a:solidFill>
                <a:srgbClr val="7d4e9e"/>
              </a:solidFill>
              <a:round/>
            </a:ln>
          </c:spPr>
          <c:marker>
            <c:symbol val="none"/>
          </c:marker>
          <c:dLbls>
            <c:txPr>
              <a:bodyPr wrap="square"/>
              <a:lstStyle/>
              <a:p>
                <a:pPr>
                  <a:defRPr b="0" sz="1200" strike="noStrike" u="none">
                    <a:solidFill>
                      <a:srgbClr val="000000"/>
                    </a:solidFill>
                    <a:uFillTx/>
                    <a:latin typeface="Arial"/>
                  </a:defRPr>
                </a:pPr>
              </a:p>
            </c:txPr>
            <c:dLblPos val="r"/>
            <c:showLegendKey val="0"/>
            <c:showVal val="0"/>
            <c:showCatName val="0"/>
            <c:showSerName val="0"/>
            <c:showPercent val="0"/>
            <c:separator>; </c:separator>
            <c:showLeaderLines val="1"/>
            <c:leaderLines>
              <c:spPr>
                <a:ln w="38160">
                  <a:solidFill>
                    <a:srgbClr val="000000"/>
                  </a:solidFill>
                </a:ln>
              </c:spPr>
            </c:leaderLines>
            <c:extLst>
              <c:ext xmlns:c15="http://schemas.microsoft.com/office/drawing/2012/chart" uri="{CE6537A1-D6FC-4f65-9D91-7224C49458BB}">
                <c15:showLeaderLines val="1"/>
              </c:ext>
            </c:extLst>
          </c:dLbls>
          <c:xVal>
            <c:numRef>
              <c:f>5</c:f>
              <c:numCache>
                <c:formatCode>General</c:formatCode>
                <c:ptCount val="9"/>
                <c:pt idx="0">
                  <c:v>-4</c:v>
                </c:pt>
                <c:pt idx="1">
                  <c:v>-3</c:v>
                </c:pt>
                <c:pt idx="2">
                  <c:v>-2</c:v>
                </c:pt>
                <c:pt idx="3">
                  <c:v>-1</c:v>
                </c:pt>
                <c:pt idx="4">
                  <c:v>0</c:v>
                </c:pt>
                <c:pt idx="5">
                  <c:v>1</c:v>
                </c:pt>
                <c:pt idx="6">
                  <c:v>2</c:v>
                </c:pt>
                <c:pt idx="7">
                  <c:v>3</c:v>
                </c:pt>
                <c:pt idx="8">
                  <c:v>4</c:v>
                </c:pt>
              </c:numCache>
            </c:numRef>
          </c:xVal>
          <c:yVal>
            <c:numRef>
              <c:f>4</c:f>
              <c:numCache>
                <c:formatCode>General</c:formatCode>
                <c:ptCount val="9"/>
                <c:pt idx="0">
                  <c:v>-1</c:v>
                </c:pt>
                <c:pt idx="1">
                  <c:v>0</c:v>
                </c:pt>
                <c:pt idx="2">
                  <c:v>1</c:v>
                </c:pt>
                <c:pt idx="3">
                  <c:v>2</c:v>
                </c:pt>
                <c:pt idx="4">
                  <c:v>3</c:v>
                </c:pt>
                <c:pt idx="5">
                  <c:v>4</c:v>
                </c:pt>
                <c:pt idx="6">
                  <c:v>5</c:v>
                </c:pt>
                <c:pt idx="7">
                  <c:v>6</c:v>
                </c:pt>
                <c:pt idx="8">
                  <c:v>7</c:v>
                </c:pt>
              </c:numCache>
            </c:numRef>
          </c:yVal>
          <c:smooth val="0"/>
        </c:ser>
        <c:axId val="15634167"/>
        <c:axId val="29433650"/>
      </c:scatterChart>
      <c:valAx>
        <c:axId val="15634167"/>
        <c:scaling>
          <c:orientation val="minMax"/>
          <c:max val="4"/>
          <c:min val="-4"/>
        </c:scaling>
        <c:delete val="0"/>
        <c:axPos val="b"/>
        <c:majorGridlines>
          <c:spPr>
            <a:ln w="12600">
              <a:solidFill>
                <a:srgbClr val="e8edf1"/>
              </a:solidFill>
              <a:round/>
            </a:ln>
          </c:spPr>
        </c:majorGridlines>
        <c:numFmt formatCode="General" sourceLinked="0"/>
        <c:majorTickMark val="none"/>
        <c:minorTickMark val="none"/>
        <c:tickLblPos val="low"/>
        <c:spPr>
          <a:ln w="12600">
            <a:solidFill>
              <a:srgbClr val="888888"/>
            </a:solidFill>
            <a:round/>
          </a:ln>
        </c:spPr>
        <c:txPr>
          <a:bodyPr/>
          <a:lstStyle/>
          <a:p>
            <a:pPr>
              <a:defRPr b="0" sz="1200" strike="noStrike" u="none">
                <a:solidFill>
                  <a:srgbClr val="5d6e7c"/>
                </a:solidFill>
                <a:uFillTx/>
                <a:latin typeface="Calibri"/>
              </a:defRPr>
            </a:pPr>
          </a:p>
        </c:txPr>
        <c:crossAx val="29433650"/>
        <c:crosses val="autoZero"/>
        <c:crossBetween val="midCat"/>
        <c:majorUnit val="1"/>
      </c:valAx>
      <c:valAx>
        <c:axId val="29433650"/>
        <c:scaling>
          <c:orientation val="minMax"/>
          <c:max val="8"/>
          <c:min val="-8"/>
        </c:scaling>
        <c:delete val="0"/>
        <c:axPos val="l"/>
        <c:majorGridlines>
          <c:spPr>
            <a:ln w="12600">
              <a:solidFill>
                <a:srgbClr val="e8edf1"/>
              </a:solidFill>
              <a:round/>
            </a:ln>
          </c:spPr>
        </c:majorGridlines>
        <c:numFmt formatCode="General" sourceLinked="0"/>
        <c:majorTickMark val="none"/>
        <c:minorTickMark val="none"/>
        <c:tickLblPos val="low"/>
        <c:spPr>
          <a:ln w="12600">
            <a:solidFill>
              <a:srgbClr val="888888"/>
            </a:solidFill>
            <a:round/>
          </a:ln>
        </c:spPr>
        <c:txPr>
          <a:bodyPr/>
          <a:lstStyle/>
          <a:p>
            <a:pPr>
              <a:defRPr b="0" sz="1200" strike="noStrike" u="none">
                <a:solidFill>
                  <a:srgbClr val="5d6e7c"/>
                </a:solidFill>
                <a:uFillTx/>
                <a:latin typeface="Calibri"/>
              </a:defRPr>
            </a:pPr>
          </a:p>
        </c:txPr>
        <c:crossAx val="15634167"/>
        <c:crosses val="autoZero"/>
        <c:crossBetween val="midCat"/>
        <c:majorUnit val="2"/>
      </c:valAx>
      <c:spPr>
        <a:noFill/>
        <a:ln w="0">
          <a:noFill/>
        </a:ln>
      </c:spPr>
    </c:plotArea>
    <c:legend>
      <c:legendPos val="b"/>
      <c:overlay val="0"/>
      <c:spPr>
        <a:noFill/>
        <a:ln w="0">
          <a:noFill/>
        </a:ln>
      </c:spPr>
      <c:txPr>
        <a:bodyPr/>
        <a:lstStyle/>
        <a:p>
          <a:pPr>
            <a:defRPr b="0" sz="1300" strike="noStrike" u="none">
              <a:solidFill>
                <a:srgbClr val="25323d"/>
              </a:solidFill>
              <a:uFillTx/>
              <a:latin typeface="Calibri"/>
            </a:defRPr>
          </a:pPr>
        </a:p>
      </c:txPr>
    </c:legend>
    <c:plotVisOnly val="1"/>
    <c:dispBlanksAs val="span"/>
  </c:chart>
  <c:spPr>
    <a:noFill/>
    <a:ln w="0">
      <a:noFill/>
    </a:ln>
  </c:spPr>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scatterChart>
        <c:scatterStyle val="line"/>
        <c:varyColors val="0"/>
        <c:ser>
          <c:idx val="0"/>
          <c:order val="0"/>
          <c:tx>
            <c:strRef>
              <c:f>label 0</c:f>
              <c:strCache>
                <c:ptCount val="1"/>
                <c:pt idx="0">
                  <c:v>Loss</c:v>
                </c:pt>
              </c:strCache>
            </c:strRef>
          </c:tx>
          <c:spPr>
            <a:solidFill>
              <a:srgbClr val="0e7c86"/>
            </a:solidFill>
            <a:ln w="38160">
              <a:solidFill>
                <a:srgbClr val="0e7c86"/>
              </a:solidFill>
              <a:round/>
            </a:ln>
          </c:spPr>
          <c:marker>
            <c:symbol val="none"/>
          </c:marker>
          <c:dLbls>
            <c:txPr>
              <a:bodyPr wrap="square"/>
              <a:lstStyle/>
              <a:p>
                <a:pPr>
                  <a:defRPr b="0" sz="1200" strike="noStrike" u="none">
                    <a:solidFill>
                      <a:srgbClr val="000000"/>
                    </a:solidFill>
                    <a:uFillTx/>
                    <a:latin typeface="Arial"/>
                  </a:defRPr>
                </a:pPr>
              </a:p>
            </c:txPr>
            <c:dLblPos val="r"/>
            <c:showLegendKey val="0"/>
            <c:showVal val="0"/>
            <c:showCatName val="0"/>
            <c:showSerName val="0"/>
            <c:showPercent val="0"/>
            <c:separator>; </c:separator>
            <c:showLeaderLines val="1"/>
            <c:leaderLines>
              <c:spPr>
                <a:ln w="38160">
                  <a:solidFill>
                    <a:srgbClr val="000000"/>
                  </a:solidFill>
                </a:ln>
              </c:spPr>
            </c:leaderLines>
            <c:extLst>
              <c:ext xmlns:c15="http://schemas.microsoft.com/office/drawing/2012/chart" uri="{CE6537A1-D6FC-4f65-9D91-7224C49458BB}">
                <c15:showLeaderLines val="1"/>
              </c:ext>
            </c:extLst>
          </c:dLbls>
          <c:xVal>
            <c:numRef>
              <c:f>1</c:f>
              <c:numCache>
                <c:formatCode>General</c:formatCode>
                <c:ptCount val="22"/>
                <c:pt idx="0">
                  <c:v>-1</c:v>
                </c:pt>
                <c:pt idx="1">
                  <c:v>-0.8</c:v>
                </c:pt>
                <c:pt idx="2">
                  <c:v>-0.6</c:v>
                </c:pt>
                <c:pt idx="3">
                  <c:v>-0.4</c:v>
                </c:pt>
                <c:pt idx="4">
                  <c:v>-0.2</c:v>
                </c:pt>
                <c:pt idx="5">
                  <c:v>0</c:v>
                </c:pt>
                <c:pt idx="6">
                  <c:v>0.2</c:v>
                </c:pt>
                <c:pt idx="7">
                  <c:v>0.4</c:v>
                </c:pt>
                <c:pt idx="8">
                  <c:v>0.6</c:v>
                </c:pt>
                <c:pt idx="9">
                  <c:v>0.8</c:v>
                </c:pt>
                <c:pt idx="10">
                  <c:v>1</c:v>
                </c:pt>
                <c:pt idx="11">
                  <c:v>1.2</c:v>
                </c:pt>
                <c:pt idx="12">
                  <c:v>1.4</c:v>
                </c:pt>
                <c:pt idx="13">
                  <c:v>1.6</c:v>
                </c:pt>
                <c:pt idx="14">
                  <c:v>1.8</c:v>
                </c:pt>
                <c:pt idx="15">
                  <c:v>2</c:v>
                </c:pt>
                <c:pt idx="16">
                  <c:v>2.2</c:v>
                </c:pt>
                <c:pt idx="17">
                  <c:v>2.4</c:v>
                </c:pt>
                <c:pt idx="18">
                  <c:v>2.6</c:v>
                </c:pt>
                <c:pt idx="19">
                  <c:v>2.8</c:v>
                </c:pt>
                <c:pt idx="20">
                  <c:v>3</c:v>
                </c:pt>
                <c:pt idx="21">
                  <c:v>3.2</c:v>
                </c:pt>
              </c:numCache>
            </c:numRef>
          </c:xVal>
          <c:yVal>
            <c:numRef>
              <c:f>0</c:f>
              <c:numCache>
                <c:formatCode>General</c:formatCode>
                <c:ptCount val="22"/>
                <c:pt idx="0">
                  <c:v>16.67</c:v>
                </c:pt>
                <c:pt idx="1">
                  <c:v>14.03</c:v>
                </c:pt>
                <c:pt idx="2">
                  <c:v>11.63</c:v>
                </c:pt>
                <c:pt idx="3">
                  <c:v>9.47</c:v>
                </c:pt>
                <c:pt idx="4">
                  <c:v>7.55</c:v>
                </c:pt>
                <c:pt idx="5">
                  <c:v>5.87</c:v>
                </c:pt>
                <c:pt idx="6">
                  <c:v>4.43</c:v>
                </c:pt>
                <c:pt idx="7">
                  <c:v>3.23</c:v>
                </c:pt>
                <c:pt idx="8">
                  <c:v>2.27</c:v>
                </c:pt>
                <c:pt idx="9">
                  <c:v>1.55</c:v>
                </c:pt>
                <c:pt idx="10">
                  <c:v>1.07</c:v>
                </c:pt>
                <c:pt idx="11">
                  <c:v>0.83</c:v>
                </c:pt>
                <c:pt idx="12">
                  <c:v>0.83</c:v>
                </c:pt>
                <c:pt idx="13">
                  <c:v>1.07</c:v>
                </c:pt>
                <c:pt idx="14">
                  <c:v>1.55</c:v>
                </c:pt>
                <c:pt idx="15">
                  <c:v>2.27</c:v>
                </c:pt>
                <c:pt idx="16">
                  <c:v>3.23</c:v>
                </c:pt>
                <c:pt idx="17">
                  <c:v>4.43</c:v>
                </c:pt>
                <c:pt idx="18">
                  <c:v>5.87</c:v>
                </c:pt>
                <c:pt idx="19">
                  <c:v>7.55</c:v>
                </c:pt>
                <c:pt idx="20">
                  <c:v>9.47</c:v>
                </c:pt>
                <c:pt idx="21">
                  <c:v>11.63</c:v>
                </c:pt>
              </c:numCache>
            </c:numRef>
          </c:yVal>
          <c:smooth val="0"/>
        </c:ser>
        <c:axId val="7967898"/>
        <c:axId val="80897683"/>
      </c:scatterChart>
      <c:valAx>
        <c:axId val="7967898"/>
        <c:scaling>
          <c:orientation val="minMax"/>
          <c:max val="3.5"/>
          <c:min val="-1"/>
        </c:scaling>
        <c:delete val="0"/>
        <c:axPos val="b"/>
        <c:majorGridlines>
          <c:spPr>
            <a:ln w="12600">
              <a:solidFill>
                <a:srgbClr val="e8edf1"/>
              </a:solidFill>
              <a:round/>
            </a:ln>
          </c:spPr>
        </c:majorGridlines>
        <c:title>
          <c:tx>
            <c:rich>
              <a:bodyPr rot="0"/>
              <a:lstStyle/>
              <a:p>
                <a:pPr>
                  <a:defRPr b="0" sz="1300" strike="noStrike" u="none">
                    <a:solidFill>
                      <a:srgbClr val="000000"/>
                    </a:solidFill>
                    <a:uFillTx/>
                    <a:latin typeface="Arial"/>
                  </a:defRPr>
                </a:pPr>
                <a:r>
                  <a:rPr b="0" sz="1300" strike="noStrike" u="none">
                    <a:solidFill>
                      <a:srgbClr val="5d6e7c"/>
                    </a:solidFill>
                    <a:uFillTx/>
                    <a:latin typeface="Calibri"/>
                  </a:rPr>
                  <a:t>value of w</a:t>
                </a:r>
              </a:p>
            </c:rich>
          </c:tx>
          <c:overlay val="0"/>
          <c:spPr>
            <a:noFill/>
            <a:ln w="0">
              <a:noFill/>
            </a:ln>
          </c:spPr>
        </c:title>
        <c:numFmt formatCode="General" sourceLinked="0"/>
        <c:majorTickMark val="none"/>
        <c:minorTickMark val="none"/>
        <c:tickLblPos val="low"/>
        <c:spPr>
          <a:ln w="12600">
            <a:solidFill>
              <a:srgbClr val="888888"/>
            </a:solidFill>
            <a:round/>
          </a:ln>
        </c:spPr>
        <c:txPr>
          <a:bodyPr/>
          <a:lstStyle/>
          <a:p>
            <a:pPr>
              <a:defRPr b="0" sz="1200" strike="noStrike" u="none">
                <a:solidFill>
                  <a:srgbClr val="5d6e7c"/>
                </a:solidFill>
                <a:uFillTx/>
                <a:latin typeface="Calibri"/>
              </a:defRPr>
            </a:pPr>
          </a:p>
        </c:txPr>
        <c:crossAx val="80897683"/>
        <c:crosses val="autoZero"/>
        <c:crossBetween val="midCat"/>
        <c:majorUnit val="1"/>
      </c:valAx>
      <c:valAx>
        <c:axId val="80897683"/>
        <c:scaling>
          <c:orientation val="minMax"/>
          <c:max val="20"/>
          <c:min val="0"/>
        </c:scaling>
        <c:delete val="0"/>
        <c:axPos val="l"/>
        <c:majorGridlines>
          <c:spPr>
            <a:ln w="12600">
              <a:solidFill>
                <a:srgbClr val="e8edf1"/>
              </a:solidFill>
              <a:round/>
            </a:ln>
          </c:spPr>
        </c:majorGridlines>
        <c:title>
          <c:tx>
            <c:rich>
              <a:bodyPr rot="-5400000"/>
              <a:lstStyle/>
              <a:p>
                <a:pPr>
                  <a:defRPr b="0" sz="1300" strike="noStrike" u="none">
                    <a:solidFill>
                      <a:srgbClr val="000000"/>
                    </a:solidFill>
                    <a:uFillTx/>
                    <a:latin typeface="Arial"/>
                  </a:defRPr>
                </a:pPr>
                <a:r>
                  <a:rPr b="0" sz="1300" strike="noStrike" u="none">
                    <a:solidFill>
                      <a:srgbClr val="5d6e7c"/>
                    </a:solidFill>
                    <a:uFillTx/>
                    <a:latin typeface="Calibri"/>
                  </a:rPr>
                  <a:t>loss</a:t>
                </a:r>
              </a:p>
            </c:rich>
          </c:tx>
          <c:overlay val="0"/>
          <c:spPr>
            <a:noFill/>
            <a:ln w="0">
              <a:noFill/>
            </a:ln>
          </c:spPr>
        </c:title>
        <c:numFmt formatCode="General" sourceLinked="0"/>
        <c:majorTickMark val="none"/>
        <c:minorTickMark val="none"/>
        <c:tickLblPos val="low"/>
        <c:spPr>
          <a:ln w="12600">
            <a:solidFill>
              <a:srgbClr val="888888"/>
            </a:solidFill>
            <a:round/>
          </a:ln>
        </c:spPr>
        <c:txPr>
          <a:bodyPr/>
          <a:lstStyle/>
          <a:p>
            <a:pPr>
              <a:defRPr b="0" sz="1200" strike="noStrike" u="none">
                <a:solidFill>
                  <a:srgbClr val="5d6e7c"/>
                </a:solidFill>
                <a:uFillTx/>
                <a:latin typeface="Calibri"/>
              </a:defRPr>
            </a:pPr>
          </a:p>
        </c:txPr>
        <c:crossAx val="7967898"/>
        <c:crosses val="autoZero"/>
        <c:crossBetween val="midCat"/>
        <c:majorUnit val="5"/>
      </c:valAx>
      <c:spPr>
        <a:noFill/>
        <a:ln w="0">
          <a:noFill/>
        </a:ln>
      </c:spPr>
    </c:plotArea>
    <c:plotVisOnly val="1"/>
    <c:dispBlanksAs val="span"/>
  </c:chart>
  <c:spPr>
    <a:noFill/>
    <a:ln w="0">
      <a:noFill/>
    </a:ln>
  </c:spPr>
</c:chartSpace>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sldImg"/>
          </p:nvPr>
        </p:nvSpPr>
        <p:spPr>
          <a:xfrm>
            <a:off x="533520" y="764280"/>
            <a:ext cx="6704640" cy="3771360"/>
          </a:xfrm>
          <a:prstGeom prst="rect">
            <a:avLst/>
          </a:prstGeom>
          <a:noFill/>
          <a:ln w="0">
            <a:noFill/>
          </a:ln>
        </p:spPr>
        <p:txBody>
          <a:bodyPr lIns="0" rIns="0" tIns="0" bIns="0" anchor="ctr">
            <a:noAutofit/>
          </a:bodyPr>
          <a:p>
            <a:r>
              <a:rPr b="0" lang="en-US" sz="1800" strike="noStrike" u="none">
                <a:solidFill>
                  <a:schemeClr val="dk1"/>
                </a:solidFill>
                <a:effectLst/>
                <a:uFillTx/>
                <a:latin typeface="Calibri"/>
              </a:rPr>
              <a:t>Click to move the slide</a:t>
            </a:r>
            <a:endParaRPr b="0" lang="en-US" sz="1800" strike="noStrike" u="none">
              <a:solidFill>
                <a:schemeClr val="dk1"/>
              </a:solidFill>
              <a:effectLst/>
              <a:uFillTx/>
              <a:latin typeface="Calibri"/>
            </a:endParaRPr>
          </a:p>
        </p:txBody>
      </p:sp>
      <p:sp>
        <p:nvSpPr>
          <p:cNvPr id="3"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indent="0">
              <a:buNone/>
            </a:pPr>
            <a:r>
              <a:rPr b="0" lang="en-US" sz="2000" strike="noStrike" u="none">
                <a:solidFill>
                  <a:srgbClr val="000000"/>
                </a:solidFill>
                <a:effectLst/>
                <a:uFillTx/>
                <a:latin typeface="Arial"/>
              </a:rPr>
              <a:t>Click to edit the notes format</a:t>
            </a:r>
            <a:endParaRPr b="0" lang="en-US" sz="2000" strike="noStrike" u="none">
              <a:solidFill>
                <a:srgbClr val="000000"/>
              </a:solidFill>
              <a:effectLst/>
              <a:uFillTx/>
              <a:latin typeface="Arial"/>
            </a:endParaRPr>
          </a:p>
        </p:txBody>
      </p:sp>
      <p:sp>
        <p:nvSpPr>
          <p:cNvPr id="4"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trike="noStrike" u="none">
                <a:solidFill>
                  <a:srgbClr val="000000"/>
                </a:solidFill>
                <a:effectLst/>
                <a:uFillTx/>
                <a:latin typeface="Times New Roman"/>
              </a:rPr>
              <a:t>&lt;header&gt;</a:t>
            </a:r>
            <a:endParaRPr b="0" lang="en-US" sz="1400" strike="noStrike" u="none">
              <a:solidFill>
                <a:srgbClr val="000000"/>
              </a:solidFill>
              <a:effectLst/>
              <a:uFillTx/>
              <a:latin typeface="Times New Roman"/>
            </a:endParaRPr>
          </a:p>
        </p:txBody>
      </p:sp>
      <p:sp>
        <p:nvSpPr>
          <p:cNvPr id="5"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b="0" lang="en-US" sz="1400" strike="noStrike" u="none">
                <a:solidFill>
                  <a:srgbClr val="000000"/>
                </a:solidFill>
                <a:effectLst/>
                <a:uFillTx/>
                <a:latin typeface="Times New Roman"/>
              </a:defRPr>
            </a:lvl1pPr>
          </a:lstStyle>
          <a:p>
            <a:pPr indent="0" algn="r">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6"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7"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trike="noStrike" u="none">
                <a:solidFill>
                  <a:srgbClr val="000000"/>
                </a:solidFill>
                <a:effectLst/>
                <a:uFillTx/>
                <a:latin typeface="Times New Roman"/>
              </a:defRPr>
            </a:lvl1pPr>
          </a:lstStyle>
          <a:p>
            <a:pPr indent="0" algn="r">
              <a:buNone/>
            </a:pPr>
            <a:fld id="{268E3308-6C89-454C-9D38-E51B6733B847}" type="slidenum">
              <a:rPr b="0" lang="en-US"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1" name="PlaceHolder 1"/>
          <p:cNvSpPr>
            <a:spLocks noGrp="1"/>
          </p:cNvSpPr>
          <p:nvPr>
            <p:ph type="sldImg"/>
          </p:nvPr>
        </p:nvSpPr>
        <p:spPr>
          <a:xfrm>
            <a:off x="685800" y="1143000"/>
            <a:ext cx="5486040" cy="3085920"/>
          </a:xfrm>
          <a:prstGeom prst="rect">
            <a:avLst/>
          </a:prstGeom>
          <a:ln w="0">
            <a:noFill/>
          </a:ln>
        </p:spPr>
      </p:sp>
      <p:sp>
        <p:nvSpPr>
          <p:cNvPr id="176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Goal for the session: by the end you should see that a linear regression model is just the y = mx + b you learned in algebra, and that "machine learning" is the process of choosing m and b from data instead of by hand.</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Plan: (1) why hand-written rules fall apart, (2) rebuild the model from the slope formula, (3) walk the full pipeline - data, split, train, test, inference, retrain.</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No calculus required. I will mention derivatives once and you can take it on faith.</a:t>
            </a:r>
            <a:endParaRPr b="0" lang="en-US" sz="2000" strike="noStrike" u="none">
              <a:solidFill>
                <a:srgbClr val="000000"/>
              </a:solidFill>
              <a:effectLst/>
              <a:uFillTx/>
              <a:latin typeface="Arial"/>
            </a:endParaRPr>
          </a:p>
        </p:txBody>
      </p:sp>
      <p:sp>
        <p:nvSpPr>
          <p:cNvPr id="1763" name="PlaceHolder 3"/>
          <p:cNvSpPr>
            <a:spLocks noGrp="1"/>
          </p:cNvSpPr>
          <p:nvPr>
            <p:ph type="sldNum" idx="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9FCE578-00BF-4F22-90AB-0ECBEEA3054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4" name="PlaceHolder 1"/>
          <p:cNvSpPr>
            <a:spLocks noGrp="1"/>
          </p:cNvSpPr>
          <p:nvPr>
            <p:ph type="sldImg"/>
          </p:nvPr>
        </p:nvSpPr>
        <p:spPr>
          <a:xfrm>
            <a:off x="685800" y="1143000"/>
            <a:ext cx="5486040" cy="3085920"/>
          </a:xfrm>
          <a:prstGeom prst="rect">
            <a:avLst/>
          </a:prstGeom>
          <a:ln w="0">
            <a:noFill/>
          </a:ln>
        </p:spPr>
      </p:sp>
      <p:sp>
        <p:nvSpPr>
          <p:cNvPr id="176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Concrete problem so nothing is hand-wavy. We have historical sales. Each row has three inputs and one known answer.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Vocabulary to plant now: the input columns are FEATURES, the answer column is the LABEL or TARGET. One row is a SAMPLE or EXAMPLE.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Because we have the right answers for the training rows, this is SUPERVISED learning. Ask the room how they would write this function before advancing.</a:t>
            </a:r>
            <a:endParaRPr b="0" lang="en-US" sz="2000" strike="noStrike" u="none">
              <a:solidFill>
                <a:srgbClr val="000000"/>
              </a:solidFill>
              <a:effectLst/>
              <a:uFillTx/>
              <a:latin typeface="Arial"/>
            </a:endParaRPr>
          </a:p>
        </p:txBody>
      </p:sp>
      <p:sp>
        <p:nvSpPr>
          <p:cNvPr id="1766" name="PlaceHolder 3"/>
          <p:cNvSpPr>
            <a:spLocks noGrp="1"/>
          </p:cNvSpPr>
          <p:nvPr>
            <p:ph type="sldNum" idx="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2B9FEEC-E09E-40C5-9C86-ACF04CC2203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7" name="PlaceHolder 1"/>
          <p:cNvSpPr>
            <a:spLocks noGrp="1"/>
          </p:cNvSpPr>
          <p:nvPr>
            <p:ph type="sldImg"/>
          </p:nvPr>
        </p:nvSpPr>
        <p:spPr>
          <a:xfrm>
            <a:off x="685800" y="1143000"/>
            <a:ext cx="5486040" cy="3085920"/>
          </a:xfrm>
          <a:prstGeom prst="rect">
            <a:avLst/>
          </a:prstGeom>
          <a:ln w="0">
            <a:noFill/>
          </a:ln>
        </p:spPr>
      </p:sp>
      <p:sp>
        <p:nvSpPr>
          <p:cNvPr id="176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This is the instinct every programmer has: encode the rules by hand. Nested conditionals, thresholds, a return value for each bucket.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Point at the constants. 150,000 is a number I made up. So is the 1000 sq ft cutoff. Nothing in this function came from the data - it came from my gut.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This is a lookup table wearing a function costume. It memorizes buckets; it does not model a relationship.</a:t>
            </a:r>
            <a:endParaRPr b="0" lang="en-US" sz="2000" strike="noStrike" u="none">
              <a:solidFill>
                <a:srgbClr val="000000"/>
              </a:solidFill>
              <a:effectLst/>
              <a:uFillTx/>
              <a:latin typeface="Arial"/>
            </a:endParaRPr>
          </a:p>
        </p:txBody>
      </p:sp>
      <p:sp>
        <p:nvSpPr>
          <p:cNvPr id="1769" name="PlaceHolder 3"/>
          <p:cNvSpPr>
            <a:spLocks noGrp="1"/>
          </p:cNvSpPr>
          <p:nvPr>
            <p:ph type="sldNum" idx="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473995E-5774-4086-8176-42D358E2280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0" name="PlaceHolder 1"/>
          <p:cNvSpPr>
            <a:spLocks noGrp="1"/>
          </p:cNvSpPr>
          <p:nvPr>
            <p:ph type="sldImg"/>
          </p:nvPr>
        </p:nvSpPr>
        <p:spPr>
          <a:xfrm>
            <a:off x="685800" y="1143000"/>
            <a:ext cx="5486040" cy="3085920"/>
          </a:xfrm>
          <a:prstGeom prst="rect">
            <a:avLst/>
          </a:prstGeom>
          <a:ln w="0">
            <a:noFill/>
          </a:ln>
        </p:spPr>
      </p:sp>
      <p:sp>
        <p:nvSpPr>
          <p:cNvPr id="177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Problem 1 is accuracy. Problem 2 is engineering cost. Problem 3 is maintenance. They are three faces of one thing: the knowledge lives in my head instead of in the data.</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Problem 2 is the killer in practice. Real problems have dozens or thousands of features - pixel values, word counts, sensor readings. Nobody writes that tree.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Remember problem 3. We come back to it at the end of the pipeline, because that is the problem machine learning solves most obviously.</a:t>
            </a:r>
            <a:endParaRPr b="0" lang="en-US" sz="2000" strike="noStrike" u="none">
              <a:solidFill>
                <a:srgbClr val="000000"/>
              </a:solidFill>
              <a:effectLst/>
              <a:uFillTx/>
              <a:latin typeface="Arial"/>
            </a:endParaRPr>
          </a:p>
        </p:txBody>
      </p:sp>
      <p:sp>
        <p:nvSpPr>
          <p:cNvPr id="1772" name="PlaceHolder 3"/>
          <p:cNvSpPr>
            <a:spLocks noGrp="1"/>
          </p:cNvSpPr>
          <p:nvPr>
            <p:ph type="sldNum" idx="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C1F7A89-612F-4770-8606-72ADEB090D9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3" name="PlaceHolder 1"/>
          <p:cNvSpPr>
            <a:spLocks noGrp="1"/>
          </p:cNvSpPr>
          <p:nvPr>
            <p:ph type="sldImg"/>
          </p:nvPr>
        </p:nvSpPr>
        <p:spPr>
          <a:xfrm>
            <a:off x="685800" y="1143000"/>
            <a:ext cx="5486040" cy="3085920"/>
          </a:xfrm>
          <a:prstGeom prst="rect">
            <a:avLst/>
          </a:prstGeom>
          <a:ln w="0">
            <a:noFill/>
          </a:ln>
        </p:spPr>
      </p:sp>
      <p:sp>
        <p:nvSpPr>
          <p:cNvPr id="177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This is the pivot for the entire session. The if-statement version put the knowledge in my head; we want it to come out of the data instead.</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trade we are making: instead of writing the decision logic, we write down a fixed shape that has a few adjustable numbers in it, and then hand a procedure the job of choosing good values for those numbers.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For that to work the shape has to be flexible enough to be useful and simple enough to search. There is an obvious candidate that everyone in this room learned around eighth grade, and we are going to spend the next fifteen minutes on it.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Plan from here: build the linear model, then walk the pipeline that every model shares, then do a second model family that works completely differently, then show that the first model was secretly a neural network all along.</a:t>
            </a:r>
            <a:endParaRPr b="0" lang="en-US" sz="2000" strike="noStrike" u="none">
              <a:solidFill>
                <a:srgbClr val="000000"/>
              </a:solidFill>
              <a:effectLst/>
              <a:uFillTx/>
              <a:latin typeface="Arial"/>
            </a:endParaRPr>
          </a:p>
        </p:txBody>
      </p:sp>
      <p:sp>
        <p:nvSpPr>
          <p:cNvPr id="1775" name="PlaceHolder 3"/>
          <p:cNvSpPr>
            <a:spLocks noGrp="1"/>
          </p:cNvSpPr>
          <p:nvPr>
            <p:ph type="sldNum" idx="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C150A2F1-8FD9-440B-B45B-BAF79BEB9B5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6" name="PlaceHolder 1"/>
          <p:cNvSpPr>
            <a:spLocks noGrp="1"/>
          </p:cNvSpPr>
          <p:nvPr>
            <p:ph type="sldImg"/>
          </p:nvPr>
        </p:nvSpPr>
        <p:spPr>
          <a:xfrm>
            <a:off x="685800" y="1143000"/>
            <a:ext cx="5486040" cy="3085920"/>
          </a:xfrm>
          <a:prstGeom prst="rect">
            <a:avLst/>
          </a:prstGeom>
          <a:ln w="0">
            <a:noFill/>
          </a:ln>
        </p:spPr>
      </p:sp>
      <p:sp>
        <p:nvSpPr>
          <p:cNvPr id="177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Eighth grade algebra. A straight line. Two inputs you choose (m and b), one input you are given (x), one output (y).</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important reframe: m and b are not part of the problem. They are DIALS on the function. x is data. m and b are settings.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Ask: how many different lines can this equation draw? Infinitely many. That flexibility is the whole point.</a:t>
            </a:r>
            <a:endParaRPr b="0" lang="en-US" sz="2000" strike="noStrike" u="none">
              <a:solidFill>
                <a:srgbClr val="000000"/>
              </a:solidFill>
              <a:effectLst/>
              <a:uFillTx/>
              <a:latin typeface="Arial"/>
            </a:endParaRPr>
          </a:p>
        </p:txBody>
      </p:sp>
      <p:sp>
        <p:nvSpPr>
          <p:cNvPr id="1778" name="PlaceHolder 3"/>
          <p:cNvSpPr>
            <a:spLocks noGrp="1"/>
          </p:cNvSpPr>
          <p:nvPr>
            <p:ph type="sldNum" idx="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F4C0879-8E84-4E1A-8067-D3AFFAD3887C}"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9" name="PlaceHolder 1"/>
          <p:cNvSpPr>
            <a:spLocks noGrp="1"/>
          </p:cNvSpPr>
          <p:nvPr>
            <p:ph type="sldImg"/>
          </p:nvPr>
        </p:nvSpPr>
        <p:spPr>
          <a:xfrm>
            <a:off x="685800" y="1143000"/>
            <a:ext cx="5486040" cy="3085920"/>
          </a:xfrm>
          <a:prstGeom prst="rect">
            <a:avLst/>
          </a:prstGeom>
          <a:ln w="0">
            <a:noFill/>
          </a:ln>
        </p:spPr>
      </p:sp>
      <p:sp>
        <p:nvSpPr>
          <p:cNvPr id="178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Draw the audience to the identity line. m = 1, b = 0, so y = x.</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If x is square footage and y is price, this model says a 1,500 sq ft house costs $1,500. Wildly wrong - but the wrongness is entirely in the two numbers, not in the structure.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That is the key idea: the structure is fine. We just have bad settings. So let us move the dials.</a:t>
            </a:r>
            <a:endParaRPr b="0" lang="en-US" sz="2000" strike="noStrike" u="none">
              <a:solidFill>
                <a:srgbClr val="000000"/>
              </a:solidFill>
              <a:effectLst/>
              <a:uFillTx/>
              <a:latin typeface="Arial"/>
            </a:endParaRPr>
          </a:p>
        </p:txBody>
      </p:sp>
      <p:sp>
        <p:nvSpPr>
          <p:cNvPr id="1781" name="PlaceHolder 3"/>
          <p:cNvSpPr>
            <a:spLocks noGrp="1"/>
          </p:cNvSpPr>
          <p:nvPr>
            <p:ph type="sldNum" idx="1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10EF210-6C71-41D2-A32D-5D9428744EF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2" name="PlaceHolder 1"/>
          <p:cNvSpPr>
            <a:spLocks noGrp="1"/>
          </p:cNvSpPr>
          <p:nvPr>
            <p:ph type="sldImg"/>
          </p:nvPr>
        </p:nvSpPr>
        <p:spPr>
          <a:xfrm>
            <a:off x="685800" y="1143000"/>
            <a:ext cx="5486040" cy="3085920"/>
          </a:xfrm>
          <a:prstGeom prst="rect">
            <a:avLst/>
          </a:prstGeom>
          <a:ln w="0">
            <a:noFill/>
          </a:ln>
        </p:spPr>
      </p:sp>
      <p:sp>
        <p:nvSpPr>
          <p:cNvPr id="178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Same structure, three values of m. Bigger m, steeper line. Negative m would tilt the other way (age of the house is probably negative).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Units matter and are worth saying out loud: if x is square feet and y is dollars, then m is dollars per square foot. A weight always carries the units of output-per-input.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This is also how you read a trained model later. Large positive weight = feature pushes the prediction up hard.</a:t>
            </a:r>
            <a:endParaRPr b="0" lang="en-US" sz="2000" strike="noStrike" u="none">
              <a:solidFill>
                <a:srgbClr val="000000"/>
              </a:solidFill>
              <a:effectLst/>
              <a:uFillTx/>
              <a:latin typeface="Arial"/>
            </a:endParaRPr>
          </a:p>
        </p:txBody>
      </p:sp>
      <p:sp>
        <p:nvSpPr>
          <p:cNvPr id="1784" name="PlaceHolder 3"/>
          <p:cNvSpPr>
            <a:spLocks noGrp="1"/>
          </p:cNvSpPr>
          <p:nvPr>
            <p:ph type="sldNum" idx="1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698A767-EC10-4F5B-B3AE-64865B3536DD}"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5" name="PlaceHolder 1"/>
          <p:cNvSpPr>
            <a:spLocks noGrp="1"/>
          </p:cNvSpPr>
          <p:nvPr>
            <p:ph type="sldImg"/>
          </p:nvPr>
        </p:nvSpPr>
        <p:spPr>
          <a:xfrm>
            <a:off x="685800" y="1143000"/>
            <a:ext cx="5486040" cy="3085920"/>
          </a:xfrm>
          <a:prstGeom prst="rect">
            <a:avLst/>
          </a:prstGeom>
          <a:ln w="0">
            <a:noFill/>
          </a:ln>
        </p:spPr>
      </p:sp>
      <p:sp>
        <p:nvSpPr>
          <p:cNvPr id="178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Slope stays at 1 on all three lines; only the intercept moves. Parallel lines, different heights.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Say plainly why b is not optional: with b locked at 0 the model can only draw lines through the origin, which is a huge and usually wrong restriction.</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Later you will hear b called the BIAS term. Same thing. It has nothing to do with bias in the fairness sense - bad naming that we all live with.</a:t>
            </a:r>
            <a:endParaRPr b="0" lang="en-US" sz="2000" strike="noStrike" u="none">
              <a:solidFill>
                <a:srgbClr val="000000"/>
              </a:solidFill>
              <a:effectLst/>
              <a:uFillTx/>
              <a:latin typeface="Arial"/>
            </a:endParaRPr>
          </a:p>
        </p:txBody>
      </p:sp>
      <p:sp>
        <p:nvSpPr>
          <p:cNvPr id="1787" name="PlaceHolder 3"/>
          <p:cNvSpPr>
            <a:spLocks noGrp="1"/>
          </p:cNvSpPr>
          <p:nvPr>
            <p:ph type="sldNum" idx="1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33F5A0A-3859-4BC4-8494-557EB12A838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8" name="PlaceHolder 1"/>
          <p:cNvSpPr>
            <a:spLocks noGrp="1"/>
          </p:cNvSpPr>
          <p:nvPr>
            <p:ph type="sldImg"/>
          </p:nvPr>
        </p:nvSpPr>
        <p:spPr>
          <a:xfrm>
            <a:off x="685800" y="1143000"/>
            <a:ext cx="5486040" cy="3085920"/>
          </a:xfrm>
          <a:prstGeom prst="rect">
            <a:avLst/>
          </a:prstGeom>
          <a:ln w="0">
            <a:noFill/>
          </a:ln>
        </p:spPr>
      </p:sp>
      <p:sp>
        <p:nvSpPr>
          <p:cNvPr id="178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Contrast directly with the if-statement slide. The tree had hundreds of hand-chosen constants. The line has two.</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Searchable is the word to land on. A computer cannot search "which nested if should I write." It can absolutely search "which pair of numbers makes the error smallest."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We have traded an unbounded programming problem for a bounded numerical one. That trade is machine learning.</a:t>
            </a:r>
            <a:endParaRPr b="0" lang="en-US" sz="2000" strike="noStrike" u="none">
              <a:solidFill>
                <a:srgbClr val="000000"/>
              </a:solidFill>
              <a:effectLst/>
              <a:uFillTx/>
              <a:latin typeface="Arial"/>
            </a:endParaRPr>
          </a:p>
        </p:txBody>
      </p:sp>
      <p:sp>
        <p:nvSpPr>
          <p:cNvPr id="1790" name="PlaceHolder 3"/>
          <p:cNvSpPr>
            <a:spLocks noGrp="1"/>
          </p:cNvSpPr>
          <p:nvPr>
            <p:ph type="sldNum" idx="1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7CFF98A-9839-4A3C-AB4B-FB32C5C3857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91" name="PlaceHolder 1"/>
          <p:cNvSpPr>
            <a:spLocks noGrp="1"/>
          </p:cNvSpPr>
          <p:nvPr>
            <p:ph type="sldImg"/>
          </p:nvPr>
        </p:nvSpPr>
        <p:spPr>
          <a:xfrm>
            <a:off x="685800" y="1143000"/>
            <a:ext cx="5486040" cy="3085920"/>
          </a:xfrm>
          <a:prstGeom prst="rect">
            <a:avLst/>
          </a:prstGeom>
          <a:ln w="0">
            <a:noFill/>
          </a:ln>
        </p:spPr>
      </p:sp>
      <p:sp>
        <p:nvSpPr>
          <p:cNvPr id="179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This slide exists to defuse jargon. When a paper says "the model learns weights and biases," it means it picks slopes and intercepts.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hat on y-hat is a real convention and worth teaching: y is the true value from the data, y-hat is what the model output. The gap between them is the error.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Weight is a good name. A weight says how much to count a feature. Weight near zero = the model ignores that feature.</a:t>
            </a:r>
            <a:endParaRPr b="0" lang="en-US" sz="2000" strike="noStrike" u="none">
              <a:solidFill>
                <a:srgbClr val="000000"/>
              </a:solidFill>
              <a:effectLst/>
              <a:uFillTx/>
              <a:latin typeface="Arial"/>
            </a:endParaRPr>
          </a:p>
        </p:txBody>
      </p:sp>
      <p:sp>
        <p:nvSpPr>
          <p:cNvPr id="1793" name="PlaceHolder 3"/>
          <p:cNvSpPr>
            <a:spLocks noGrp="1"/>
          </p:cNvSpPr>
          <p:nvPr>
            <p:ph type="sldNum" idx="1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4911958-F798-4FBC-8455-32BC3F6997A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94" name="PlaceHolder 1"/>
          <p:cNvSpPr>
            <a:spLocks noGrp="1"/>
          </p:cNvSpPr>
          <p:nvPr>
            <p:ph type="sldImg"/>
          </p:nvPr>
        </p:nvSpPr>
        <p:spPr>
          <a:xfrm>
            <a:off x="685800" y="1143000"/>
            <a:ext cx="5486040" cy="3085920"/>
          </a:xfrm>
          <a:prstGeom prst="rect">
            <a:avLst/>
          </a:prstGeom>
          <a:ln w="0">
            <a:noFill/>
          </a:ln>
        </p:spPr>
      </p:sp>
      <p:sp>
        <p:nvSpPr>
          <p:cNvPr id="179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Extending to many inputs costs nothing structurally. Each feature gets its own weight. Still one bias for the whole model.</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weights in the table are invented but realistic, and they are interpretable - sign and size both mean something. Negative weight on age is exactly what you would expect.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Then collapse the sum into a dot product. For CS students: this is why ML is written in terms of vectors and matrices - it is a dot product, which GPUs do by the billion.</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Note the feature count is now the parameter count. 1,000 features means 1,001 numbers to learn. Compare that to writing 1,000 nested ifs.</a:t>
            </a:r>
            <a:endParaRPr b="0" lang="en-US" sz="2000" strike="noStrike" u="none">
              <a:solidFill>
                <a:srgbClr val="000000"/>
              </a:solidFill>
              <a:effectLst/>
              <a:uFillTx/>
              <a:latin typeface="Arial"/>
            </a:endParaRPr>
          </a:p>
        </p:txBody>
      </p:sp>
      <p:sp>
        <p:nvSpPr>
          <p:cNvPr id="1796" name="PlaceHolder 3"/>
          <p:cNvSpPr>
            <a:spLocks noGrp="1"/>
          </p:cNvSpPr>
          <p:nvPr>
            <p:ph type="sldNum" idx="1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C55763E8-79BA-466B-8D2C-01DE0AC359D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97" name="PlaceHolder 1"/>
          <p:cNvSpPr>
            <a:spLocks noGrp="1"/>
          </p:cNvSpPr>
          <p:nvPr>
            <p:ph type="sldImg"/>
          </p:nvPr>
        </p:nvSpPr>
        <p:spPr>
          <a:xfrm>
            <a:off x="685800" y="1143000"/>
            <a:ext cx="5486040" cy="3085920"/>
          </a:xfrm>
          <a:prstGeom prst="rect">
            <a:avLst/>
          </a:prstGeom>
          <a:ln w="0">
            <a:noFill/>
          </a:ln>
        </p:spPr>
      </p:sp>
      <p:sp>
        <p:nvSpPr>
          <p:cNvPr id="179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Say it flatly: there is no further trick. A weighted sum plus a bias is a working machine learning model, and it is the unit that everything else is built out of.</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Compare it to the if-statement version from the start of the talk: hundreds of hand-chosen constants there, two numbers the data will choose here. Same job, wildly different amount of human guessing.</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What is missing is not more model. What is missing is the procedure that chooses the weights. That comes next - and we will come back to this slide at the very end, because this expression has another name.</a:t>
            </a:r>
            <a:endParaRPr b="0" lang="en-US" sz="2000" strike="noStrike" u="none">
              <a:solidFill>
                <a:srgbClr val="000000"/>
              </a:solidFill>
              <a:effectLst/>
              <a:uFillTx/>
              <a:latin typeface="Arial"/>
            </a:endParaRPr>
          </a:p>
        </p:txBody>
      </p:sp>
      <p:sp>
        <p:nvSpPr>
          <p:cNvPr id="1799" name="PlaceHolder 3"/>
          <p:cNvSpPr>
            <a:spLocks noGrp="1"/>
          </p:cNvSpPr>
          <p:nvPr>
            <p:ph type="sldNum" idx="1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BC99EC5-A377-4DBA-95EA-842D01737EB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0" name="PlaceHolder 1"/>
          <p:cNvSpPr>
            <a:spLocks noGrp="1"/>
          </p:cNvSpPr>
          <p:nvPr>
            <p:ph type="sldImg"/>
          </p:nvPr>
        </p:nvSpPr>
        <p:spPr>
          <a:xfrm>
            <a:off x="685800" y="1143000"/>
            <a:ext cx="5486040" cy="3085920"/>
          </a:xfrm>
          <a:prstGeom prst="rect">
            <a:avLst/>
          </a:prstGeom>
          <a:ln w="0">
            <a:noFill/>
          </a:ln>
        </p:spPr>
      </p:sp>
      <p:sp>
        <p:nvSpPr>
          <p:cNvPr id="180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Same weighted sum. For regression you report the number. For classification you pass it through a sigmoid to get a value between 0 and 1, read it as a probability, and cut at 0.5.</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That version has a name: logistic regression. Despite the name it is a classifier.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loss function changes too - squared error for regression, cross-entropy for classification - but the idea is identical: score how wrong you are, then reduce it.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Multi-class: one weighted sum per class, take the largest. That is softmax regression.</a:t>
            </a:r>
            <a:endParaRPr b="0" lang="en-US" sz="2000" strike="noStrike" u="none">
              <a:solidFill>
                <a:srgbClr val="000000"/>
              </a:solidFill>
              <a:effectLst/>
              <a:uFillTx/>
              <a:latin typeface="Arial"/>
            </a:endParaRPr>
          </a:p>
        </p:txBody>
      </p:sp>
      <p:sp>
        <p:nvSpPr>
          <p:cNvPr id="1802" name="PlaceHolder 3"/>
          <p:cNvSpPr>
            <a:spLocks noGrp="1"/>
          </p:cNvSpPr>
          <p:nvPr>
            <p:ph type="sldNum" idx="1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6F2148B-97CE-4685-8041-E29D0168981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3" name="PlaceHolder 1"/>
          <p:cNvSpPr>
            <a:spLocks noGrp="1"/>
          </p:cNvSpPr>
          <p:nvPr>
            <p:ph type="sldImg"/>
          </p:nvPr>
        </p:nvSpPr>
        <p:spPr>
          <a:xfrm>
            <a:off x="685800" y="1143000"/>
            <a:ext cx="5486040" cy="3085920"/>
          </a:xfrm>
          <a:prstGeom prst="rect">
            <a:avLst/>
          </a:prstGeom>
          <a:ln w="0">
            <a:noFill/>
          </a:ln>
        </p:spPr>
      </p:sp>
      <p:sp>
        <p:nvSpPr>
          <p:cNvPr id="180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Point at the two candidate lines. Everyone in the room can tell which one is better. Now make the computer able to tell.</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That requires turning "better" into a number. Once "better" is a number, finding a good line is just minimization.</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This is the hinge of the whole lecture: define an objective, then optimize it. Every supervised learning method is some version of this.</a:t>
            </a:r>
            <a:endParaRPr b="0" lang="en-US" sz="2000" strike="noStrike" u="none">
              <a:solidFill>
                <a:srgbClr val="000000"/>
              </a:solidFill>
              <a:effectLst/>
              <a:uFillTx/>
              <a:latin typeface="Arial"/>
            </a:endParaRPr>
          </a:p>
        </p:txBody>
      </p:sp>
      <p:sp>
        <p:nvSpPr>
          <p:cNvPr id="1805" name="PlaceHolder 3"/>
          <p:cNvSpPr>
            <a:spLocks noGrp="1"/>
          </p:cNvSpPr>
          <p:nvPr>
            <p:ph type="sldNum" idx="1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C682573-BFBC-497E-AFD5-2FAA9EF8836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6" name="PlaceHolder 1"/>
          <p:cNvSpPr>
            <a:spLocks noGrp="1"/>
          </p:cNvSpPr>
          <p:nvPr>
            <p:ph type="sldImg"/>
          </p:nvPr>
        </p:nvSpPr>
        <p:spPr>
          <a:xfrm>
            <a:off x="685800" y="1143000"/>
            <a:ext cx="5486040" cy="3085920"/>
          </a:xfrm>
          <a:prstGeom prst="rect">
            <a:avLst/>
          </a:prstGeom>
          <a:ln w="0">
            <a:noFill/>
          </a:ln>
        </p:spPr>
      </p:sp>
      <p:sp>
        <p:nvSpPr>
          <p:cNvPr id="180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The vertical dashes are residuals - the gap between what the model said and what actually happened, for each training row.</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Why square instead of absolute value? Two reasons: it removes the sign so errors cannot cancel out, and it is smooth, which means we can take a derivative later. It also punishes one huge miss more than several small ones.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This function is called the LOSS or COST. Mean squared error is the standard choice for regression. Cross-entropy is the standard for classification.</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Critical framing: loss is a function of the weights, not of the data. The data is fixed. Change w and b, and the loss changes. So training is a search for the lowest point of that function - and we will spend real time on how that search runs later, in the neural network section, because it is the same procedure there.</a:t>
            </a:r>
            <a:endParaRPr b="0" lang="en-US" sz="2000" strike="noStrike" u="none">
              <a:solidFill>
                <a:srgbClr val="000000"/>
              </a:solidFill>
              <a:effectLst/>
              <a:uFillTx/>
              <a:latin typeface="Arial"/>
            </a:endParaRPr>
          </a:p>
        </p:txBody>
      </p:sp>
      <p:sp>
        <p:nvSpPr>
          <p:cNvPr id="1808" name="PlaceHolder 3"/>
          <p:cNvSpPr>
            <a:spLocks noGrp="1"/>
          </p:cNvSpPr>
          <p:nvPr>
            <p:ph type="sldNum" idx="1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489F418-6534-40FF-B4C7-A8A7AF3B38E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9" name="PlaceHolder 1"/>
          <p:cNvSpPr>
            <a:spLocks noGrp="1"/>
          </p:cNvSpPr>
          <p:nvPr>
            <p:ph type="sldImg"/>
          </p:nvPr>
        </p:nvSpPr>
        <p:spPr>
          <a:xfrm>
            <a:off x="685800" y="1143000"/>
            <a:ext cx="5486040" cy="3085920"/>
          </a:xfrm>
          <a:prstGeom prst="rect">
            <a:avLst/>
          </a:prstGeom>
          <a:ln w="0">
            <a:noFill/>
          </a:ln>
        </p:spPr>
      </p:sp>
      <p:sp>
        <p:nvSpPr>
          <p:cNvPr id="181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Second model family, and on ordinary tabular data it is the one that most often wins.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Go back to slide three mentally. The nested if-statements had the right structure - split the houses into groups, give each group a price. What was wrong is that I chose the cutoffs and the prices out of thin air.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A decision tree keeps the structure and throws out the hand-picked numbers. That is the entire difference.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Everything in the pipeline section still applies unchanged: same splitting, same held-out evaluation, same retraining. What changes is the model and the procedure that fits it.</a:t>
            </a:r>
            <a:endParaRPr b="0" lang="en-US" sz="2000" strike="noStrike" u="none">
              <a:solidFill>
                <a:srgbClr val="000000"/>
              </a:solidFill>
              <a:effectLst/>
              <a:uFillTx/>
              <a:latin typeface="Arial"/>
            </a:endParaRPr>
          </a:p>
        </p:txBody>
      </p:sp>
      <p:sp>
        <p:nvSpPr>
          <p:cNvPr id="1811" name="PlaceHolder 3"/>
          <p:cNvSpPr>
            <a:spLocks noGrp="1"/>
          </p:cNvSpPr>
          <p:nvPr>
            <p:ph type="sldNum" idx="2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68BA2B2-15BA-45FA-B113-E5D08A04D2C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2" name="PlaceHolder 1"/>
          <p:cNvSpPr>
            <a:spLocks noGrp="1"/>
          </p:cNvSpPr>
          <p:nvPr>
            <p:ph type="sldImg"/>
          </p:nvPr>
        </p:nvSpPr>
        <p:spPr>
          <a:xfrm>
            <a:off x="685800" y="1143000"/>
            <a:ext cx="5486040" cy="3085920"/>
          </a:xfrm>
          <a:prstGeom prst="rect">
            <a:avLst/>
          </a:prstGeom>
          <a:ln w="0">
            <a:noFill/>
          </a:ln>
        </p:spPr>
      </p:sp>
      <p:sp>
        <p:nvSpPr>
          <p:cNvPr id="181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Read the tree out loud for one house: 1,200 sq ft, 40 years old. Sq ft under 1,450, yes. Age over 30, yes. Prediction: $148,000.</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internal nodes are questions about one feature at a time. The leaves hold the answer, which for regression is just the average price of the training houses that landed there.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n on each leaf matters. A leaf with 5 houses in it is a much shakier prediction than a leaf with 88, even though the tree reports both with equal confidence.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This is a depth-2 tree with 4 leaves, so it can only produce 4 distinct prices. Deeper trees give more leaves and finer predictions - and, as we will see, trouble.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For classification the only change is what sits in the leaf: a class label or a class probability instead of an average.</a:t>
            </a:r>
            <a:endParaRPr b="0" lang="en-US" sz="2000" strike="noStrike" u="none">
              <a:solidFill>
                <a:srgbClr val="000000"/>
              </a:solidFill>
              <a:effectLst/>
              <a:uFillTx/>
              <a:latin typeface="Arial"/>
            </a:endParaRPr>
          </a:p>
        </p:txBody>
      </p:sp>
      <p:sp>
        <p:nvSpPr>
          <p:cNvPr id="1814" name="PlaceHolder 3"/>
          <p:cNvSpPr>
            <a:spLocks noGrp="1"/>
          </p:cNvSpPr>
          <p:nvPr>
            <p:ph type="sldNum" idx="2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C0AF5402-9BA8-46E7-8C30-4D56530D90A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5" name="PlaceHolder 1"/>
          <p:cNvSpPr>
            <a:spLocks noGrp="1"/>
          </p:cNvSpPr>
          <p:nvPr>
            <p:ph type="sldImg"/>
          </p:nvPr>
        </p:nvSpPr>
        <p:spPr>
          <a:xfrm>
            <a:off x="685800" y="1143000"/>
            <a:ext cx="5486040" cy="3085920"/>
          </a:xfrm>
          <a:prstGeom prst="rect">
            <a:avLst/>
          </a:prstGeom>
          <a:ln w="0">
            <a:noFill/>
          </a:ln>
        </p:spPr>
      </p:sp>
      <p:sp>
        <p:nvSpPr>
          <p:cNvPr id="181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There is no gradient descent here and no weights. Training a tree is an exhaustive search: for every feature, sort the values, and test every cut point between neighbours.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score for regression is variance reduction - the mean squared error inside each group, weighted by group size. Before the split, the spread of all 14 prices is large. After splitting at 1,450, each group is much tighter. That drop is the split's score.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For classification the same idea uses Gini impurity or entropy instead of variance. Same question: did this cut make the groups more pure?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Say the greedy part clearly. The tree makes locally optimal choices. A different first question might have led to a better tree overall, and the algorithm will never find out. Finding the globally optimal tree is NP-hard.</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Note also what it does NOT need: no feature scaling. The split only cares about the order of the values, so square feet and bedrooms can live on wildly different scales.</a:t>
            </a:r>
            <a:endParaRPr b="0" lang="en-US" sz="2000" strike="noStrike" u="none">
              <a:solidFill>
                <a:srgbClr val="000000"/>
              </a:solidFill>
              <a:effectLst/>
              <a:uFillTx/>
              <a:latin typeface="Arial"/>
            </a:endParaRPr>
          </a:p>
        </p:txBody>
      </p:sp>
      <p:sp>
        <p:nvSpPr>
          <p:cNvPr id="1817" name="PlaceHolder 3"/>
          <p:cNvSpPr>
            <a:spLocks noGrp="1"/>
          </p:cNvSpPr>
          <p:nvPr>
            <p:ph type="sldNum" idx="2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E819ECC-2274-438D-B05B-D6AD694603D7}"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8" name="PlaceHolder 1"/>
          <p:cNvSpPr>
            <a:spLocks noGrp="1"/>
          </p:cNvSpPr>
          <p:nvPr>
            <p:ph type="sldImg"/>
          </p:nvPr>
        </p:nvSpPr>
        <p:spPr>
          <a:xfrm>
            <a:off x="685800" y="1143000"/>
            <a:ext cx="5486040" cy="3085920"/>
          </a:xfrm>
          <a:prstGeom prst="rect">
            <a:avLst/>
          </a:prstGeom>
          <a:ln w="0">
            <a:noFill/>
          </a:ln>
        </p:spPr>
      </p:sp>
      <p:sp>
        <p:nvSpPr>
          <p:cNvPr id="181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Two separate things get called error, and mixing them up confuses people for years. Worth separating explicitly.</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first is the split criterion. It is internal and it drives training. For a regression tree it is the mean squared error inside each node, weighted by how many rows landed there. Before any split, one average serves all 14 houses and the typical miss is about $62k. Split at 1,450 sq ft and each group gets its own average; the typical miss drops to about $32k. That improvement is the number being maximized.</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For classification the same role is played by Gini impurity or entropy, and the improvement is called information gain.</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second is the evaluation metric. It is external, it runs on held-out data, and it answers "is this model any good." It does not have to match the split criterion - you can train on variance reduction and report MAE because MAE is what your stakeholders understand.</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Two traps to name. A split can look great on training rows and mean nothing - that is what the held-out set catches. And a leaf with three houses in it reports its average with the same confidence as a leaf with ninety.</a:t>
            </a:r>
            <a:endParaRPr b="0" lang="en-US" sz="2000" strike="noStrike" u="none">
              <a:solidFill>
                <a:srgbClr val="000000"/>
              </a:solidFill>
              <a:effectLst/>
              <a:uFillTx/>
              <a:latin typeface="Arial"/>
            </a:endParaRPr>
          </a:p>
        </p:txBody>
      </p:sp>
      <p:sp>
        <p:nvSpPr>
          <p:cNvPr id="1820" name="PlaceHolder 3"/>
          <p:cNvSpPr>
            <a:spLocks noGrp="1"/>
          </p:cNvSpPr>
          <p:nvPr>
            <p:ph type="sldNum" idx="2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4AA22CC-593C-49BD-9FA5-F1A948C0648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1" name="PlaceHolder 1"/>
          <p:cNvSpPr>
            <a:spLocks noGrp="1"/>
          </p:cNvSpPr>
          <p:nvPr>
            <p:ph type="sldImg"/>
          </p:nvPr>
        </p:nvSpPr>
        <p:spPr>
          <a:xfrm>
            <a:off x="685800" y="1143000"/>
            <a:ext cx="5486040" cy="3085920"/>
          </a:xfrm>
          <a:prstGeom prst="rect">
            <a:avLst/>
          </a:prstGeom>
          <a:ln w="0">
            <a:noFill/>
          </a:ln>
        </p:spPr>
      </p:sp>
      <p:sp>
        <p:nvSpPr>
          <p:cNvPr id="182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A tree left unconstrained will keep splitting until every leaf holds a single house. Training error goes to zero. That is not learning, that is a lookup table - which is exactly what we set out to escape on slide three.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Notice the prediction shape: flat steps, not a line. A tree cannot draw a slope. It approximates one with stairs, and it needs a lot of splits to do it.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Look at the right edge of both panels. Beyond the largest house it ever saw, a tree predicts a constant forever. It cannot extrapolate. A linear model will happily extrapolate, sometimes into nonsense.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The fix is the same conversation as before: hold out data, watch test error, and constrain the model until training and test scores stop diverging.</a:t>
            </a:r>
            <a:endParaRPr b="0" lang="en-US" sz="2000" strike="noStrike" u="none">
              <a:solidFill>
                <a:srgbClr val="000000"/>
              </a:solidFill>
              <a:effectLst/>
              <a:uFillTx/>
              <a:latin typeface="Arial"/>
            </a:endParaRPr>
          </a:p>
        </p:txBody>
      </p:sp>
      <p:sp>
        <p:nvSpPr>
          <p:cNvPr id="1823" name="PlaceHolder 3"/>
          <p:cNvSpPr>
            <a:spLocks noGrp="1"/>
          </p:cNvSpPr>
          <p:nvPr>
            <p:ph type="sldNum" idx="2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A44BFC3-72E5-4EB5-8346-EB4200874A6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4" name="PlaceHolder 1"/>
          <p:cNvSpPr>
            <a:spLocks noGrp="1"/>
          </p:cNvSpPr>
          <p:nvPr>
            <p:ph type="sldImg"/>
          </p:nvPr>
        </p:nvSpPr>
        <p:spPr>
          <a:xfrm>
            <a:off x="685800" y="1143000"/>
            <a:ext cx="5486040" cy="3085920"/>
          </a:xfrm>
          <a:prstGeom prst="rect">
            <a:avLst/>
          </a:prstGeom>
          <a:ln w="0">
            <a:noFill/>
          </a:ln>
        </p:spPr>
      </p:sp>
      <p:sp>
        <p:nvSpPr>
          <p:cNvPr id="182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This is the table worth keeping. It is the practical version of "which model should I reach for."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Row 3 is the biggest one in practice. A linear model cannot represent "bedrooms matter a lot in big houses and barely at all in small ones" unless you hand it a product term. A tree finds that by splitting on sq ft and then on bedrooms.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Row 4 saves you real time. Trees do not care about units, so you can skip standardizing and you can mix dollars, counts, and years without thinking about it.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Row 6 is a fair fight. Linear coefficients are a clean global story. A tree path is a clean story about one prediction. Different kinds of interpretability - pick the one your audience needs.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And the honest answer to "which one" is: try both, compare on the same held-out test set, use the dumb baseline as the floor.</a:t>
            </a:r>
            <a:endParaRPr b="0" lang="en-US" sz="2000" strike="noStrike" u="none">
              <a:solidFill>
                <a:srgbClr val="000000"/>
              </a:solidFill>
              <a:effectLst/>
              <a:uFillTx/>
              <a:latin typeface="Arial"/>
            </a:endParaRPr>
          </a:p>
        </p:txBody>
      </p:sp>
      <p:sp>
        <p:nvSpPr>
          <p:cNvPr id="1826" name="PlaceHolder 3"/>
          <p:cNvSpPr>
            <a:spLocks noGrp="1"/>
          </p:cNvSpPr>
          <p:nvPr>
            <p:ph type="sldNum" idx="2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0850CBF-4299-48DF-8132-4C2DBFF5C6F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7" name="PlaceHolder 1"/>
          <p:cNvSpPr>
            <a:spLocks noGrp="1"/>
          </p:cNvSpPr>
          <p:nvPr>
            <p:ph type="sldImg"/>
          </p:nvPr>
        </p:nvSpPr>
        <p:spPr>
          <a:xfrm>
            <a:off x="685800" y="1143000"/>
            <a:ext cx="5486040" cy="3085920"/>
          </a:xfrm>
          <a:prstGeom prst="rect">
            <a:avLst/>
          </a:prstGeom>
          <a:ln w="0">
            <a:noFill/>
          </a:ln>
        </p:spPr>
      </p:sp>
      <p:sp>
        <p:nvSpPr>
          <p:cNvPr id="182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A single tree is unstable: change a handful of training rows and the whole structure can come out different. That instability is exactly what averaging fixes.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Random forest: many trees, each deliberately trained on a different random slice of the data and features so they make different mistakes. Average them and the noise cancels while the signal survives.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Gradient boosting: sequential instead of parallel. Fit a shallow tree, look at what it got wrong, fit the next tree to those residuals, add it in. Each tree is weak; the sum is strong.</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Practical guidance for them: on a new tabular problem, run a linear model for a baseline and gradient-boosted trees for a real score. Reach for a neural network when the data is images, audio, or text.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The cost is interpretability. One tree you can read on a slide. A hundred you cannot - you fall back to feature-importance scores or SHAP values.</a:t>
            </a:r>
            <a:endParaRPr b="0" lang="en-US" sz="2000" strike="noStrike" u="none">
              <a:solidFill>
                <a:srgbClr val="000000"/>
              </a:solidFill>
              <a:effectLst/>
              <a:uFillTx/>
              <a:latin typeface="Arial"/>
            </a:endParaRPr>
          </a:p>
        </p:txBody>
      </p:sp>
      <p:sp>
        <p:nvSpPr>
          <p:cNvPr id="1829" name="PlaceHolder 3"/>
          <p:cNvSpPr>
            <a:spLocks noGrp="1"/>
          </p:cNvSpPr>
          <p:nvPr>
            <p:ph type="sldNum" idx="2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CA9EA7A-CC7B-4841-A159-0F8C29CC75DD}"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0" name="PlaceHolder 1"/>
          <p:cNvSpPr>
            <a:spLocks noGrp="1"/>
          </p:cNvSpPr>
          <p:nvPr>
            <p:ph type="sldImg"/>
          </p:nvPr>
        </p:nvSpPr>
        <p:spPr>
          <a:xfrm>
            <a:off x="685800" y="1143000"/>
            <a:ext cx="5486040" cy="3085920"/>
          </a:xfrm>
          <a:prstGeom prst="rect">
            <a:avLst/>
          </a:prstGeom>
          <a:ln w="0">
            <a:noFill/>
          </a:ln>
        </p:spPr>
      </p:sp>
      <p:sp>
        <p:nvSpPr>
          <p:cNvPr id="183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Land this hard, because it is the punchline of the whole session. The thing we built out of eighth-grade algebra is the atomic unit of every neural network ever trained.</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A perceptron is a weighted sum of its inputs plus a bias, followed by a function applied to the result. Strip off the function and you have linear regression exactly.</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second move is the one that unlocks everything: nothing requires x to be a raw column from the spreadsheet. x can be the square of a feature, the log of a feature, the product of two features, or - crucially - the output of a different perceptron. Wire the outputs of one row of units into the inputs of the next and you have a network.</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So the honest summary of a neural network is: a very large pile of the model from part one, arranged so that each one feeds the next. We will get to how it is trained in a few minutes, and the answer is going to be underwhelming in the best way.</a:t>
            </a:r>
            <a:endParaRPr b="0" lang="en-US" sz="2000" strike="noStrike" u="none">
              <a:solidFill>
                <a:srgbClr val="000000"/>
              </a:solidFill>
              <a:effectLst/>
              <a:uFillTx/>
              <a:latin typeface="Arial"/>
            </a:endParaRPr>
          </a:p>
        </p:txBody>
      </p:sp>
      <p:sp>
        <p:nvSpPr>
          <p:cNvPr id="1832" name="PlaceHolder 3"/>
          <p:cNvSpPr>
            <a:spLocks noGrp="1"/>
          </p:cNvSpPr>
          <p:nvPr>
            <p:ph type="sldNum" idx="2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EEBF20B-C299-4B3B-B81F-5AA317DB3C6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3" name="PlaceHolder 1"/>
          <p:cNvSpPr>
            <a:spLocks noGrp="1"/>
          </p:cNvSpPr>
          <p:nvPr>
            <p:ph type="sldImg"/>
          </p:nvPr>
        </p:nvSpPr>
        <p:spPr>
          <a:xfrm>
            <a:off x="685800" y="1143000"/>
            <a:ext cx="5486040" cy="3085920"/>
          </a:xfrm>
          <a:prstGeom prst="rect">
            <a:avLst/>
          </a:prstGeom>
          <a:ln w="0">
            <a:noFill/>
          </a:ln>
        </p:spPr>
      </p:sp>
      <p:sp>
        <p:nvSpPr>
          <p:cNvPr id="183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Read the diagram left to right. Inputs come in, each gets multiplied by its own weight, the products are summed with the bias added, and then a single function is applied to that sum.</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Two names for two quantities and they get confused constantly: z is the pre-activation, the raw weighted sum. a is the activation, what the unit actually passes along.</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activation is the only genuinely new piece of machinery in this whole section. ReLU is the default and it is embarrassingly simple: keep the number if it is positive, otherwise output zero. Sigmoid squashes to between 0 and 1, which is why it shows up when you want a probability.</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Then hammer the third card. In linear regression we fed it columns from a spreadsheet. Nothing in the equation demanded that. Feed it the output of another unit and the unit becomes a layer in something bigger.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Historical footnote if they are interested: the original 1958 perceptron used a hard step function instead of a smooth one, which is exactly why it could not be trained by gradient descent. Smooth activations are what made the whole thing trainable.</a:t>
            </a:r>
            <a:endParaRPr b="0" lang="en-US" sz="2000" strike="noStrike" u="none">
              <a:solidFill>
                <a:srgbClr val="000000"/>
              </a:solidFill>
              <a:effectLst/>
              <a:uFillTx/>
              <a:latin typeface="Arial"/>
            </a:endParaRPr>
          </a:p>
        </p:txBody>
      </p:sp>
      <p:sp>
        <p:nvSpPr>
          <p:cNvPr id="1835" name="PlaceHolder 3"/>
          <p:cNvSpPr>
            <a:spLocks noGrp="1"/>
          </p:cNvSpPr>
          <p:nvPr>
            <p:ph type="sldNum" idx="2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101190E-1CC1-4302-987D-4C5C3DA33AE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6" name="PlaceHolder 1"/>
          <p:cNvSpPr>
            <a:spLocks noGrp="1"/>
          </p:cNvSpPr>
          <p:nvPr>
            <p:ph type="sldImg"/>
          </p:nvPr>
        </p:nvSpPr>
        <p:spPr>
          <a:xfrm>
            <a:off x="685800" y="1143000"/>
            <a:ext cx="5486040" cy="3085920"/>
          </a:xfrm>
          <a:prstGeom prst="rect">
            <a:avLst/>
          </a:prstGeom>
          <a:ln w="0">
            <a:noFill/>
          </a:ln>
        </p:spPr>
      </p:sp>
      <p:sp>
        <p:nvSpPr>
          <p:cNvPr id="183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Each purple node is a full weighted-sum-plus-bias - the same unit from the previous slide - fed by all of the inputs.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Count the parameters out loud: three inputs times four hidden units is twelve weights, plus four more into the output, plus a bias on each of the five non-input nodes. Twenty-one numbers, none of them chosen by a human.</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Two things are still missing and they are the next two slides: why each node needs an activation, and how anything picks twenty-one numbers - let alone a billion.</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Scale reference if they want it: this picture has about 20 weights. A frontier language model has hundreds of billions. The unit is identical.</a:t>
            </a:r>
            <a:endParaRPr b="0" lang="en-US" sz="2000" strike="noStrike" u="none">
              <a:solidFill>
                <a:srgbClr val="000000"/>
              </a:solidFill>
              <a:effectLst/>
              <a:uFillTx/>
              <a:latin typeface="Arial"/>
            </a:endParaRPr>
          </a:p>
        </p:txBody>
      </p:sp>
      <p:sp>
        <p:nvSpPr>
          <p:cNvPr id="1838" name="PlaceHolder 3"/>
          <p:cNvSpPr>
            <a:spLocks noGrp="1"/>
          </p:cNvSpPr>
          <p:nvPr>
            <p:ph type="sldNum" idx="2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7B9FA9B-1176-417D-96AD-7BB2119776B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9" name="PlaceHolder 1"/>
          <p:cNvSpPr>
            <a:spLocks noGrp="1"/>
          </p:cNvSpPr>
          <p:nvPr>
            <p:ph type="sldImg"/>
          </p:nvPr>
        </p:nvSpPr>
        <p:spPr>
          <a:xfrm>
            <a:off x="685800" y="1143000"/>
            <a:ext cx="5486040" cy="3085920"/>
          </a:xfrm>
          <a:prstGeom prst="rect">
            <a:avLst/>
          </a:prstGeom>
          <a:ln w="0">
            <a:noFill/>
          </a:ln>
        </p:spPr>
      </p:sp>
      <p:sp>
        <p:nvSpPr>
          <p:cNvPr id="184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Answer the obvious objection first: if a unit is just a weighted sum, why does stacking them help? On its own it does not. Compose linear functions and the algebra flattens back down to one line. All the layers in the world would still only draw a plane.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activation is the fix, and ReLU - the default almost everywhere - is embarrassingly simple: keep the number if it is positive, otherwise output zero. One kink. That single bend is enough that a wide enough network can approximate basically any continuous function, which is the universal approximation result.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Sigmoid and tanh are the older choices and they still show up: sigmoid when you want a probability out of the final unit, tanh inside some recurrent models. ReLU largely replaced them in hidden layers because it trains faster and does not saturate as badly.</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Then set up the next block. We now have a model made of a large number of weights, and we still have not said one word about how any of them get chosen. That is gradient descent, and it is the last real mechanism in the talk.</a:t>
            </a:r>
            <a:endParaRPr b="0" lang="en-US" sz="2000" strike="noStrike" u="none">
              <a:solidFill>
                <a:srgbClr val="000000"/>
              </a:solidFill>
              <a:effectLst/>
              <a:uFillTx/>
              <a:latin typeface="Arial"/>
            </a:endParaRPr>
          </a:p>
        </p:txBody>
      </p:sp>
      <p:sp>
        <p:nvSpPr>
          <p:cNvPr id="1841" name="PlaceHolder 3"/>
          <p:cNvSpPr>
            <a:spLocks noGrp="1"/>
          </p:cNvSpPr>
          <p:nvPr>
            <p:ph type="sldNum" idx="3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FFDE573-8255-4581-81BD-404609991697}"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2" name="PlaceHolder 1"/>
          <p:cNvSpPr>
            <a:spLocks noGrp="1"/>
          </p:cNvSpPr>
          <p:nvPr>
            <p:ph type="sldImg"/>
          </p:nvPr>
        </p:nvSpPr>
        <p:spPr>
          <a:xfrm>
            <a:off x="685800" y="1143000"/>
            <a:ext cx="5486040" cy="3085920"/>
          </a:xfrm>
          <a:prstGeom prst="rect">
            <a:avLst/>
          </a:prstGeom>
          <a:ln w="0">
            <a:noFill/>
          </a:ln>
        </p:spPr>
      </p:sp>
      <p:sp>
        <p:nvSpPr>
          <p:cNvPr id="184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This is the single most important reframe in the talk, so slow down here. Note that we work it out on the simplest possible network - one unit, no activation, which is exactly the linear model from part one - because it is the only version anyone can draw. Backpropagation at the end extends the identical procedure to every weight in a deep network.</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Every graph before this one had a feature on the x-axis. This one has a parameter. The training data is fixed - it has been absorbed into the curve itself. Pick a value of w, and the curve tells you how badly that setting misses across the whole dataset.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Now the question "what are the best weights" has become "where is the bottom of this curve," which is a question a computer can answer mechanically.</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Say why it is a bowl: squared error is quadratic in w, so for linear regression the surface is convex - one minimum, no traps. That is a special case and a generous one. Hold onto it; we will lose it later with neural networks and it will still work.</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With two parameters, w and b, it is a bowl in three dimensions. With a thousand parameters it is a surface in a thousand dimensions that nobody can picture. Nothing in the method depends on being able to picture it.</a:t>
            </a:r>
            <a:endParaRPr b="0" lang="en-US" sz="2000" strike="noStrike" u="none">
              <a:solidFill>
                <a:srgbClr val="000000"/>
              </a:solidFill>
              <a:effectLst/>
              <a:uFillTx/>
              <a:latin typeface="Arial"/>
            </a:endParaRPr>
          </a:p>
        </p:txBody>
      </p:sp>
      <p:sp>
        <p:nvSpPr>
          <p:cNvPr id="1844" name="PlaceHolder 3"/>
          <p:cNvSpPr>
            <a:spLocks noGrp="1"/>
          </p:cNvSpPr>
          <p:nvPr>
            <p:ph type="sldNum" idx="3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6D0E270-640C-4C66-A85A-0AF6CBF63EB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5" name="PlaceHolder 1"/>
          <p:cNvSpPr>
            <a:spLocks noGrp="1"/>
          </p:cNvSpPr>
          <p:nvPr>
            <p:ph type="sldImg"/>
          </p:nvPr>
        </p:nvSpPr>
        <p:spPr>
          <a:xfrm>
            <a:off x="685800" y="1143000"/>
            <a:ext cx="5486040" cy="3085920"/>
          </a:xfrm>
          <a:prstGeom prst="rect">
            <a:avLst/>
          </a:prstGeom>
          <a:ln w="0">
            <a:noFill/>
          </a:ln>
        </p:spPr>
      </p:sp>
      <p:sp>
        <p:nvSpPr>
          <p:cNvPr id="184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Two points on the same bowl, one on each side, with the tangent line drawn at each. The tangent is the derivative made visible.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On the right side the tangent rises left to right - positive slope. Increasing w would increase the loss, so the correct move is to decrease w. On the left side the tangent falls - negative slope - so the correct move is to increase w.</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Notice that the rule is the same sentence in both cases: move against the sign of the slope. The sign handles the direction for you. That is why nobody has to reason about which side of the minimum they are on.</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Notice also the magnitude. Far from the bottom the tangent is steep, which produces big corrections. Near the bottom it flattens toward zero, and the steps shrink on their own. Training slows down as it converges without anyone asking it to.</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With many parameters there is one of these slopes per parameter and they get bundled into a vector. Geometrically that vector points straight uphill on the loss surface, which is exactly why the update subtracts it.</a:t>
            </a:r>
            <a:endParaRPr b="0" lang="en-US" sz="2000" strike="noStrike" u="none">
              <a:solidFill>
                <a:srgbClr val="000000"/>
              </a:solidFill>
              <a:effectLst/>
              <a:uFillTx/>
              <a:latin typeface="Arial"/>
            </a:endParaRPr>
          </a:p>
        </p:txBody>
      </p:sp>
      <p:sp>
        <p:nvSpPr>
          <p:cNvPr id="1847" name="PlaceHolder 3"/>
          <p:cNvSpPr>
            <a:spLocks noGrp="1"/>
          </p:cNvSpPr>
          <p:nvPr>
            <p:ph type="sldNum" idx="3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75D4EB6-EC8B-4B0E-AA0B-A120FBBBAB3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8" name="PlaceHolder 1"/>
          <p:cNvSpPr>
            <a:spLocks noGrp="1"/>
          </p:cNvSpPr>
          <p:nvPr>
            <p:ph type="sldImg"/>
          </p:nvPr>
        </p:nvSpPr>
        <p:spPr>
          <a:xfrm>
            <a:off x="685800" y="1143000"/>
            <a:ext cx="5486040" cy="3085920"/>
          </a:xfrm>
          <a:prstGeom prst="rect">
            <a:avLst/>
          </a:prstGeom>
          <a:ln w="0">
            <a:noFill/>
          </a:ln>
        </p:spPr>
      </p:sp>
      <p:sp>
        <p:nvSpPr>
          <p:cNvPr id="184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This is the mechanical answer to "how do the weights and biases actually get adjusted." Everything else in training is scaffolding around these two lines.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Walk the four cards in order. The error term sets the sign and the size of the correction. If the model predicted too high, the error is positive, so w comes down. Rows the model already fits contribute roughly zero, which is exactly right - they have no complaint.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times-x factor is the part people miss. A weight is only blamed for an error in proportion to how much its feature contributed to that prediction. If a feature was zero on a row, that row has no opinion about that weight at all. This is credit assignment, and it is the same principle backpropagation generalizes later.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minus sign is the descent. The alpha is the step size and it is the only hand-tuned quantity on the slide.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Two practical notes. Every weight is updated from the same forward pass, all at once - you do not adjust w, recompute, then adjust b. And in code none of this is a loop over features; it is one matrix multiply, which is why this scales to millions of parameters.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The 2/n is a constant and it gets absorbed into alpha in practice. Do not let anyone get hung up on it.</a:t>
            </a:r>
            <a:endParaRPr b="0" lang="en-US" sz="2000" strike="noStrike" u="none">
              <a:solidFill>
                <a:srgbClr val="000000"/>
              </a:solidFill>
              <a:effectLst/>
              <a:uFillTx/>
              <a:latin typeface="Arial"/>
            </a:endParaRPr>
          </a:p>
        </p:txBody>
      </p:sp>
      <p:sp>
        <p:nvSpPr>
          <p:cNvPr id="1850" name="PlaceHolder 3"/>
          <p:cNvSpPr>
            <a:spLocks noGrp="1"/>
          </p:cNvSpPr>
          <p:nvPr>
            <p:ph type="sldNum" idx="3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8F6B078-3ED3-412D-8304-BE2F65155DC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1" name="PlaceHolder 1"/>
          <p:cNvSpPr>
            <a:spLocks noGrp="1"/>
          </p:cNvSpPr>
          <p:nvPr>
            <p:ph type="sldImg"/>
          </p:nvPr>
        </p:nvSpPr>
        <p:spPr>
          <a:xfrm>
            <a:off x="685800" y="1143000"/>
            <a:ext cx="5486040" cy="3085920"/>
          </a:xfrm>
          <a:prstGeom prst="rect">
            <a:avLst/>
          </a:prstGeom>
          <a:ln w="0">
            <a:noFill/>
          </a:ln>
        </p:spPr>
      </p:sp>
      <p:sp>
        <p:nvSpPr>
          <p:cNvPr id="185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Same bowl three times, same starting point, three step sizes. The dots are successive values of w.</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Too small: every step is correct in direction and useless in size. Training is not broken, it is just slow, and on a real model slow means days of wasted compute.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About right: a few large corrections while the slope is steep, then automatically smaller ones as the curve flattens. Notice nobody shrinks the steps by hand - the shrinking falls out of the gradient getting smaller.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Too large: the step jumps clean past the minimum and lands somewhere with a steeper slope, which produces an even bigger step next time. The loss climbs and eventually goes to infinity or NaN. If someone shows you a loss that exploded, the learning rate is the first thing to check.</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This is the one hyperparameter students should actually learn to feel. The diagnostic is easy: loss flat and barely moving means too small; loss spiking or oscillating means too large.</a:t>
            </a:r>
            <a:endParaRPr b="0" lang="en-US" sz="2000" strike="noStrike" u="none">
              <a:solidFill>
                <a:srgbClr val="000000"/>
              </a:solidFill>
              <a:effectLst/>
              <a:uFillTx/>
              <a:latin typeface="Arial"/>
            </a:endParaRPr>
          </a:p>
        </p:txBody>
      </p:sp>
      <p:sp>
        <p:nvSpPr>
          <p:cNvPr id="1853" name="PlaceHolder 3"/>
          <p:cNvSpPr>
            <a:spLocks noGrp="1"/>
          </p:cNvSpPr>
          <p:nvPr>
            <p:ph type="sldNum" idx="3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70E1A19-13D5-4152-AAF9-E5BD44CAAA1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4" name="PlaceHolder 1"/>
          <p:cNvSpPr>
            <a:spLocks noGrp="1"/>
          </p:cNvSpPr>
          <p:nvPr>
            <p:ph type="sldImg"/>
          </p:nvPr>
        </p:nvSpPr>
        <p:spPr>
          <a:xfrm>
            <a:off x="685800" y="1143000"/>
            <a:ext cx="5486040" cy="3085920"/>
          </a:xfrm>
          <a:prstGeom prst="rect">
            <a:avLst/>
          </a:prstGeom>
          <a:ln w="0">
            <a:noFill/>
          </a:ln>
        </p:spPr>
      </p:sp>
      <p:sp>
        <p:nvSpPr>
          <p:cNvPr id="185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This is the picture you actually stare at while a model trains, so it is worth being able to read.</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Training loss falls and keeps falling, because the model keeps getting better at the rows it can see. Validation loss falls too, and then turns around. That turn is the moment the model stops learning the relationship and starts memorizing the training set.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Early stopping is just: keep the weights from the bottom of the validation curve and throw away the rest. Cheapest regularizer there is.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Batching: full-batch uses every row per step, which gives the exact gradient and is slow. Stochastic uses one row, which is fast and very noisy. Mini-batch - a few dozen to a few hundred rows - is what everyone actually does, and the noise turns out to help it escape bad spots.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Last card is the honesty check. The clean convex bowl belongs to linear regression with squared error. Anything deeper has a surface with saddle points and long flat valleys, and there is no guarantee of finding the global minimum. In practice a good-enough minimum is fine, which is a slightly uncomfortable but genuinely true statement about the whole field.</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Worth naming momentum and Adam here as the standard improvements: both are ways of remembering recent gradients so the steps do not thrash.</a:t>
            </a:r>
            <a:endParaRPr b="0" lang="en-US" sz="2000" strike="noStrike" u="none">
              <a:solidFill>
                <a:srgbClr val="000000"/>
              </a:solidFill>
              <a:effectLst/>
              <a:uFillTx/>
              <a:latin typeface="Arial"/>
            </a:endParaRPr>
          </a:p>
        </p:txBody>
      </p:sp>
      <p:sp>
        <p:nvSpPr>
          <p:cNvPr id="1856" name="PlaceHolder 3"/>
          <p:cNvSpPr>
            <a:spLocks noGrp="1"/>
          </p:cNvSpPr>
          <p:nvPr>
            <p:ph type="sldNum" idx="3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74867F2-109D-4941-A60E-0660D418D0E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7" name="PlaceHolder 1"/>
          <p:cNvSpPr>
            <a:spLocks noGrp="1"/>
          </p:cNvSpPr>
          <p:nvPr>
            <p:ph type="sldImg"/>
          </p:nvPr>
        </p:nvSpPr>
        <p:spPr>
          <a:xfrm>
            <a:off x="685800" y="1143000"/>
            <a:ext cx="5486040" cy="3085920"/>
          </a:xfrm>
          <a:prstGeom prst="rect">
            <a:avLst/>
          </a:prstGeom>
          <a:ln w="0">
            <a:noFill/>
          </a:ln>
        </p:spPr>
      </p:sp>
      <p:sp>
        <p:nvSpPr>
          <p:cNvPr id="185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Backpropagation intimidates people mostly because of the name. The content is one sentence: the chain rule lets you compute how much each weight in each layer contributed to the final error, working right to left through the network.</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Walk the four boxes. Forward pass: push a batch of inputs through and get predictions. Compute the loss: one number summarizing how wrong they were. Backward pass: distribute responsibility for that number back across every weight. Update: apply the rule from three slides ago to all of them at once.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credit-assignment intuition carries over exactly. In the single-unit case a weight moved in proportion to the error times its own input. In a deep network a weight moves in proportion to the error times its own input times how much the things downstream of it mattered. That extra factor is what the chain rule computes.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Worth stating plainly: there is no separate learning algorithm for neural networks. It is the same gradient descent, and backpropagation is just an efficient way to get the gradients. What actually changed in the modern era is scale and engineering - GPUs, data, better activations and optimizers - not this concept.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If someone asks about vanishing gradients: when you multiply a long chain of small numbers together the slope reaching the early layers goes to nearly zero and those layers stop learning. ReLU, residual connections and normalization are the standard mitigations.</a:t>
            </a:r>
            <a:endParaRPr b="0" lang="en-US" sz="2000" strike="noStrike" u="none">
              <a:solidFill>
                <a:srgbClr val="000000"/>
              </a:solidFill>
              <a:effectLst/>
              <a:uFillTx/>
              <a:latin typeface="Arial"/>
            </a:endParaRPr>
          </a:p>
        </p:txBody>
      </p:sp>
      <p:sp>
        <p:nvSpPr>
          <p:cNvPr id="1859" name="PlaceHolder 3"/>
          <p:cNvSpPr>
            <a:spLocks noGrp="1"/>
          </p:cNvSpPr>
          <p:nvPr>
            <p:ph type="sldNum" idx="3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A241660-8200-4144-AF13-4C481428F4D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0" name="PlaceHolder 1"/>
          <p:cNvSpPr>
            <a:spLocks noGrp="1"/>
          </p:cNvSpPr>
          <p:nvPr>
            <p:ph type="sldImg"/>
          </p:nvPr>
        </p:nvSpPr>
        <p:spPr>
          <a:xfrm>
            <a:off x="685800" y="1143000"/>
            <a:ext cx="5486040" cy="3085920"/>
          </a:xfrm>
          <a:prstGeom prst="rect">
            <a:avLst/>
          </a:prstGeom>
          <a:ln w="0">
            <a:noFill/>
          </a:ln>
        </p:spPr>
      </p:sp>
      <p:sp>
        <p:nvSpPr>
          <p:cNvPr id="186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We now have a model and a way to score it. This is the workflow around them, and it is the same workflow for every model in the talk. In a real job steps 1 and 2 are where most of your time goes, and step 3 is often the shortest part.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Tell them the honest ratio: data work is usually 70-80% of the effort. Modeling is the fun 10%.</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Step 6 is the answer to problem 3 from the beginning of the talk. Hold that thought.</a:t>
            </a:r>
            <a:endParaRPr b="0" lang="en-US" sz="2000" strike="noStrike" u="none">
              <a:solidFill>
                <a:srgbClr val="000000"/>
              </a:solidFill>
              <a:effectLst/>
              <a:uFillTx/>
              <a:latin typeface="Arial"/>
            </a:endParaRPr>
          </a:p>
        </p:txBody>
      </p:sp>
      <p:sp>
        <p:nvSpPr>
          <p:cNvPr id="1862" name="PlaceHolder 3"/>
          <p:cNvSpPr>
            <a:spLocks noGrp="1"/>
          </p:cNvSpPr>
          <p:nvPr>
            <p:ph type="sldNum" idx="3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A5EFEBB-46AE-4F68-8AD4-3D2F690A00A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3" name="PlaceHolder 1"/>
          <p:cNvSpPr>
            <a:spLocks noGrp="1"/>
          </p:cNvSpPr>
          <p:nvPr>
            <p:ph type="sldImg"/>
          </p:nvPr>
        </p:nvSpPr>
        <p:spPr>
          <a:xfrm>
            <a:off x="685800" y="1143000"/>
            <a:ext cx="5486040" cy="3085920"/>
          </a:xfrm>
          <a:prstGeom prst="rect">
            <a:avLst/>
          </a:prstGeom>
          <a:ln w="0">
            <a:noFill/>
          </a:ln>
        </p:spPr>
      </p:sp>
      <p:sp>
        <p:nvSpPr>
          <p:cNvPr id="186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Data is a table. Rows are examples, columns are features, one column is the label. That framing covers most of supervised learning.</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Feature scaling deserves a beat: gradient descent behaves badly when one feature is measured in thousands and another in single digits, because the loss bowl becomes a long narrow valley. Standardizing fixes it.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Feature engineering also lives here - price per square foot, age buckets, one-hot encoding for neighborhoods. A linear model can only add up what you give it, so what you give it matters.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And say the quiet part: the model cannot detect bad labels. It fits whatever you hand it.</a:t>
            </a:r>
            <a:endParaRPr b="0" lang="en-US" sz="2000" strike="noStrike" u="none">
              <a:solidFill>
                <a:srgbClr val="000000"/>
              </a:solidFill>
              <a:effectLst/>
              <a:uFillTx/>
              <a:latin typeface="Arial"/>
            </a:endParaRPr>
          </a:p>
        </p:txBody>
      </p:sp>
      <p:sp>
        <p:nvSpPr>
          <p:cNvPr id="1865" name="PlaceHolder 3"/>
          <p:cNvSpPr>
            <a:spLocks noGrp="1"/>
          </p:cNvSpPr>
          <p:nvPr>
            <p:ph type="sldNum" idx="3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D8DC7E0-A1D0-4C72-8F46-2DF70751F58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6" name="PlaceHolder 1"/>
          <p:cNvSpPr>
            <a:spLocks noGrp="1"/>
          </p:cNvSpPr>
          <p:nvPr>
            <p:ph type="sldImg"/>
          </p:nvPr>
        </p:nvSpPr>
        <p:spPr>
          <a:xfrm>
            <a:off x="685800" y="1143000"/>
            <a:ext cx="5486040" cy="3085920"/>
          </a:xfrm>
          <a:prstGeom prst="rect">
            <a:avLst/>
          </a:prstGeom>
          <a:ln w="0">
            <a:noFill/>
          </a:ln>
        </p:spPr>
      </p:sp>
      <p:sp>
        <p:nvSpPr>
          <p:cNvPr id="186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Split first, randomly, before any cleaning decisions that use statistics from the data. Computing a mean for imputation across the whole dataset leaks test information into training - that is called data leakage and it inflates your scores.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Validation vs test: validation you can look at many times while you tune. Test is the sealed envelope you open once to report a number.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Mention k-fold cross-validation as the small-dataset version: rotate which slice is held out, average the scores.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If the data is time-ordered, split by time, not randomly. Training on 2025 to predict 2024 is cheating.</a:t>
            </a:r>
            <a:endParaRPr b="0" lang="en-US" sz="2000" strike="noStrike" u="none">
              <a:solidFill>
                <a:srgbClr val="000000"/>
              </a:solidFill>
              <a:effectLst/>
              <a:uFillTx/>
              <a:latin typeface="Arial"/>
            </a:endParaRPr>
          </a:p>
        </p:txBody>
      </p:sp>
      <p:sp>
        <p:nvSpPr>
          <p:cNvPr id="1868" name="PlaceHolder 3"/>
          <p:cNvSpPr>
            <a:spLocks noGrp="1"/>
          </p:cNvSpPr>
          <p:nvPr>
            <p:ph type="sldNum" idx="3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8912A6A-42FA-4C86-9D1D-53DFC3339B4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9" name="PlaceHolder 1"/>
          <p:cNvSpPr>
            <a:spLocks noGrp="1"/>
          </p:cNvSpPr>
          <p:nvPr>
            <p:ph type="sldImg"/>
          </p:nvPr>
        </p:nvSpPr>
        <p:spPr>
          <a:xfrm>
            <a:off x="685800" y="1143000"/>
            <a:ext cx="5486040" cy="3085920"/>
          </a:xfrm>
          <a:prstGeom prst="rect">
            <a:avLst/>
          </a:prstGeom>
          <a:ln w="0">
            <a:noFill/>
          </a:ln>
        </p:spPr>
      </p:sp>
      <p:sp>
        <p:nvSpPr>
          <p:cNvPr id="187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Four steps, repeated. There is no cleverness hiding in here - it is a loop that keeps reducing a number.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trained model is not code. It is the weights. You can save them to a file, ship them, load them somewhere else. The code that runs them never changed.</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Watch the training loss as it runs. It should fall and then flatten. If it flattens high, your model is too simple or your features are weak. If it jumps around, your learning rate is too big.</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We pull step 4 apart properly later, in the neural network section - that is where gradient descent lives. For now all you need is that something adjusts the weights in whatever direction reduces the loss.</a:t>
            </a:r>
            <a:endParaRPr b="0" lang="en-US" sz="2000" strike="noStrike" u="none">
              <a:solidFill>
                <a:srgbClr val="000000"/>
              </a:solidFill>
              <a:effectLst/>
              <a:uFillTx/>
              <a:latin typeface="Arial"/>
            </a:endParaRPr>
          </a:p>
        </p:txBody>
      </p:sp>
      <p:sp>
        <p:nvSpPr>
          <p:cNvPr id="1871" name="PlaceHolder 3"/>
          <p:cNvSpPr>
            <a:spLocks noGrp="1"/>
          </p:cNvSpPr>
          <p:nvPr>
            <p:ph type="sldNum" idx="4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23E5EE5-293E-4A5A-A655-E590DEC3F62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2" name="PlaceHolder 1"/>
          <p:cNvSpPr>
            <a:spLocks noGrp="1"/>
          </p:cNvSpPr>
          <p:nvPr>
            <p:ph type="sldImg"/>
          </p:nvPr>
        </p:nvSpPr>
        <p:spPr>
          <a:xfrm>
            <a:off x="685800" y="1143000"/>
            <a:ext cx="5486040" cy="3085920"/>
          </a:xfrm>
          <a:prstGeom prst="rect">
            <a:avLst/>
          </a:prstGeom>
          <a:ln w="0">
            <a:noFill/>
          </a:ln>
        </p:spPr>
      </p:sp>
      <p:sp>
        <p:nvSpPr>
          <p:cNvPr id="187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A single loss number from training tells you almost nothing. You need a metric a human can interpret, measured on held-out data.</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Accuracy trap worth spelling out: if 1% of transactions are fraud, a model that always says "not fraud" is 99% accurate and completely useless. That is why precision and recall exist.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baseline point is the one students forget. Every result needs a floor to compare to - the mean for regression, the majority class for classification.</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If training loss is low and test error is high, you have overfit. Next slide.</a:t>
            </a:r>
            <a:endParaRPr b="0" lang="en-US" sz="2000" strike="noStrike" u="none">
              <a:solidFill>
                <a:srgbClr val="000000"/>
              </a:solidFill>
              <a:effectLst/>
              <a:uFillTx/>
              <a:latin typeface="Arial"/>
            </a:endParaRPr>
          </a:p>
        </p:txBody>
      </p:sp>
      <p:sp>
        <p:nvSpPr>
          <p:cNvPr id="1874" name="PlaceHolder 3"/>
          <p:cNvSpPr>
            <a:spLocks noGrp="1"/>
          </p:cNvSpPr>
          <p:nvPr>
            <p:ph type="sldNum" idx="4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E903AE65-A6FF-4156-BCF6-1EEE2E8F2E5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5" name="PlaceHolder 1"/>
          <p:cNvSpPr>
            <a:spLocks noGrp="1"/>
          </p:cNvSpPr>
          <p:nvPr>
            <p:ph type="sldImg"/>
          </p:nvPr>
        </p:nvSpPr>
        <p:spPr>
          <a:xfrm>
            <a:off x="685800" y="1143000"/>
            <a:ext cx="5486040" cy="3085920"/>
          </a:xfrm>
          <a:prstGeom prst="rect">
            <a:avLst/>
          </a:prstGeom>
          <a:ln w="0">
            <a:noFill/>
          </a:ln>
        </p:spPr>
      </p:sp>
      <p:sp>
        <p:nvSpPr>
          <p:cNvPr id="187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Underfit: the model has too little flexibility, or the features do not carry the signal. High error on both training and test.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Overfit: the model has enough flexibility to memorize the training rows, noise included. Near-zero training error, bad test error.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Plain linear regression with a few features usually errs toward underfitting - it is too rigid to memorize anything. Overfitting shows up once you pile on features or high-degree polynomial terms. We will see a far more dramatic version of it shortly, with decision trees.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Fixes worth naming: more data, fewer features, and regularization (L1/L2), which adds a penalty for large weights so the model prefers simpler fits.</a:t>
            </a:r>
            <a:endParaRPr b="0" lang="en-US" sz="2000" strike="noStrike" u="none">
              <a:solidFill>
                <a:srgbClr val="000000"/>
              </a:solidFill>
              <a:effectLst/>
              <a:uFillTx/>
              <a:latin typeface="Arial"/>
            </a:endParaRPr>
          </a:p>
        </p:txBody>
      </p:sp>
      <p:sp>
        <p:nvSpPr>
          <p:cNvPr id="1877" name="PlaceHolder 3"/>
          <p:cNvSpPr>
            <a:spLocks noGrp="1"/>
          </p:cNvSpPr>
          <p:nvPr>
            <p:ph type="sldNum" idx="4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26FFCDC-08C5-4F36-A7A1-FC37B8E8D9CD}"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8" name="PlaceHolder 1"/>
          <p:cNvSpPr>
            <a:spLocks noGrp="1"/>
          </p:cNvSpPr>
          <p:nvPr>
            <p:ph type="sldImg"/>
          </p:nvPr>
        </p:nvSpPr>
        <p:spPr>
          <a:xfrm>
            <a:off x="685800" y="1143000"/>
            <a:ext cx="5486040" cy="3085920"/>
          </a:xfrm>
          <a:prstGeom prst="rect">
            <a:avLst/>
          </a:prstGeom>
          <a:ln w="0">
            <a:noFill/>
          </a:ln>
        </p:spPr>
      </p:sp>
      <p:sp>
        <p:nvSpPr>
          <p:cNvPr id="187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Inference is the payoff and it is almost boring: plug the new features into the same expression with the learned weights.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Training and inference have completely different cost profiles. Training is expensive, occasional, batch. Inference is cheap, constant, latency-sensitive. That split drives almost every production ML architecture decision.</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third card matters ethically and practically: in production you usually never learn whether a given prediction was right, or you learn it much later. That is why monitoring exists.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Do the arithmetic out loud if the room is into it: 118 x 1750 = 206,500, plus 6,400 x 3 = 19,200, minus 1,250 x 15 = 18,750, plus the 38,000 bias. That is 244,950.</a:t>
            </a:r>
            <a:endParaRPr b="0" lang="en-US" sz="2000" strike="noStrike" u="none">
              <a:solidFill>
                <a:srgbClr val="000000"/>
              </a:solidFill>
              <a:effectLst/>
              <a:uFillTx/>
              <a:latin typeface="Arial"/>
            </a:endParaRPr>
          </a:p>
        </p:txBody>
      </p:sp>
      <p:sp>
        <p:nvSpPr>
          <p:cNvPr id="1880" name="PlaceHolder 3"/>
          <p:cNvSpPr>
            <a:spLocks noGrp="1"/>
          </p:cNvSpPr>
          <p:nvPr>
            <p:ph type="sldNum" idx="4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DB4FAD4-3763-4818-AD89-F7B8E5BF92A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1" name="PlaceHolder 1"/>
          <p:cNvSpPr>
            <a:spLocks noGrp="1"/>
          </p:cNvSpPr>
          <p:nvPr>
            <p:ph type="sldImg"/>
          </p:nvPr>
        </p:nvSpPr>
        <p:spPr>
          <a:xfrm>
            <a:off x="685800" y="1143000"/>
            <a:ext cx="5486040" cy="3085920"/>
          </a:xfrm>
          <a:prstGeom prst="rect">
            <a:avLst/>
          </a:prstGeom>
          <a:ln w="0">
            <a:noFill/>
          </a:ln>
        </p:spPr>
      </p:sp>
      <p:sp>
        <p:nvSpPr>
          <p:cNvPr id="188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Close the loop back to the opening complaint. Hand-written rules require a human to re-derive the logic. A model requires you to re-run a script.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Two kinds of drift: the inputs change (data drift - people start buying different houses) and the relationship changes (concept drift - a dollar per square foot means something different now).</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Models degrade silently. Nothing throws an exception. Your only warning is a metric you chose to watch.</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This is the part that turns ML from a homework assignment into an engineering discipline.</a:t>
            </a:r>
            <a:endParaRPr b="0" lang="en-US" sz="2000" strike="noStrike" u="none">
              <a:solidFill>
                <a:srgbClr val="000000"/>
              </a:solidFill>
              <a:effectLst/>
              <a:uFillTx/>
              <a:latin typeface="Arial"/>
            </a:endParaRPr>
          </a:p>
        </p:txBody>
      </p:sp>
      <p:sp>
        <p:nvSpPr>
          <p:cNvPr id="1883" name="PlaceHolder 3"/>
          <p:cNvSpPr>
            <a:spLocks noGrp="1"/>
          </p:cNvSpPr>
          <p:nvPr>
            <p:ph type="sldNum" idx="4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55D8798-8975-44A2-93C8-540D8291BB6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4" name="PlaceHolder 1"/>
          <p:cNvSpPr>
            <a:spLocks noGrp="1"/>
          </p:cNvSpPr>
          <p:nvPr>
            <p:ph type="sldImg"/>
          </p:nvPr>
        </p:nvSpPr>
        <p:spPr>
          <a:xfrm>
            <a:off x="685800" y="1143000"/>
            <a:ext cx="5486040" cy="3085920"/>
          </a:xfrm>
          <a:prstGeom prst="rect">
            <a:avLst/>
          </a:prstGeom>
          <a:ln w="0">
            <a:noFill/>
          </a:ln>
        </p:spPr>
      </p:sp>
      <p:sp>
        <p:nvSpPr>
          <p:cNvPr id="188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Everything in the talk so far was supervised learning. Every row came with the right answer attached - a price, a class label - and training meant shrinking the gap between our guess and that answer.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Most real data does not arrive that way. Labels are expensive: somebody has to sell the house, diagnose the patient, or mark the email as spam. Raw unlabelled data is nearly free and there is vastly more of it.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Unsupervised learning is what you do with a table that has features and no target column. Two things worth knowing about, and we will look at both: grouping the rows, and shrinking the columns.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Set expectations: this is a tour, not a how-to. The point is that you recognise the shape of the problem when you meet it.</a:t>
            </a:r>
            <a:endParaRPr b="0" lang="en-US" sz="2000" strike="noStrike" u="none">
              <a:solidFill>
                <a:srgbClr val="000000"/>
              </a:solidFill>
              <a:effectLst/>
              <a:uFillTx/>
              <a:latin typeface="Arial"/>
            </a:endParaRPr>
          </a:p>
        </p:txBody>
      </p:sp>
      <p:sp>
        <p:nvSpPr>
          <p:cNvPr id="1886" name="PlaceHolder 3"/>
          <p:cNvSpPr>
            <a:spLocks noGrp="1"/>
          </p:cNvSpPr>
          <p:nvPr>
            <p:ph type="sldNum" idx="4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E55FEF34-E3FA-4153-982C-A8B11A9406ED}"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7" name="PlaceHolder 1"/>
          <p:cNvSpPr>
            <a:spLocks noGrp="1"/>
          </p:cNvSpPr>
          <p:nvPr>
            <p:ph type="sldImg"/>
          </p:nvPr>
        </p:nvSpPr>
        <p:spPr>
          <a:xfrm>
            <a:off x="685800" y="1143000"/>
            <a:ext cx="5486040" cy="3085920"/>
          </a:xfrm>
          <a:prstGeom prst="rect">
            <a:avLst/>
          </a:prstGeom>
          <a:ln w="0">
            <a:noFill/>
          </a:ln>
        </p:spPr>
      </p:sp>
      <p:sp>
        <p:nvSpPr>
          <p:cNvPr id="188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Same house table with the price column deleted. Two features on the axes, no target anywhere. The colours were not in the data - the algorithm produced them.</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Read the three groups out loud: small old houses top left, large old houses top right, mid-sized new builds along the bottom. A person would name those categories; the algorithm only found three dense blobs.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faint spokes matter more than they look. Every point is joined to its own centre, and the quantity being minimised is the total squared length of all of those spokes. Shorter spokes means tighter, better-separated groups.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That quantity has three names you will meet: inertia, within-cluster sum of squares, and WCSS. They are the same number.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Worth saying why we need a heuristic: with 24 points and 3 groups there are already millions of possible assignments, and the general problem of finding the one with lowest inertia is NP-hard. So nobody solves it exactly. The next slide is the shortcut everyone actually uses.</a:t>
            </a:r>
            <a:endParaRPr b="0" lang="en-US" sz="2000" strike="noStrike" u="none">
              <a:solidFill>
                <a:srgbClr val="000000"/>
              </a:solidFill>
              <a:effectLst/>
              <a:uFillTx/>
              <a:latin typeface="Arial"/>
            </a:endParaRPr>
          </a:p>
        </p:txBody>
      </p:sp>
      <p:sp>
        <p:nvSpPr>
          <p:cNvPr id="1889" name="PlaceHolder 3"/>
          <p:cNvSpPr>
            <a:spLocks noGrp="1"/>
          </p:cNvSpPr>
          <p:nvPr>
            <p:ph type="sldNum" idx="4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E184E70-1794-4ECD-A215-4F9D508CB3A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0" name="PlaceHolder 1"/>
          <p:cNvSpPr>
            <a:spLocks noGrp="1"/>
          </p:cNvSpPr>
          <p:nvPr>
            <p:ph type="sldImg"/>
          </p:nvPr>
        </p:nvSpPr>
        <p:spPr>
          <a:xfrm>
            <a:off x="685800" y="1143000"/>
            <a:ext cx="5486040" cy="3085920"/>
          </a:xfrm>
          <a:prstGeom prst="rect">
            <a:avLst/>
          </a:prstGeom>
          <a:ln w="0">
            <a:noFill/>
          </a:ln>
        </p:spPr>
      </p:sp>
      <p:sp>
        <p:nvSpPr>
          <p:cNvPr id="189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These four panels are a real run on the data from the last slide, not a sketch. I started the three centres in deliberately awkward places so you can watch it recover.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Panel 1: three centres dropped more or less arbitrarily. No point has a label yet.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Panel 2: the assignment step. Every point takes the colour of whichever centre it is nearest, measured as plain straight-line distance. Notice the top-left group gets split between two centres - the start was bad enough to carve a real cluster in half.</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Panel 3: the move step. Each centre jumps to the average position of the points currently wearing its colour. The centres have moved but the colours have not been recomputed yet.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Panel 4: repeat those two steps until no label changes. The split group has healed and the three centres sit in the middle of the three real blobs.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reason it works is worth stating precisely. Fix the centres and the best possible labelling is "nearest centre" - that is the assignment step, and it is exactly optimal. Fix the labels and the point minimising total squared distance to a group is that group mean - that is the move step, also exactly optimal. Each step therefore lowers inertia or leaves it alone, and since there is a finite number of labellings it cannot cycle forever. This pattern is called coordinate descent.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The honest caveat: converging is guaranteed, converging to the globally best answer is not. Standard practice is to run it ten times from different starts and keep whichever run ended with the lowest inertia. Scikit-learn does this for you by default.</a:t>
            </a:r>
            <a:endParaRPr b="0" lang="en-US" sz="2000" strike="noStrike" u="none">
              <a:solidFill>
                <a:srgbClr val="000000"/>
              </a:solidFill>
              <a:effectLst/>
              <a:uFillTx/>
              <a:latin typeface="Arial"/>
            </a:endParaRPr>
          </a:p>
        </p:txBody>
      </p:sp>
      <p:sp>
        <p:nvSpPr>
          <p:cNvPr id="1892" name="PlaceHolder 3"/>
          <p:cNvSpPr>
            <a:spLocks noGrp="1"/>
          </p:cNvSpPr>
          <p:nvPr>
            <p:ph type="sldNum" idx="4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B014238-DA64-433D-86E1-4EF576DEC87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3" name="PlaceHolder 1"/>
          <p:cNvSpPr>
            <a:spLocks noGrp="1"/>
          </p:cNvSpPr>
          <p:nvPr>
            <p:ph type="sldImg"/>
          </p:nvPr>
        </p:nvSpPr>
        <p:spPr>
          <a:xfrm>
            <a:off x="685800" y="1143000"/>
            <a:ext cx="5486040" cy="3085920"/>
          </a:xfrm>
          <a:prstGeom prst="rect">
            <a:avLst/>
          </a:prstGeom>
          <a:ln w="0">
            <a:noFill/>
          </a:ln>
        </p:spPr>
      </p:sp>
      <p:sp>
        <p:nvSpPr>
          <p:cNvPr id="189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Two separate difficulties on this slide: picking k, and the assumptions baked into the distance measure.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elbow method: run k-means for k = 1, 2, 3 and so on, plot the inertia you ended up with, and look for the bend. On this curve that is three. The reason you cannot just minimise inertia is on the slide and worth saying out loud - give every point its own cluster and inertia is exactly zero, which is a perfect score for a useless answer. Same overfitting instinct as a depth-10 decision tree.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Be honest that plenty of real datasets produce a smooth curve with no visible bend, and then you are choosing k on domain judgement or on what the downstream system needs.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Scaling is the failure that bites hardest in practice. In the supervised section, unscaled features just made gradient descent slow. Here they change the answer outright, because a column measured in thousands dominates the distance calculation completely.</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shape assumption follows from the maths: assigning every point to its nearest centre carves the plane into straight-edged regions - a Voronoi diagram - so the clusters it can express are always convex blobs of roughly similar size. Two concentric rings are impossible for it.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The alternatives in the bottom bar each relax one of those assumptions: DBSCAN drops the blob shape and the need to pick k, hierarchical drops the need to pick k up front, Gaussian mixtures drop the round-and-equal-sized assumption.</a:t>
            </a:r>
            <a:endParaRPr b="0" lang="en-US" sz="2000" strike="noStrike" u="none">
              <a:solidFill>
                <a:srgbClr val="000000"/>
              </a:solidFill>
              <a:effectLst/>
              <a:uFillTx/>
              <a:latin typeface="Arial"/>
            </a:endParaRPr>
          </a:p>
        </p:txBody>
      </p:sp>
      <p:sp>
        <p:nvSpPr>
          <p:cNvPr id="1895" name="PlaceHolder 3"/>
          <p:cNvSpPr>
            <a:spLocks noGrp="1"/>
          </p:cNvSpPr>
          <p:nvPr>
            <p:ph type="sldNum" idx="4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CE490416-17D5-4929-B6AB-16304D490DE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6" name="PlaceHolder 1"/>
          <p:cNvSpPr>
            <a:spLocks noGrp="1"/>
          </p:cNvSpPr>
          <p:nvPr>
            <p:ph type="sldImg"/>
          </p:nvPr>
        </p:nvSpPr>
        <p:spPr>
          <a:xfrm>
            <a:off x="685800" y="1143000"/>
            <a:ext cx="5486040" cy="3085920"/>
          </a:xfrm>
          <a:prstGeom prst="rect">
            <a:avLst/>
          </a:prstGeom>
          <a:ln w="0">
            <a:noFill/>
          </a:ln>
        </p:spPr>
      </p:sp>
      <p:sp>
        <p:nvSpPr>
          <p:cNvPr id="189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We have been working with three features because three fits on a slide. Hand them a real housing dataset and it has about eighty columns - lot frontage, basement finish, roof material, garage type, year remodelled, and on and on.</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Three reasons that hurts. First, you simply cannot see it. Every picture in this talk has been two or three dimensions because that is what a human can look at, and "look at your data first" is the advice everyone gives and nobody can follow on a wide table.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Second, the columns are enormously redundant. Square footage, room count, bathroom count and lot size are all roughly measuring "how big is this house." You have paid for eighty columns and you are getting maybe fifteen columns worth of actual information.</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Third, and this one bites the clustering we just did: in high dimensions distances flatten out. The nearest point and the farthest point end up almost the same distance away, so anything built on "which centre am I closest to" quietly stops working. That is the curse of dimensionality.</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Then the fork in the road. You can choose a subset of columns and delete the others - that is feature selection, and it is perfectly respectable. The columns you keep still mean exactly what they always meant, which matters if a regulator or a doctor has to read your model. But whatever was in the deleted columns is gone.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Or you can keep all eighty columns as ingredients and cook a few new ones out of them. Each new column is a weighted blend of all the originals, so almost nothing is discarded - it is compressed. The price is that the new columns have no natural name.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PCA is the standard way to do the second one, and the next two slides are how it works.</a:t>
            </a:r>
            <a:endParaRPr b="0" lang="en-US" sz="2000" strike="noStrike" u="none">
              <a:solidFill>
                <a:srgbClr val="000000"/>
              </a:solidFill>
              <a:effectLst/>
              <a:uFillTx/>
              <a:latin typeface="Arial"/>
            </a:endParaRPr>
          </a:p>
        </p:txBody>
      </p:sp>
      <p:sp>
        <p:nvSpPr>
          <p:cNvPr id="1898" name="PlaceHolder 3"/>
          <p:cNvSpPr>
            <a:spLocks noGrp="1"/>
          </p:cNvSpPr>
          <p:nvPr>
            <p:ph type="sldNum" idx="4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C974A8C-8E7E-4108-BE4A-8C248335541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9" name="PlaceHolder 1"/>
          <p:cNvSpPr>
            <a:spLocks noGrp="1"/>
          </p:cNvSpPr>
          <p:nvPr>
            <p:ph type="sldImg"/>
          </p:nvPr>
        </p:nvSpPr>
        <p:spPr>
          <a:xfrm>
            <a:off x="685800" y="1143000"/>
            <a:ext cx="5486040" cy="3085920"/>
          </a:xfrm>
          <a:prstGeom prst="rect">
            <a:avLst/>
          </a:prstGeom>
          <a:ln w="0">
            <a:noFill/>
          </a:ln>
        </p:spPr>
      </p:sp>
      <p:sp>
        <p:nvSpPr>
          <p:cNvPr id="190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This is the whole of PCA in one row of pictures. Fourteen houses, three columns each: square footage, room count, bathroom count. All three are really measuring "how big is this house", so the cloud in the left panel is a tilted sausage rather than a ball.</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Left panel: the raw data in three dimensions. The drop lines to the floor are only there to help you see depth. Nothing has been done to the data yet.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Middle panel: the same fourteen houses, re-plotted on the two directions along which they vary most. The third direction - the one the cloud was thinnest in - has been flattened away. Say the number out loud: 99.4% of the total spread survived that. We deleted a column and lost almost nothing, because that column was almost entirely redundant with the other two.</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Right panel: flatten the second direction too. Now every house is one number - a position along a line. That still holds 91.4% of the original spread. Three columns down to one, and the houses are still in essentially the right order.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key thing to point at: between the middle and right panels, the points barely move horizontally. That horizontal position is doing nearly all of the work, which is exactly why the vertical axis was safe to throw away.</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This is what makes PCA different from just deleting columns. We never deleted square footage or room count. We built new axes out of all three originals and then dropped the new ones that carried nothing.</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And this is the same picture at any scale. Eighty columns becomes three by exactly this procedure, repeated seventy-seven times - you just cannot draw the first panel.</a:t>
            </a:r>
            <a:endParaRPr b="0" lang="en-US" sz="2000" strike="noStrike" u="none">
              <a:solidFill>
                <a:srgbClr val="000000"/>
              </a:solidFill>
              <a:effectLst/>
              <a:uFillTx/>
              <a:latin typeface="Arial"/>
            </a:endParaRPr>
          </a:p>
        </p:txBody>
      </p:sp>
      <p:sp>
        <p:nvSpPr>
          <p:cNvPr id="1901" name="PlaceHolder 3"/>
          <p:cNvSpPr>
            <a:spLocks noGrp="1"/>
          </p:cNvSpPr>
          <p:nvPr>
            <p:ph type="sldNum" idx="5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EE55F3E-7197-4F17-8785-38E6F9D2C13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2" name="PlaceHolder 1"/>
          <p:cNvSpPr>
            <a:spLocks noGrp="1"/>
          </p:cNvSpPr>
          <p:nvPr>
            <p:ph type="sldImg"/>
          </p:nvPr>
        </p:nvSpPr>
        <p:spPr>
          <a:xfrm>
            <a:off x="685800" y="1143000"/>
            <a:ext cx="5486040" cy="3085920"/>
          </a:xfrm>
          <a:prstGeom prst="rect">
            <a:avLst/>
          </a:prstGeom>
          <a:ln w="0">
            <a:noFill/>
          </a:ln>
        </p:spPr>
      </p:sp>
      <p:sp>
        <p:nvSpPr>
          <p:cNvPr id="190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Four steps, and only one of them is unfamiliar.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Centring: subtract each column mean so the cloud sits around the origin. Skip it and the first component mostly points at where your data happens to live rather than how it varies. If the columns are in different units, divide by the standard deviation too, or the column with the biggest numbers wins on units alone.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covariance matrix is d by d for d columns, so three by three here. The diagonal holds each column variance: 5.32 for square feet, 3.28 for rooms, 1.63 for baths. The off-diagonal entries are big - 3.33 between square feet and rooms - and that is precisely the redundancy we cashed in on the previous slide.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Eigenvectors are the only real linear algebra here. Multiply most vectors by C and they get both stretched and turned. A handful of special directions only get stretched, never turned - those are the eigenvectors, and the stretch factor is the eigenvalue. For a covariance matrix those directions are the long and short axes of the data cloud, and the eigenvalue is the variance along each one. So "find the direction of most spread" and "find the top eigenvector of C" are the same request.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Our eigenvalues: 9.35, 0.82, 0.06. Divide each by the total and you get 91.4%, 8.0% and 0.6% - the exact numbers on the previous slide. That ratio is called the explained variance ratio.</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Projecting is a matrix multiply: centred data times the kept eigenvectors. Fourteen rows by three columns in, fourteen by one out.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Two practical notes. Nobody forms C explicitly in production - libraries run an SVD on the centred data instead, because it is more stable and faster when you have more columns than rows. Same answer. And the bar chart here is a scree plot; with eighty columns you read it the same way, keeping components until the cumulative share hits whatever you need, usually 90 or 95 percent.</a:t>
            </a:r>
            <a:endParaRPr b="0" lang="en-US" sz="2000" strike="noStrike" u="none">
              <a:solidFill>
                <a:srgbClr val="000000"/>
              </a:solidFill>
              <a:effectLst/>
              <a:uFillTx/>
              <a:latin typeface="Arial"/>
            </a:endParaRPr>
          </a:p>
        </p:txBody>
      </p:sp>
      <p:sp>
        <p:nvSpPr>
          <p:cNvPr id="1904" name="PlaceHolder 3"/>
          <p:cNvSpPr>
            <a:spLocks noGrp="1"/>
          </p:cNvSpPr>
          <p:nvPr>
            <p:ph type="sldNum" idx="5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D3C9F9D-77A4-4258-9773-2FE0759198A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5" name="PlaceHolder 1"/>
          <p:cNvSpPr>
            <a:spLocks noGrp="1"/>
          </p:cNvSpPr>
          <p:nvPr>
            <p:ph type="sldImg"/>
          </p:nvPr>
        </p:nvSpPr>
        <p:spPr>
          <a:xfrm>
            <a:off x="685800" y="1143000"/>
            <a:ext cx="5486040" cy="3085920"/>
          </a:xfrm>
          <a:prstGeom prst="rect">
            <a:avLst/>
          </a:prstGeom>
          <a:ln w="0">
            <a:noFill/>
          </a:ln>
        </p:spPr>
      </p:sp>
      <p:sp>
        <p:nvSpPr>
          <p:cNvPr id="190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This is the slide that separates people who have used these methods from people who have only read about them.</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With a supervised model you hold out rows and get a number nobody can argue with. Here there is no held-out truth, so everything on the left is a proxy for tidiness, not correctness.</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Inertia is the trap: it is the thing k-means minimises, and it goes down every single time you add a cluster, reaching zero when every point is its own group. Optimising it directly is the same mistake as growing a decision tree until every leaf holds one house.</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Silhouette is the more useful of the two because it is normalised and per-point: how much closer is this point to its own group than to the next nearest one. Average it across the dataset and you have something comparable across different values of k. A negative average is a clear signal the clustering is wrong.</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uses on the right are where the real value sits, and the one people underrate is the third. Clustering and PCA are frequently not the deliverable - they are preprocessing. Cluster id becomes a categorical feature; the first ten components replace a thousand noisy ones. Then you go back to a tree or a network and do supervised learning on top of them.</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Close the loop: unsupervised learning is mostly a tool for understanding a dataset, and in production it usually shows up as a step rather than as the product.</a:t>
            </a:r>
            <a:endParaRPr b="0" lang="en-US" sz="2000" strike="noStrike" u="none">
              <a:solidFill>
                <a:srgbClr val="000000"/>
              </a:solidFill>
              <a:effectLst/>
              <a:uFillTx/>
              <a:latin typeface="Arial"/>
            </a:endParaRPr>
          </a:p>
        </p:txBody>
      </p:sp>
      <p:sp>
        <p:nvSpPr>
          <p:cNvPr id="1907" name="PlaceHolder 3"/>
          <p:cNvSpPr>
            <a:spLocks noGrp="1"/>
          </p:cNvSpPr>
          <p:nvPr>
            <p:ph type="sldNum" idx="5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CBC1AA3-9696-428B-8844-448C2D13A32C}"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8" name="PlaceHolder 1"/>
          <p:cNvSpPr>
            <a:spLocks noGrp="1"/>
          </p:cNvSpPr>
          <p:nvPr>
            <p:ph type="sldImg"/>
          </p:nvPr>
        </p:nvSpPr>
        <p:spPr>
          <a:xfrm>
            <a:off x="685800" y="1143000"/>
            <a:ext cx="5486040" cy="3085920"/>
          </a:xfrm>
          <a:prstGeom prst="rect">
            <a:avLst/>
          </a:prstGeom>
          <a:ln w="0">
            <a:noFill/>
          </a:ln>
        </p:spPr>
      </p:sp>
      <p:sp>
        <p:nvSpPr>
          <p:cNvPr id="190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r>
              <a:rPr b="0" lang="en-US" sz="2000" strike="noStrike" u="none">
                <a:solidFill>
                  <a:srgbClr val="000000"/>
                </a:solidFill>
                <a:effectLst/>
                <a:uFillTx/>
                <a:latin typeface="Arial"/>
              </a:rPr>
              <a:t>Seven points. If they remember only one, make it the sixth: training is a loop that nudges numbers in whatever direction reduces the error.</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structural takeaway is that none of these are unrelated tricks. A line is learned coefficients. A tree is learned branching. A network is a pile of learned lines with switches between them. Clustering and PCA are the same instinct applied to a table with no answer column.</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The dividing line worth remembering: with labels you can measure whether you are right, and that single fact drives the whole pipeline - the split, the held-out set, the metric, the retraining trigger. Without labels you lose all of it and fall back on judgement.</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buNone/>
            </a:pPr>
            <a:r>
              <a:rPr b="0" lang="en-US" sz="2000" strike="noStrike" u="none">
                <a:solidFill>
                  <a:srgbClr val="000000"/>
                </a:solidFill>
                <a:effectLst/>
                <a:uFillTx/>
                <a:latin typeface="Arial"/>
              </a:rPr>
              <a:t>Suggested exercises: fit sklearn LinearRegression on any CSV and read off the coefficients; fit a DecisionTreeRegressor on the same data and print the tree; run KMeans on the same table with the target column dropped and see whether the groups mean anything; then write plain gradient descent from scratch in about fifteen lines of NumPy.</a:t>
            </a:r>
            <a:endParaRPr b="0" lang="en-US" sz="2000" strike="noStrike" u="none">
              <a:solidFill>
                <a:srgbClr val="000000"/>
              </a:solidFill>
              <a:effectLst/>
              <a:uFillTx/>
              <a:latin typeface="Arial"/>
            </a:endParaRPr>
          </a:p>
          <a:p>
            <a:pPr indent="0">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Good follow-on directions: logistic regression in detail, gradient boosting in practice, or convolutional layers as an example of constraining a network on purpose.</a:t>
            </a:r>
            <a:endParaRPr b="0" lang="en-US" sz="2000" strike="noStrike" u="none">
              <a:solidFill>
                <a:srgbClr val="000000"/>
              </a:solidFill>
              <a:effectLst/>
              <a:uFillTx/>
              <a:latin typeface="Arial"/>
            </a:endParaRPr>
          </a:p>
        </p:txBody>
      </p:sp>
      <p:sp>
        <p:nvSpPr>
          <p:cNvPr id="1910" name="PlaceHolder 3"/>
          <p:cNvSpPr>
            <a:spLocks noGrp="1"/>
          </p:cNvSpPr>
          <p:nvPr>
            <p:ph type="sldNum" idx="5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59DB8E9-E1EF-4F60-9FC8-BE396F3644D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trike="noStrike" u="none">
                <a:solidFill>
                  <a:schemeClr val="dk1"/>
                </a:solidFill>
                <a:effectLst/>
                <a:uFillTx/>
                <a:latin typeface="Calibri"/>
              </a:rPr>
              <a:t>Click to edit the title text format</a:t>
            </a:r>
            <a:endParaRPr b="0" lang="en-US" sz="1800" strike="noStrike" u="none">
              <a:solidFill>
                <a:schemeClr val="dk1"/>
              </a:solidFill>
              <a:effectLst/>
              <a:uFillTx/>
              <a:latin typeface="Calibri"/>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chemeClr val="dk1"/>
              </a:solidFill>
              <a:effectLst/>
              <a:uFillTx/>
              <a:latin typeface="Calibri"/>
            </a:endParaRPr>
          </a:p>
          <a:p>
            <a:pPr lvl="1" marL="864000" indent="-324000">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chemeClr val="dk1"/>
              </a:solidFill>
              <a:effectLst/>
              <a:uFillTx/>
              <a:latin typeface="Calibri"/>
            </a:endParaRPr>
          </a:p>
          <a:p>
            <a:pPr lvl="2" marL="1296000" indent="-288000">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chemeClr val="dk1"/>
              </a:solidFill>
              <a:effectLst/>
              <a:uFillTx/>
              <a:latin typeface="Calibri"/>
            </a:endParaRPr>
          </a:p>
          <a:p>
            <a:pPr lvl="3" marL="1728000" indent="-216000">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chemeClr val="dk1"/>
              </a:solidFill>
              <a:effectLst/>
              <a:uFillTx/>
              <a:latin typeface="Calibri"/>
            </a:endParaRPr>
          </a:p>
          <a:p>
            <a:pPr lvl="4" marL="2160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chemeClr val="dk1"/>
              </a:solidFill>
              <a:effectLst/>
              <a:uFillTx/>
              <a:latin typeface="Calibri"/>
            </a:endParaRPr>
          </a:p>
          <a:p>
            <a:pPr lvl="5" marL="2592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chemeClr val="dk1"/>
              </a:solidFill>
              <a:effectLst/>
              <a:uFillTx/>
              <a:latin typeface="Calibri"/>
            </a:endParaRPr>
          </a:p>
          <a:p>
            <a:pPr lvl="6" marL="3024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4202b"/>
        </a:solidFill>
      </p:bgPr>
    </p:bg>
    <p:spTree>
      <p:nvGrpSpPr>
        <p:cNvPr id="1" name=""/>
        <p:cNvGrpSpPr/>
        <p:nvPr/>
      </p:nvGrpSpPr>
      <p:grpSpPr>
        <a:xfrm>
          <a:off x="0" y="0"/>
          <a:ext cx="0" cy="0"/>
          <a:chOff x="0" y="0"/>
          <a:chExt cx="0" cy="0"/>
        </a:xfrm>
      </p:grpSpPr>
      <p:sp>
        <p:nvSpPr>
          <p:cNvPr id="8" name="Shape 0"/>
          <p:cNvSpPr/>
          <p:nvPr/>
        </p:nvSpPr>
        <p:spPr>
          <a:xfrm rot="19462200">
            <a:off x="7091640" y="3884040"/>
            <a:ext cx="4652640" cy="44280"/>
          </a:xfrm>
          <a:prstGeom prst="rect">
            <a:avLst/>
          </a:prstGeom>
          <a:solidFill>
            <a:srgbClr val="ff6b35"/>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9" name="Shape 1"/>
          <p:cNvSpPr/>
          <p:nvPr/>
        </p:nvSpPr>
        <p:spPr>
          <a:xfrm>
            <a:off x="7641720" y="5032080"/>
            <a:ext cx="173520" cy="1735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 name="Shape 2"/>
          <p:cNvSpPr/>
          <p:nvPr/>
        </p:nvSpPr>
        <p:spPr>
          <a:xfrm>
            <a:off x="8124480" y="4675320"/>
            <a:ext cx="173520" cy="1735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 name="Shape 3"/>
          <p:cNvSpPr/>
          <p:nvPr/>
        </p:nvSpPr>
        <p:spPr>
          <a:xfrm>
            <a:off x="8566920" y="4532760"/>
            <a:ext cx="173520" cy="1735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 name="Shape 4"/>
          <p:cNvSpPr/>
          <p:nvPr/>
        </p:nvSpPr>
        <p:spPr>
          <a:xfrm>
            <a:off x="9009720" y="3962160"/>
            <a:ext cx="173520" cy="1735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 name="Shape 5"/>
          <p:cNvSpPr/>
          <p:nvPr/>
        </p:nvSpPr>
        <p:spPr>
          <a:xfrm>
            <a:off x="9411840" y="3783960"/>
            <a:ext cx="173520" cy="1735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 name="Shape 6"/>
          <p:cNvSpPr/>
          <p:nvPr/>
        </p:nvSpPr>
        <p:spPr>
          <a:xfrm>
            <a:off x="9854640" y="3213360"/>
            <a:ext cx="173520" cy="1735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 name="Shape 7"/>
          <p:cNvSpPr/>
          <p:nvPr/>
        </p:nvSpPr>
        <p:spPr>
          <a:xfrm>
            <a:off x="10297080" y="3177720"/>
            <a:ext cx="173520" cy="1735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 name="Shape 8"/>
          <p:cNvSpPr/>
          <p:nvPr/>
        </p:nvSpPr>
        <p:spPr>
          <a:xfrm>
            <a:off x="10739520" y="2607120"/>
            <a:ext cx="173520" cy="1735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7" name="Shape 9"/>
          <p:cNvSpPr/>
          <p:nvPr/>
        </p:nvSpPr>
        <p:spPr>
          <a:xfrm>
            <a:off x="11142000" y="2535480"/>
            <a:ext cx="173520" cy="1735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8" name="Text 10"/>
          <p:cNvSpPr/>
          <p:nvPr/>
        </p:nvSpPr>
        <p:spPr>
          <a:xfrm>
            <a:off x="640080" y="2057400"/>
            <a:ext cx="6674760" cy="868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800" strike="noStrike" u="none">
                <a:solidFill>
                  <a:srgbClr val="ffffff"/>
                </a:solidFill>
                <a:effectLst/>
                <a:uFillTx/>
                <a:latin typeface="Cambria"/>
                <a:ea typeface="Cambria"/>
              </a:rPr>
              <a:t>Machine Learning</a:t>
            </a:r>
            <a:endParaRPr b="0" lang="en-US" sz="4800" strike="noStrike" u="none">
              <a:solidFill>
                <a:srgbClr val="ffffff"/>
              </a:solidFill>
              <a:effectLst/>
              <a:uFillTx/>
              <a:latin typeface="Arial"/>
            </a:endParaRPr>
          </a:p>
        </p:txBody>
      </p:sp>
      <p:sp>
        <p:nvSpPr>
          <p:cNvPr id="19" name="Text 11"/>
          <p:cNvSpPr/>
          <p:nvPr/>
        </p:nvSpPr>
        <p:spPr>
          <a:xfrm>
            <a:off x="640080" y="2880360"/>
            <a:ext cx="667476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4000" strike="noStrike" u="none">
                <a:solidFill>
                  <a:srgbClr val="ff6b35"/>
                </a:solidFill>
                <a:effectLst/>
                <a:uFillTx/>
                <a:latin typeface="Cambria"/>
                <a:ea typeface="Cambria"/>
              </a:rPr>
              <a:t>from one straight line</a:t>
            </a:r>
            <a:endParaRPr b="0" lang="en-US" sz="4000" strike="noStrike" u="none">
              <a:solidFill>
                <a:srgbClr val="ffffff"/>
              </a:solidFill>
              <a:effectLst/>
              <a:uFillTx/>
              <a:latin typeface="Arial"/>
            </a:endParaRPr>
          </a:p>
        </p:txBody>
      </p:sp>
      <p:sp>
        <p:nvSpPr>
          <p:cNvPr id="20" name="Text 12"/>
          <p:cNvSpPr/>
          <p:nvPr/>
        </p:nvSpPr>
        <p:spPr>
          <a:xfrm>
            <a:off x="640080" y="4069080"/>
            <a:ext cx="64004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700" strike="noStrike" u="none">
                <a:solidFill>
                  <a:srgbClr val="aebecb"/>
                </a:solidFill>
                <a:effectLst/>
                <a:uFillTx/>
                <a:latin typeface="Calibri"/>
                <a:ea typeface="Calibri"/>
              </a:rPr>
              <a:t>An introduction to supervised learning for CS students</a:t>
            </a:r>
            <a:endParaRPr b="0" lang="en-US" sz="17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THE TASK</a:t>
            </a:r>
            <a:endParaRPr b="0" lang="en-US" sz="1200" strike="noStrike" u="none">
              <a:solidFill>
                <a:srgbClr val="000000"/>
              </a:solidFill>
              <a:effectLst/>
              <a:uFillTx/>
              <a:latin typeface="Arial"/>
            </a:endParaRPr>
          </a:p>
        </p:txBody>
      </p:sp>
      <p:sp>
        <p:nvSpPr>
          <p:cNvPr id="22"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Predict the price of a house</a:t>
            </a:r>
            <a:endParaRPr b="0" lang="en-US" sz="3200" strike="noStrike" u="none">
              <a:solidFill>
                <a:srgbClr val="000000"/>
              </a:solidFill>
              <a:effectLst/>
              <a:uFillTx/>
              <a:latin typeface="Arial"/>
            </a:endParaRPr>
          </a:p>
        </p:txBody>
      </p:sp>
      <p:graphicFrame>
        <p:nvGraphicFramePr>
          <p:cNvPr id="23" name="Table 0"/>
          <p:cNvGraphicFramePr/>
          <p:nvPr/>
        </p:nvGraphicFramePr>
        <p:xfrm>
          <a:off x="640080" y="1783080"/>
          <a:ext cx="6309000" cy="3071880"/>
        </p:xfrm>
        <a:graphic>
          <a:graphicData uri="http://schemas.openxmlformats.org/drawingml/2006/table">
            <a:tbl>
              <a:tblPr/>
              <a:tblGrid>
                <a:gridCol w="1463040"/>
                <a:gridCol w="1645920"/>
                <a:gridCol w="1280160"/>
                <a:gridCol w="1920240"/>
              </a:tblGrid>
              <a:tr h="511920">
                <a:tc>
                  <a:txBody>
                    <a:bodyPr lIns="109440" rIns="109440" tIns="109440" bIns="109440" anchor="ctr">
                      <a:noAutofit/>
                    </a:bodyPr>
                    <a:p>
                      <a:pPr defTabSz="914400">
                        <a:lnSpc>
                          <a:spcPct val="100000"/>
                        </a:lnSpc>
                        <a:tabLst>
                          <a:tab algn="l" pos="0"/>
                        </a:tabLst>
                      </a:pPr>
                      <a:r>
                        <a:rPr b="1" lang="en-US" sz="1500" strike="noStrike" u="none">
                          <a:solidFill>
                            <a:srgbClr val="ffffff"/>
                          </a:solidFill>
                          <a:effectLst/>
                          <a:uFillTx/>
                          <a:latin typeface="Calibri"/>
                          <a:ea typeface="Calibri"/>
                        </a:rPr>
                        <a:t>Sq ft</a:t>
                      </a:r>
                      <a:endParaRPr b="0" lang="en-US" sz="1500" strike="noStrike" u="none">
                        <a:solidFill>
                          <a:srgbClr val="ffffff"/>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solidFill>
                      <a:srgbClr val="14202b"/>
                    </a:solidFill>
                  </a:tcPr>
                </a:tc>
                <a:tc>
                  <a:txBody>
                    <a:bodyPr lIns="109440" rIns="109440" tIns="109440" bIns="109440" anchor="ctr">
                      <a:noAutofit/>
                    </a:bodyPr>
                    <a:p>
                      <a:pPr defTabSz="914400">
                        <a:lnSpc>
                          <a:spcPct val="100000"/>
                        </a:lnSpc>
                        <a:tabLst>
                          <a:tab algn="l" pos="0"/>
                        </a:tabLst>
                      </a:pPr>
                      <a:r>
                        <a:rPr b="1" lang="en-US" sz="1500" strike="noStrike" u="none">
                          <a:solidFill>
                            <a:srgbClr val="ffffff"/>
                          </a:solidFill>
                          <a:effectLst/>
                          <a:uFillTx/>
                          <a:latin typeface="Calibri"/>
                          <a:ea typeface="Calibri"/>
                        </a:rPr>
                        <a:t>Bedrooms</a:t>
                      </a:r>
                      <a:endParaRPr b="0" lang="en-US" sz="1500" strike="noStrike" u="none">
                        <a:solidFill>
                          <a:srgbClr val="ffffff"/>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solidFill>
                      <a:srgbClr val="14202b"/>
                    </a:solidFill>
                  </a:tcPr>
                </a:tc>
                <a:tc>
                  <a:txBody>
                    <a:bodyPr lIns="109440" rIns="109440" tIns="109440" bIns="109440" anchor="ctr">
                      <a:noAutofit/>
                    </a:bodyPr>
                    <a:p>
                      <a:pPr defTabSz="914400">
                        <a:lnSpc>
                          <a:spcPct val="100000"/>
                        </a:lnSpc>
                        <a:tabLst>
                          <a:tab algn="l" pos="0"/>
                        </a:tabLst>
                      </a:pPr>
                      <a:r>
                        <a:rPr b="1" lang="en-US" sz="1500" strike="noStrike" u="none">
                          <a:solidFill>
                            <a:srgbClr val="ffffff"/>
                          </a:solidFill>
                          <a:effectLst/>
                          <a:uFillTx/>
                          <a:latin typeface="Calibri"/>
                          <a:ea typeface="Calibri"/>
                        </a:rPr>
                        <a:t>Age</a:t>
                      </a:r>
                      <a:endParaRPr b="0" lang="en-US" sz="1500" strike="noStrike" u="none">
                        <a:solidFill>
                          <a:srgbClr val="ffffff"/>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solidFill>
                      <a:srgbClr val="14202b"/>
                    </a:solidFill>
                  </a:tcPr>
                </a:tc>
                <a:tc>
                  <a:txBody>
                    <a:bodyPr lIns="109440" rIns="109440" tIns="109440" bIns="109440" anchor="ctr">
                      <a:noAutofit/>
                    </a:bodyPr>
                    <a:p>
                      <a:pPr defTabSz="914400">
                        <a:lnSpc>
                          <a:spcPct val="100000"/>
                        </a:lnSpc>
                        <a:tabLst>
                          <a:tab algn="l" pos="0"/>
                        </a:tabLst>
                      </a:pPr>
                      <a:r>
                        <a:rPr b="1" lang="en-US" sz="1500" strike="noStrike" u="none">
                          <a:solidFill>
                            <a:srgbClr val="ffffff"/>
                          </a:solidFill>
                          <a:effectLst/>
                          <a:uFillTx/>
                          <a:latin typeface="Calibri"/>
                          <a:ea typeface="Calibri"/>
                        </a:rPr>
                        <a:t>Sale price</a:t>
                      </a:r>
                      <a:endParaRPr b="0" lang="en-US" sz="1500" strike="noStrike" u="none">
                        <a:solidFill>
                          <a:srgbClr val="ffffff"/>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solidFill>
                      <a:srgbClr val="14202b"/>
                    </a:solidFill>
                  </a:tcPr>
                </a:tc>
              </a:tr>
              <a:tr h="511920">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1,040</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2</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38</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$152,000</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511920">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1,380</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3</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12</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$221,500</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511920">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1,610</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3</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25</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$238,000</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511920">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2,050</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4</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8</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$319,900</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511920">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2,400</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4</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31</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$305,000</a:t>
                      </a:r>
                      <a:endParaRPr b="0" lang="en-US" sz="1500" strike="noStrike" u="none">
                        <a:solidFill>
                          <a:srgbClr val="000000"/>
                        </a:solidFill>
                        <a:effectLst/>
                        <a:uFillTx/>
                        <a:latin typeface="Arial"/>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bl>
          </a:graphicData>
        </a:graphic>
      </p:graphicFrame>
      <p:sp>
        <p:nvSpPr>
          <p:cNvPr id="24" name="Shape 2"/>
          <p:cNvSpPr/>
          <p:nvPr/>
        </p:nvSpPr>
        <p:spPr>
          <a:xfrm>
            <a:off x="7360920" y="1783080"/>
            <a:ext cx="4187520" cy="1481040"/>
          </a:xfrm>
          <a:prstGeom prst="roundRect">
            <a:avLst>
              <a:gd name="adj" fmla="val 4938"/>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 name="Text 3"/>
          <p:cNvSpPr/>
          <p:nvPr/>
        </p:nvSpPr>
        <p:spPr>
          <a:xfrm>
            <a:off x="7635240" y="1920240"/>
            <a:ext cx="3657240" cy="1188360"/>
          </a:xfrm>
          <a:prstGeom prst="rect">
            <a:avLst/>
          </a:prstGeom>
          <a:noFill/>
          <a:ln w="0">
            <a:noFill/>
          </a:ln>
        </p:spPr>
        <p:style>
          <a:lnRef idx="0"/>
          <a:fillRef idx="0"/>
          <a:effectRef idx="0"/>
          <a:fontRef idx="minor"/>
        </p:style>
        <p:txBody>
          <a:bodyPr lIns="0" rIns="0" tIns="0" bIns="0" anchor="ctr">
            <a:noAutofit/>
          </a:bodyPr>
          <a:p>
            <a:r>
              <a:rPr b="1" lang="en-US" sz="1400" strike="noStrike" u="none">
                <a:solidFill>
                  <a:srgbClr val="5d6e7c"/>
                </a:solidFill>
                <a:effectLst/>
                <a:uFillTx/>
                <a:latin typeface="Calibri"/>
                <a:ea typeface="Calibri"/>
              </a:rPr>
              <a:t>Input</a:t>
            </a:r>
            <a:endParaRPr b="0" lang="en-US" sz="1400" strike="noStrike" u="none">
              <a:solidFill>
                <a:srgbClr val="000000"/>
              </a:solidFill>
              <a:effectLst/>
              <a:uFillTx/>
              <a:latin typeface="Arial"/>
            </a:endParaRPr>
          </a:p>
          <a:p>
            <a:pPr defTabSz="914400">
              <a:lnSpc>
                <a:spcPct val="100000"/>
              </a:lnSpc>
              <a:tabLst>
                <a:tab algn="l" pos="0"/>
              </a:tabLst>
            </a:pPr>
            <a:endParaRPr b="0" lang="en-US" sz="1400" strike="noStrike" u="none">
              <a:solidFill>
                <a:srgbClr val="000000"/>
              </a:solidFill>
              <a:effectLst/>
              <a:uFillTx/>
              <a:latin typeface="Arial"/>
            </a:endParaRPr>
          </a:p>
          <a:p>
            <a:pPr defTabSz="914400">
              <a:lnSpc>
                <a:spcPct val="100000"/>
              </a:lnSpc>
              <a:tabLst>
                <a:tab algn="l" pos="0"/>
              </a:tabLst>
            </a:pPr>
            <a:r>
              <a:rPr b="0" lang="en-US" sz="1700" strike="noStrike" u="none">
                <a:solidFill>
                  <a:srgbClr val="25323d"/>
                </a:solidFill>
                <a:effectLst/>
                <a:uFillTx/>
                <a:latin typeface="Calibri"/>
                <a:ea typeface="Calibri"/>
              </a:rPr>
              <a:t>Three numbers about a house</a:t>
            </a:r>
            <a:endParaRPr b="0" lang="en-US" sz="1700" strike="noStrike" u="none">
              <a:solidFill>
                <a:srgbClr val="000000"/>
              </a:solidFill>
              <a:effectLst/>
              <a:uFillTx/>
              <a:latin typeface="Arial"/>
            </a:endParaRPr>
          </a:p>
        </p:txBody>
      </p:sp>
      <p:sp>
        <p:nvSpPr>
          <p:cNvPr id="26" name="Shape 4"/>
          <p:cNvSpPr/>
          <p:nvPr/>
        </p:nvSpPr>
        <p:spPr>
          <a:xfrm>
            <a:off x="7360920" y="3401640"/>
            <a:ext cx="4187520" cy="1481040"/>
          </a:xfrm>
          <a:prstGeom prst="roundRect">
            <a:avLst>
              <a:gd name="adj" fmla="val 4938"/>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 name="Text 5"/>
          <p:cNvSpPr/>
          <p:nvPr/>
        </p:nvSpPr>
        <p:spPr>
          <a:xfrm>
            <a:off x="7635240" y="3538800"/>
            <a:ext cx="3657240" cy="1188360"/>
          </a:xfrm>
          <a:prstGeom prst="rect">
            <a:avLst/>
          </a:prstGeom>
          <a:noFill/>
          <a:ln w="0">
            <a:noFill/>
          </a:ln>
        </p:spPr>
        <p:style>
          <a:lnRef idx="0"/>
          <a:fillRef idx="0"/>
          <a:effectRef idx="0"/>
          <a:fontRef idx="minor"/>
        </p:style>
        <p:txBody>
          <a:bodyPr lIns="0" rIns="0" tIns="0" bIns="0" anchor="ctr">
            <a:noAutofit/>
          </a:bodyPr>
          <a:p>
            <a:r>
              <a:rPr b="1" lang="en-US" sz="1400" strike="noStrike" u="none">
                <a:solidFill>
                  <a:srgbClr val="5d6e7c"/>
                </a:solidFill>
                <a:effectLst/>
                <a:uFillTx/>
                <a:latin typeface="Calibri"/>
                <a:ea typeface="Calibri"/>
              </a:rPr>
              <a:t>Output</a:t>
            </a:r>
            <a:endParaRPr b="0" lang="en-US" sz="1400" strike="noStrike" u="none">
              <a:solidFill>
                <a:srgbClr val="000000"/>
              </a:solidFill>
              <a:effectLst/>
              <a:uFillTx/>
              <a:latin typeface="Arial"/>
            </a:endParaRPr>
          </a:p>
          <a:p>
            <a:pPr defTabSz="914400">
              <a:lnSpc>
                <a:spcPct val="100000"/>
              </a:lnSpc>
              <a:tabLst>
                <a:tab algn="l" pos="0"/>
              </a:tabLst>
            </a:pPr>
            <a:endParaRPr b="0" lang="en-US" sz="1400" strike="noStrike" u="none">
              <a:solidFill>
                <a:srgbClr val="000000"/>
              </a:solidFill>
              <a:effectLst/>
              <a:uFillTx/>
              <a:latin typeface="Arial"/>
            </a:endParaRPr>
          </a:p>
          <a:p>
            <a:pPr defTabSz="914400">
              <a:lnSpc>
                <a:spcPct val="100000"/>
              </a:lnSpc>
              <a:tabLst>
                <a:tab algn="l" pos="0"/>
              </a:tabLst>
            </a:pPr>
            <a:r>
              <a:rPr b="0" lang="en-US" sz="1700" strike="noStrike" u="none">
                <a:solidFill>
                  <a:srgbClr val="25323d"/>
                </a:solidFill>
                <a:effectLst/>
                <a:uFillTx/>
                <a:latin typeface="Calibri"/>
                <a:ea typeface="Calibri"/>
              </a:rPr>
              <a:t>One number: the price</a:t>
            </a:r>
            <a:endParaRPr b="0" lang="en-US" sz="1700" strike="noStrike" u="none">
              <a:solidFill>
                <a:srgbClr val="000000"/>
              </a:solidFill>
              <a:effectLst/>
              <a:uFillTx/>
              <a:latin typeface="Arial"/>
            </a:endParaRPr>
          </a:p>
        </p:txBody>
      </p:sp>
      <p:sp>
        <p:nvSpPr>
          <p:cNvPr id="28" name="Text 6"/>
          <p:cNvSpPr/>
          <p:nvPr/>
        </p:nvSpPr>
        <p:spPr>
          <a:xfrm>
            <a:off x="640080" y="5212080"/>
            <a:ext cx="109112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900" strike="noStrike" u="none">
                <a:solidFill>
                  <a:srgbClr val="0e7c86"/>
                </a:solidFill>
                <a:effectLst/>
                <a:uFillTx/>
                <a:latin typeface="Courier New"/>
                <a:ea typeface="Courier New"/>
              </a:rPr>
              <a:t>Write a function. price = f(sqft, beds, age)</a:t>
            </a:r>
            <a:endParaRPr b="0" lang="en-US" sz="1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ATTEMPT 1</a:t>
            </a:r>
            <a:endParaRPr b="0" lang="en-US" sz="1200" strike="noStrike" u="none">
              <a:solidFill>
                <a:srgbClr val="000000"/>
              </a:solidFill>
              <a:effectLst/>
              <a:uFillTx/>
              <a:latin typeface="Arial"/>
            </a:endParaRPr>
          </a:p>
        </p:txBody>
      </p:sp>
      <p:sp>
        <p:nvSpPr>
          <p:cNvPr id="30"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Just write the rules yourself</a:t>
            </a:r>
            <a:endParaRPr b="0" lang="en-US" sz="3200" strike="noStrike" u="none">
              <a:solidFill>
                <a:srgbClr val="000000"/>
              </a:solidFill>
              <a:effectLst/>
              <a:uFillTx/>
              <a:latin typeface="Arial"/>
            </a:endParaRPr>
          </a:p>
        </p:txBody>
      </p:sp>
      <p:sp>
        <p:nvSpPr>
          <p:cNvPr id="31" name="Shape 2"/>
          <p:cNvSpPr/>
          <p:nvPr/>
        </p:nvSpPr>
        <p:spPr>
          <a:xfrm>
            <a:off x="640080" y="1737360"/>
            <a:ext cx="7223400" cy="4160160"/>
          </a:xfrm>
          <a:prstGeom prst="roundRect">
            <a:avLst>
              <a:gd name="adj" fmla="val 1758"/>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2" name="Text 3"/>
          <p:cNvSpPr/>
          <p:nvPr/>
        </p:nvSpPr>
        <p:spPr>
          <a:xfrm>
            <a:off x="914400" y="1965960"/>
            <a:ext cx="6674760" cy="3702960"/>
          </a:xfrm>
          <a:prstGeom prst="rect">
            <a:avLst/>
          </a:prstGeom>
          <a:noFill/>
          <a:ln w="0">
            <a:noFill/>
          </a:ln>
        </p:spPr>
        <p:style>
          <a:lnRef idx="0"/>
          <a:fillRef idx="0"/>
          <a:effectRef idx="0"/>
          <a:fontRef idx="minor"/>
        </p:style>
        <p:txBody>
          <a:bodyPr lIns="0" rIns="0" tIns="0" bIns="0" anchor="ctr">
            <a:noAutofit/>
          </a:bodyPr>
          <a:p>
            <a:pPr defTabSz="914400">
              <a:lnSpc>
                <a:spcPct val="118000"/>
              </a:lnSpc>
              <a:tabLst>
                <a:tab algn="l" pos="0"/>
              </a:tabLst>
            </a:pPr>
            <a:r>
              <a:rPr b="0" lang="en-US" sz="1400" strike="noStrike" u="none">
                <a:solidFill>
                  <a:srgbClr val="9fd8dd"/>
                </a:solidFill>
                <a:effectLst/>
                <a:uFillTx/>
                <a:latin typeface="Courier New"/>
                <a:ea typeface="Courier New"/>
              </a:rPr>
              <a:t>def </a:t>
            </a:r>
            <a:r>
              <a:rPr b="0" lang="en-US" sz="1400" strike="noStrike" u="none">
                <a:solidFill>
                  <a:srgbClr val="ffb088"/>
                </a:solidFill>
                <a:effectLst/>
                <a:uFillTx/>
                <a:latin typeface="Courier New"/>
                <a:ea typeface="Courier New"/>
              </a:rPr>
              <a:t>predict_price</a:t>
            </a:r>
            <a:r>
              <a:rPr b="0" lang="en-US" sz="1400" strike="noStrike" u="none">
                <a:solidFill>
                  <a:srgbClr val="9fd8dd"/>
                </a:solidFill>
                <a:effectLst/>
                <a:uFillTx/>
                <a:latin typeface="Courier New"/>
                <a:ea typeface="Courier New"/>
              </a:rPr>
              <a:t>(sqft, beds, age):</a:t>
            </a:r>
            <a:endParaRPr b="0" lang="en-US" sz="1400" strike="noStrike" u="none">
              <a:solidFill>
                <a:srgbClr val="000000"/>
              </a:solidFill>
              <a:effectLst/>
              <a:uFillTx/>
              <a:latin typeface="Arial"/>
            </a:endParaRPr>
          </a:p>
          <a:p>
            <a:pPr defTabSz="914400">
              <a:lnSpc>
                <a:spcPct val="118000"/>
              </a:lnSpc>
              <a:tabLst>
                <a:tab algn="l" pos="0"/>
              </a:tabLst>
            </a:pPr>
            <a:r>
              <a:rPr b="0" lang="en-US" sz="1400" strike="noStrike" u="none">
                <a:solidFill>
                  <a:srgbClr val="9fd8dd"/>
                </a:solidFill>
                <a:effectLst/>
                <a:uFillTx/>
                <a:latin typeface="Courier New"/>
                <a:ea typeface="Courier New"/>
              </a:rPr>
              <a:t>    if </a:t>
            </a:r>
            <a:r>
              <a:rPr b="0" lang="en-US" sz="1400" strike="noStrike" u="none">
                <a:solidFill>
                  <a:srgbClr val="ffb088"/>
                </a:solidFill>
                <a:effectLst/>
                <a:uFillTx/>
                <a:latin typeface="Courier New"/>
                <a:ea typeface="Courier New"/>
              </a:rPr>
              <a:t>sqft &lt; 1000</a:t>
            </a:r>
            <a:r>
              <a:rPr b="0" lang="en-US" sz="1400" strike="noStrike" u="none">
                <a:solidFill>
                  <a:srgbClr val="9fd8dd"/>
                </a:solidFill>
                <a:effectLst/>
                <a:uFillTx/>
                <a:latin typeface="Courier New"/>
                <a:ea typeface="Courier New"/>
              </a:rPr>
              <a:t>:</a:t>
            </a:r>
            <a:endParaRPr b="0" lang="en-US" sz="1400" strike="noStrike" u="none">
              <a:solidFill>
                <a:srgbClr val="000000"/>
              </a:solidFill>
              <a:effectLst/>
              <a:uFillTx/>
              <a:latin typeface="Arial"/>
            </a:endParaRPr>
          </a:p>
          <a:p>
            <a:pPr defTabSz="914400">
              <a:lnSpc>
                <a:spcPct val="118000"/>
              </a:lnSpc>
              <a:tabLst>
                <a:tab algn="l" pos="0"/>
              </a:tabLst>
            </a:pPr>
            <a:r>
              <a:rPr b="0" lang="en-US" sz="1400" strike="noStrike" u="none">
                <a:solidFill>
                  <a:srgbClr val="9fd8dd"/>
                </a:solidFill>
                <a:effectLst/>
                <a:uFillTx/>
                <a:latin typeface="Courier New"/>
                <a:ea typeface="Courier New"/>
              </a:rPr>
              <a:t>        if beds &lt; 2:      return </a:t>
            </a:r>
            <a:r>
              <a:rPr b="0" lang="en-US" sz="1400" strike="noStrike" u="none">
                <a:solidFill>
                  <a:srgbClr val="ffb088"/>
                </a:solidFill>
                <a:effectLst/>
                <a:uFillTx/>
                <a:latin typeface="Courier New"/>
                <a:ea typeface="Courier New"/>
              </a:rPr>
              <a:t>120_000</a:t>
            </a:r>
            <a:endParaRPr b="0" lang="en-US" sz="1400" strike="noStrike" u="none">
              <a:solidFill>
                <a:srgbClr val="000000"/>
              </a:solidFill>
              <a:effectLst/>
              <a:uFillTx/>
              <a:latin typeface="Arial"/>
            </a:endParaRPr>
          </a:p>
          <a:p>
            <a:pPr defTabSz="914400">
              <a:lnSpc>
                <a:spcPct val="118000"/>
              </a:lnSpc>
              <a:tabLst>
                <a:tab algn="l" pos="0"/>
              </a:tabLst>
            </a:pPr>
            <a:r>
              <a:rPr b="0" lang="en-US" sz="1400" strike="noStrike" u="none">
                <a:solidFill>
                  <a:srgbClr val="9fd8dd"/>
                </a:solidFill>
                <a:effectLst/>
                <a:uFillTx/>
                <a:latin typeface="Courier New"/>
                <a:ea typeface="Courier New"/>
              </a:rPr>
              <a:t>        elif age &gt; 40:    return </a:t>
            </a:r>
            <a:r>
              <a:rPr b="0" lang="en-US" sz="1400" strike="noStrike" u="none">
                <a:solidFill>
                  <a:srgbClr val="ffb088"/>
                </a:solidFill>
                <a:effectLst/>
                <a:uFillTx/>
                <a:latin typeface="Courier New"/>
                <a:ea typeface="Courier New"/>
              </a:rPr>
              <a:t>135_000</a:t>
            </a:r>
            <a:endParaRPr b="0" lang="en-US" sz="1400" strike="noStrike" u="none">
              <a:solidFill>
                <a:srgbClr val="000000"/>
              </a:solidFill>
              <a:effectLst/>
              <a:uFillTx/>
              <a:latin typeface="Arial"/>
            </a:endParaRPr>
          </a:p>
          <a:p>
            <a:pPr defTabSz="914400">
              <a:lnSpc>
                <a:spcPct val="118000"/>
              </a:lnSpc>
              <a:tabLst>
                <a:tab algn="l" pos="0"/>
              </a:tabLst>
            </a:pPr>
            <a:r>
              <a:rPr b="0" lang="en-US" sz="1400" strike="noStrike" u="none">
                <a:solidFill>
                  <a:srgbClr val="9fd8dd"/>
                </a:solidFill>
                <a:effectLst/>
                <a:uFillTx/>
                <a:latin typeface="Courier New"/>
                <a:ea typeface="Courier New"/>
              </a:rPr>
              <a:t>        else:             return </a:t>
            </a:r>
            <a:r>
              <a:rPr b="0" lang="en-US" sz="1400" strike="noStrike" u="none">
                <a:solidFill>
                  <a:srgbClr val="ffb088"/>
                </a:solidFill>
                <a:effectLst/>
                <a:uFillTx/>
                <a:latin typeface="Courier New"/>
                <a:ea typeface="Courier New"/>
              </a:rPr>
              <a:t>150_000</a:t>
            </a:r>
            <a:endParaRPr b="0" lang="en-US" sz="1400" strike="noStrike" u="none">
              <a:solidFill>
                <a:srgbClr val="000000"/>
              </a:solidFill>
              <a:effectLst/>
              <a:uFillTx/>
              <a:latin typeface="Arial"/>
            </a:endParaRPr>
          </a:p>
          <a:p>
            <a:pPr defTabSz="914400">
              <a:lnSpc>
                <a:spcPct val="118000"/>
              </a:lnSpc>
              <a:tabLst>
                <a:tab algn="l" pos="0"/>
              </a:tabLst>
            </a:pPr>
            <a:r>
              <a:rPr b="0" lang="en-US" sz="1400" strike="noStrike" u="none">
                <a:solidFill>
                  <a:srgbClr val="9fd8dd"/>
                </a:solidFill>
                <a:effectLst/>
                <a:uFillTx/>
                <a:latin typeface="Courier New"/>
                <a:ea typeface="Courier New"/>
              </a:rPr>
              <a:t>    elif </a:t>
            </a:r>
            <a:r>
              <a:rPr b="0" lang="en-US" sz="1400" strike="noStrike" u="none">
                <a:solidFill>
                  <a:srgbClr val="ffb088"/>
                </a:solidFill>
                <a:effectLst/>
                <a:uFillTx/>
                <a:latin typeface="Courier New"/>
                <a:ea typeface="Courier New"/>
              </a:rPr>
              <a:t>sqft &lt; 1500</a:t>
            </a:r>
            <a:r>
              <a:rPr b="0" lang="en-US" sz="1400" strike="noStrike" u="none">
                <a:solidFill>
                  <a:srgbClr val="9fd8dd"/>
                </a:solidFill>
                <a:effectLst/>
                <a:uFillTx/>
                <a:latin typeface="Courier New"/>
                <a:ea typeface="Courier New"/>
              </a:rPr>
              <a:t>:</a:t>
            </a:r>
            <a:endParaRPr b="0" lang="en-US" sz="1400" strike="noStrike" u="none">
              <a:solidFill>
                <a:srgbClr val="000000"/>
              </a:solidFill>
              <a:effectLst/>
              <a:uFillTx/>
              <a:latin typeface="Arial"/>
            </a:endParaRPr>
          </a:p>
          <a:p>
            <a:pPr defTabSz="914400">
              <a:lnSpc>
                <a:spcPct val="118000"/>
              </a:lnSpc>
              <a:tabLst>
                <a:tab algn="l" pos="0"/>
              </a:tabLst>
            </a:pPr>
            <a:r>
              <a:rPr b="0" lang="en-US" sz="1400" strike="noStrike" u="none">
                <a:solidFill>
                  <a:srgbClr val="9fd8dd"/>
                </a:solidFill>
                <a:effectLst/>
                <a:uFillTx/>
                <a:latin typeface="Courier New"/>
                <a:ea typeface="Courier New"/>
              </a:rPr>
              <a:t>        if beds &lt; 3:      return </a:t>
            </a:r>
            <a:r>
              <a:rPr b="0" lang="en-US" sz="1400" strike="noStrike" u="none">
                <a:solidFill>
                  <a:srgbClr val="ffb088"/>
                </a:solidFill>
                <a:effectLst/>
                <a:uFillTx/>
                <a:latin typeface="Courier New"/>
                <a:ea typeface="Courier New"/>
              </a:rPr>
              <a:t>190_000</a:t>
            </a:r>
            <a:endParaRPr b="0" lang="en-US" sz="1400" strike="noStrike" u="none">
              <a:solidFill>
                <a:srgbClr val="000000"/>
              </a:solidFill>
              <a:effectLst/>
              <a:uFillTx/>
              <a:latin typeface="Arial"/>
            </a:endParaRPr>
          </a:p>
          <a:p>
            <a:pPr defTabSz="914400">
              <a:lnSpc>
                <a:spcPct val="118000"/>
              </a:lnSpc>
              <a:tabLst>
                <a:tab algn="l" pos="0"/>
              </a:tabLst>
            </a:pPr>
            <a:r>
              <a:rPr b="0" lang="en-US" sz="1400" strike="noStrike" u="none">
                <a:solidFill>
                  <a:srgbClr val="9fd8dd"/>
                </a:solidFill>
                <a:effectLst/>
                <a:uFillTx/>
                <a:latin typeface="Courier New"/>
                <a:ea typeface="Courier New"/>
              </a:rPr>
              <a:t>        elif age &gt; 40:    return </a:t>
            </a:r>
            <a:r>
              <a:rPr b="0" lang="en-US" sz="1400" strike="noStrike" u="none">
                <a:solidFill>
                  <a:srgbClr val="ffb088"/>
                </a:solidFill>
                <a:effectLst/>
                <a:uFillTx/>
                <a:latin typeface="Courier New"/>
                <a:ea typeface="Courier New"/>
              </a:rPr>
              <a:t>205_000</a:t>
            </a:r>
            <a:endParaRPr b="0" lang="en-US" sz="1400" strike="noStrike" u="none">
              <a:solidFill>
                <a:srgbClr val="000000"/>
              </a:solidFill>
              <a:effectLst/>
              <a:uFillTx/>
              <a:latin typeface="Arial"/>
            </a:endParaRPr>
          </a:p>
          <a:p>
            <a:pPr defTabSz="914400">
              <a:lnSpc>
                <a:spcPct val="118000"/>
              </a:lnSpc>
              <a:tabLst>
                <a:tab algn="l" pos="0"/>
              </a:tabLst>
            </a:pPr>
            <a:r>
              <a:rPr b="0" lang="en-US" sz="1400" strike="noStrike" u="none">
                <a:solidFill>
                  <a:srgbClr val="9fd8dd"/>
                </a:solidFill>
                <a:effectLst/>
                <a:uFillTx/>
                <a:latin typeface="Courier New"/>
                <a:ea typeface="Courier New"/>
              </a:rPr>
              <a:t>        else:             return </a:t>
            </a:r>
            <a:r>
              <a:rPr b="0" lang="en-US" sz="1400" strike="noStrike" u="none">
                <a:solidFill>
                  <a:srgbClr val="ffb088"/>
                </a:solidFill>
                <a:effectLst/>
                <a:uFillTx/>
                <a:latin typeface="Courier New"/>
                <a:ea typeface="Courier New"/>
              </a:rPr>
              <a:t>230_000</a:t>
            </a:r>
            <a:endParaRPr b="0" lang="en-US" sz="1400" strike="noStrike" u="none">
              <a:solidFill>
                <a:srgbClr val="000000"/>
              </a:solidFill>
              <a:effectLst/>
              <a:uFillTx/>
              <a:latin typeface="Arial"/>
            </a:endParaRPr>
          </a:p>
          <a:p>
            <a:pPr defTabSz="914400">
              <a:lnSpc>
                <a:spcPct val="118000"/>
              </a:lnSpc>
              <a:tabLst>
                <a:tab algn="l" pos="0"/>
              </a:tabLst>
            </a:pPr>
            <a:r>
              <a:rPr b="0" lang="en-US" sz="1400" strike="noStrike" u="none">
                <a:solidFill>
                  <a:srgbClr val="9fd8dd"/>
                </a:solidFill>
                <a:effectLst/>
                <a:uFillTx/>
                <a:latin typeface="Courier New"/>
                <a:ea typeface="Courier New"/>
              </a:rPr>
              <a:t>    elif </a:t>
            </a:r>
            <a:r>
              <a:rPr b="0" lang="en-US" sz="1400" strike="noStrike" u="none">
                <a:solidFill>
                  <a:srgbClr val="ffb088"/>
                </a:solidFill>
                <a:effectLst/>
                <a:uFillTx/>
                <a:latin typeface="Courier New"/>
                <a:ea typeface="Courier New"/>
              </a:rPr>
              <a:t>sqft &lt; 2000</a:t>
            </a:r>
            <a:r>
              <a:rPr b="0" lang="en-US" sz="1400" strike="noStrike" u="none">
                <a:solidFill>
                  <a:srgbClr val="9fd8dd"/>
                </a:solidFill>
                <a:effectLst/>
                <a:uFillTx/>
                <a:latin typeface="Courier New"/>
                <a:ea typeface="Courier New"/>
              </a:rPr>
              <a:t>:</a:t>
            </a:r>
            <a:endParaRPr b="0" lang="en-US" sz="1400" strike="noStrike" u="none">
              <a:solidFill>
                <a:srgbClr val="000000"/>
              </a:solidFill>
              <a:effectLst/>
              <a:uFillTx/>
              <a:latin typeface="Arial"/>
            </a:endParaRPr>
          </a:p>
          <a:p>
            <a:pPr defTabSz="914400">
              <a:lnSpc>
                <a:spcPct val="118000"/>
              </a:lnSpc>
              <a:tabLst>
                <a:tab algn="l" pos="0"/>
              </a:tabLst>
            </a:pPr>
            <a:r>
              <a:rPr b="0" lang="en-US" sz="1400" strike="noStrike" u="none">
                <a:solidFill>
                  <a:srgbClr val="9fd8dd"/>
                </a:solidFill>
                <a:effectLst/>
                <a:uFillTx/>
                <a:latin typeface="Courier New"/>
                <a:ea typeface="Courier New"/>
              </a:rPr>
              <a:t>        if beds &lt; 3:      return </a:t>
            </a:r>
            <a:r>
              <a:rPr b="0" lang="en-US" sz="1400" strike="noStrike" u="none">
                <a:solidFill>
                  <a:srgbClr val="ffb088"/>
                </a:solidFill>
                <a:effectLst/>
                <a:uFillTx/>
                <a:latin typeface="Courier New"/>
                <a:ea typeface="Courier New"/>
              </a:rPr>
              <a:t>245_000</a:t>
            </a:r>
            <a:endParaRPr b="0" lang="en-US" sz="1400" strike="noStrike" u="none">
              <a:solidFill>
                <a:srgbClr val="000000"/>
              </a:solidFill>
              <a:effectLst/>
              <a:uFillTx/>
              <a:latin typeface="Arial"/>
            </a:endParaRPr>
          </a:p>
          <a:p>
            <a:pPr defTabSz="914400">
              <a:lnSpc>
                <a:spcPct val="118000"/>
              </a:lnSpc>
              <a:tabLst>
                <a:tab algn="l" pos="0"/>
              </a:tabLst>
            </a:pPr>
            <a:r>
              <a:rPr b="0" lang="en-US" sz="1400" strike="noStrike" u="none">
                <a:solidFill>
                  <a:srgbClr val="9fd8dd"/>
                </a:solidFill>
                <a:effectLst/>
                <a:uFillTx/>
                <a:latin typeface="Courier New"/>
                <a:ea typeface="Courier New"/>
              </a:rPr>
              <a:t>        # ... and on, and on, and on</a:t>
            </a:r>
            <a:endParaRPr b="0" lang="en-US" sz="1400" strike="noStrike" u="none">
              <a:solidFill>
                <a:srgbClr val="000000"/>
              </a:solidFill>
              <a:effectLst/>
              <a:uFillTx/>
              <a:latin typeface="Arial"/>
            </a:endParaRPr>
          </a:p>
        </p:txBody>
      </p:sp>
      <p:sp>
        <p:nvSpPr>
          <p:cNvPr id="33" name="Shape 4"/>
          <p:cNvSpPr/>
          <p:nvPr/>
        </p:nvSpPr>
        <p:spPr>
          <a:xfrm>
            <a:off x="8138160" y="1828800"/>
            <a:ext cx="383760" cy="383760"/>
          </a:xfrm>
          <a:prstGeom prst="ellipse">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 name="Text 5"/>
          <p:cNvSpPr/>
          <p:nvPr/>
        </p:nvSpPr>
        <p:spPr>
          <a:xfrm>
            <a:off x="8138160" y="182880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5d6e7c"/>
                </a:solidFill>
                <a:effectLst/>
                <a:uFillTx/>
                <a:latin typeface="Calibri"/>
                <a:ea typeface="Calibri"/>
              </a:rPr>
              <a:t>1</a:t>
            </a:r>
            <a:endParaRPr b="0" lang="en-US" sz="1600" strike="noStrike" u="none">
              <a:solidFill>
                <a:srgbClr val="000000"/>
              </a:solidFill>
              <a:effectLst/>
              <a:uFillTx/>
              <a:latin typeface="Arial"/>
            </a:endParaRPr>
          </a:p>
        </p:txBody>
      </p:sp>
      <p:sp>
        <p:nvSpPr>
          <p:cNvPr id="35" name="Text 6"/>
          <p:cNvSpPr/>
          <p:nvPr/>
        </p:nvSpPr>
        <p:spPr>
          <a:xfrm>
            <a:off x="8686800" y="1810440"/>
            <a:ext cx="32000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14202b"/>
                </a:solidFill>
                <a:effectLst/>
                <a:uFillTx/>
                <a:latin typeface="Calibri"/>
                <a:ea typeface="Calibri"/>
              </a:rPr>
              <a:t>It works</a:t>
            </a:r>
            <a:endParaRPr b="0" lang="en-US" sz="1700" strike="noStrike" u="none">
              <a:solidFill>
                <a:srgbClr val="000000"/>
              </a:solidFill>
              <a:effectLst/>
              <a:uFillTx/>
              <a:latin typeface="Arial"/>
            </a:endParaRPr>
          </a:p>
        </p:txBody>
      </p:sp>
      <p:sp>
        <p:nvSpPr>
          <p:cNvPr id="36" name="Text 7"/>
          <p:cNvSpPr/>
          <p:nvPr/>
        </p:nvSpPr>
        <p:spPr>
          <a:xfrm>
            <a:off x="8686800" y="2176200"/>
            <a:ext cx="320004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Every input gets an answer.</a:t>
            </a:r>
            <a:endParaRPr b="0" lang="en-US" sz="1400" strike="noStrike" u="none">
              <a:solidFill>
                <a:srgbClr val="000000"/>
              </a:solidFill>
              <a:effectLst/>
              <a:uFillTx/>
              <a:latin typeface="Arial"/>
            </a:endParaRPr>
          </a:p>
        </p:txBody>
      </p:sp>
      <p:sp>
        <p:nvSpPr>
          <p:cNvPr id="37" name="Shape 8"/>
          <p:cNvSpPr/>
          <p:nvPr/>
        </p:nvSpPr>
        <p:spPr>
          <a:xfrm>
            <a:off x="8138160" y="3246120"/>
            <a:ext cx="383760" cy="383760"/>
          </a:xfrm>
          <a:prstGeom prst="ellipse">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 name="Text 9"/>
          <p:cNvSpPr/>
          <p:nvPr/>
        </p:nvSpPr>
        <p:spPr>
          <a:xfrm>
            <a:off x="8138160" y="324612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5d6e7c"/>
                </a:solidFill>
                <a:effectLst/>
                <a:uFillTx/>
                <a:latin typeface="Calibri"/>
                <a:ea typeface="Calibri"/>
              </a:rPr>
              <a:t>2</a:t>
            </a:r>
            <a:endParaRPr b="0" lang="en-US" sz="1600" strike="noStrike" u="none">
              <a:solidFill>
                <a:srgbClr val="000000"/>
              </a:solidFill>
              <a:effectLst/>
              <a:uFillTx/>
              <a:latin typeface="Arial"/>
            </a:endParaRPr>
          </a:p>
        </p:txBody>
      </p:sp>
      <p:sp>
        <p:nvSpPr>
          <p:cNvPr id="39" name="Text 10"/>
          <p:cNvSpPr/>
          <p:nvPr/>
        </p:nvSpPr>
        <p:spPr>
          <a:xfrm>
            <a:off x="8686800" y="3227760"/>
            <a:ext cx="32000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14202b"/>
                </a:solidFill>
                <a:effectLst/>
                <a:uFillTx/>
                <a:latin typeface="Calibri"/>
                <a:ea typeface="Calibri"/>
              </a:rPr>
              <a:t>It is honest work</a:t>
            </a:r>
            <a:endParaRPr b="0" lang="en-US" sz="1700" strike="noStrike" u="none">
              <a:solidFill>
                <a:srgbClr val="000000"/>
              </a:solidFill>
              <a:effectLst/>
              <a:uFillTx/>
              <a:latin typeface="Arial"/>
            </a:endParaRPr>
          </a:p>
        </p:txBody>
      </p:sp>
      <p:sp>
        <p:nvSpPr>
          <p:cNvPr id="40" name="Text 11"/>
          <p:cNvSpPr/>
          <p:nvPr/>
        </p:nvSpPr>
        <p:spPr>
          <a:xfrm>
            <a:off x="8686800" y="3593520"/>
            <a:ext cx="320004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You can read every decision.</a:t>
            </a:r>
            <a:endParaRPr b="0" lang="en-US" sz="1400" strike="noStrike" u="none">
              <a:solidFill>
                <a:srgbClr val="000000"/>
              </a:solidFill>
              <a:effectLst/>
              <a:uFillTx/>
              <a:latin typeface="Arial"/>
            </a:endParaRPr>
          </a:p>
        </p:txBody>
      </p:sp>
      <p:sp>
        <p:nvSpPr>
          <p:cNvPr id="41" name="Shape 12"/>
          <p:cNvSpPr/>
          <p:nvPr/>
        </p:nvSpPr>
        <p:spPr>
          <a:xfrm>
            <a:off x="8138160" y="4663440"/>
            <a:ext cx="383760" cy="3837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 name="Text 13"/>
          <p:cNvSpPr/>
          <p:nvPr/>
        </p:nvSpPr>
        <p:spPr>
          <a:xfrm>
            <a:off x="8138160" y="466344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3</a:t>
            </a:r>
            <a:endParaRPr b="0" lang="en-US" sz="1600" strike="noStrike" u="none">
              <a:solidFill>
                <a:srgbClr val="000000"/>
              </a:solidFill>
              <a:effectLst/>
              <a:uFillTx/>
              <a:latin typeface="Arial"/>
            </a:endParaRPr>
          </a:p>
        </p:txBody>
      </p:sp>
      <p:sp>
        <p:nvSpPr>
          <p:cNvPr id="43" name="Text 14"/>
          <p:cNvSpPr/>
          <p:nvPr/>
        </p:nvSpPr>
        <p:spPr>
          <a:xfrm>
            <a:off x="8686800" y="4645080"/>
            <a:ext cx="32000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14202b"/>
                </a:solidFill>
                <a:effectLst/>
                <a:uFillTx/>
                <a:latin typeface="Calibri"/>
                <a:ea typeface="Calibri"/>
              </a:rPr>
              <a:t>It is a dead end</a:t>
            </a:r>
            <a:endParaRPr b="0" lang="en-US" sz="1700" strike="noStrike" u="none">
              <a:solidFill>
                <a:srgbClr val="000000"/>
              </a:solidFill>
              <a:effectLst/>
              <a:uFillTx/>
              <a:latin typeface="Arial"/>
            </a:endParaRPr>
          </a:p>
        </p:txBody>
      </p:sp>
      <p:sp>
        <p:nvSpPr>
          <p:cNvPr id="44" name="Text 15"/>
          <p:cNvSpPr/>
          <p:nvPr/>
        </p:nvSpPr>
        <p:spPr>
          <a:xfrm>
            <a:off x="8686800" y="5010840"/>
            <a:ext cx="320004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Watch what happens next.</a:t>
            </a:r>
            <a:endParaRPr b="0" lang="en-US"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WHY IT FAILS</a:t>
            </a:r>
            <a:endParaRPr b="0" lang="en-US" sz="1200" strike="noStrike" u="none">
              <a:solidFill>
                <a:srgbClr val="000000"/>
              </a:solidFill>
              <a:effectLst/>
              <a:uFillTx/>
              <a:latin typeface="Arial"/>
            </a:endParaRPr>
          </a:p>
        </p:txBody>
      </p:sp>
      <p:sp>
        <p:nvSpPr>
          <p:cNvPr id="46"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Three problems, and they get worse</a:t>
            </a:r>
            <a:endParaRPr b="0" lang="en-US" sz="3200" strike="noStrike" u="none">
              <a:solidFill>
                <a:srgbClr val="000000"/>
              </a:solidFill>
              <a:effectLst/>
              <a:uFillTx/>
              <a:latin typeface="Arial"/>
            </a:endParaRPr>
          </a:p>
        </p:txBody>
      </p:sp>
      <p:sp>
        <p:nvSpPr>
          <p:cNvPr id="47" name="Shape 2"/>
          <p:cNvSpPr/>
          <p:nvPr/>
        </p:nvSpPr>
        <p:spPr>
          <a:xfrm>
            <a:off x="640080" y="1828800"/>
            <a:ext cx="3428640" cy="3565800"/>
          </a:xfrm>
          <a:prstGeom prst="roundRect">
            <a:avLst>
              <a:gd name="adj" fmla="val 2133"/>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 name="Shape 3"/>
          <p:cNvSpPr/>
          <p:nvPr/>
        </p:nvSpPr>
        <p:spPr>
          <a:xfrm>
            <a:off x="960120" y="2148840"/>
            <a:ext cx="456840" cy="45684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9" name="Text 4"/>
          <p:cNvSpPr/>
          <p:nvPr/>
        </p:nvSpPr>
        <p:spPr>
          <a:xfrm>
            <a:off x="960120" y="214884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1</a:t>
            </a:r>
            <a:endParaRPr b="0" lang="en-US" sz="1600" strike="noStrike" u="none">
              <a:solidFill>
                <a:srgbClr val="000000"/>
              </a:solidFill>
              <a:effectLst/>
              <a:uFillTx/>
              <a:latin typeface="Arial"/>
            </a:endParaRPr>
          </a:p>
        </p:txBody>
      </p:sp>
      <p:sp>
        <p:nvSpPr>
          <p:cNvPr id="50" name="Text 5"/>
          <p:cNvSpPr/>
          <p:nvPr/>
        </p:nvSpPr>
        <p:spPr>
          <a:xfrm>
            <a:off x="960120" y="2743200"/>
            <a:ext cx="2788560" cy="822600"/>
          </a:xfrm>
          <a:prstGeom prst="rect">
            <a:avLst/>
          </a:prstGeom>
          <a:noFill/>
          <a:ln w="0">
            <a:noFill/>
          </a:ln>
        </p:spPr>
        <p:style>
          <a:lnRef idx="0"/>
          <a:fillRef idx="0"/>
          <a:effectRef idx="0"/>
          <a:fontRef idx="minor"/>
        </p:style>
        <p:txBody>
          <a:bodyPr lIns="0" rIns="0" tIns="0" bIns="0" anchor="b">
            <a:noAutofit/>
          </a:bodyPr>
          <a:p>
            <a:pPr defTabSz="914400">
              <a:lnSpc>
                <a:spcPct val="100000"/>
              </a:lnSpc>
              <a:tabLst>
                <a:tab algn="l" pos="0"/>
              </a:tabLst>
            </a:pPr>
            <a:r>
              <a:rPr b="1" lang="en-US" sz="2100" strike="noStrike" u="none">
                <a:solidFill>
                  <a:srgbClr val="14202b"/>
                </a:solidFill>
                <a:effectLst/>
                <a:uFillTx/>
                <a:latin typeface="Cambria"/>
                <a:ea typeface="Cambria"/>
              </a:rPr>
              <a:t>The numbers are guesses</a:t>
            </a:r>
            <a:endParaRPr b="0" lang="en-US" sz="2100" strike="noStrike" u="none">
              <a:solidFill>
                <a:srgbClr val="000000"/>
              </a:solidFill>
              <a:effectLst/>
              <a:uFillTx/>
              <a:latin typeface="Arial"/>
            </a:endParaRPr>
          </a:p>
        </p:txBody>
      </p:sp>
      <p:sp>
        <p:nvSpPr>
          <p:cNvPr id="51" name="Text 6"/>
          <p:cNvSpPr/>
          <p:nvPr/>
        </p:nvSpPr>
        <p:spPr>
          <a:xfrm>
            <a:off x="960120" y="3657600"/>
            <a:ext cx="2788560" cy="1508400"/>
          </a:xfrm>
          <a:prstGeom prst="rect">
            <a:avLst/>
          </a:prstGeom>
          <a:noFill/>
          <a:ln w="0">
            <a:noFill/>
          </a:ln>
        </p:spPr>
        <p:style>
          <a:lnRef idx="0"/>
          <a:fillRef idx="0"/>
          <a:effectRef idx="0"/>
          <a:fontRef idx="minor"/>
        </p:style>
        <p:txBody>
          <a:bodyPr lIns="0" rIns="0" tIns="0" bIns="0" anchor="ctr">
            <a:noAutofit/>
          </a:bodyPr>
          <a:p>
            <a:pPr defTabSz="914400">
              <a:lnSpc>
                <a:spcPct val="120000"/>
              </a:lnSpc>
              <a:tabLst>
                <a:tab algn="l" pos="0"/>
              </a:tabLst>
            </a:pPr>
            <a:r>
              <a:rPr b="0" lang="en-US" sz="1450" strike="noStrike" u="none">
                <a:solidFill>
                  <a:srgbClr val="5d6e7c"/>
                </a:solidFill>
                <a:effectLst/>
                <a:uFillTx/>
                <a:latin typeface="Calibri"/>
                <a:ea typeface="Calibri"/>
              </a:rPr>
              <a:t>Where did $150,000 come from? Where did the 1,000 sq ft cutoff come from? You invented them. The data was never consulted.</a:t>
            </a:r>
            <a:endParaRPr b="0" lang="en-US" sz="1450" strike="noStrike" u="none">
              <a:solidFill>
                <a:srgbClr val="000000"/>
              </a:solidFill>
              <a:effectLst/>
              <a:uFillTx/>
              <a:latin typeface="Arial"/>
            </a:endParaRPr>
          </a:p>
        </p:txBody>
      </p:sp>
      <p:sp>
        <p:nvSpPr>
          <p:cNvPr id="52" name="Shape 7"/>
          <p:cNvSpPr/>
          <p:nvPr/>
        </p:nvSpPr>
        <p:spPr>
          <a:xfrm>
            <a:off x="4370760" y="1828800"/>
            <a:ext cx="3428640" cy="3565800"/>
          </a:xfrm>
          <a:prstGeom prst="roundRect">
            <a:avLst>
              <a:gd name="adj" fmla="val 2133"/>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 name="Shape 8"/>
          <p:cNvSpPr/>
          <p:nvPr/>
        </p:nvSpPr>
        <p:spPr>
          <a:xfrm>
            <a:off x="4690800" y="2148840"/>
            <a:ext cx="456840" cy="45684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4" name="Text 9"/>
          <p:cNvSpPr/>
          <p:nvPr/>
        </p:nvSpPr>
        <p:spPr>
          <a:xfrm>
            <a:off x="4690800" y="214884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2</a:t>
            </a:r>
            <a:endParaRPr b="0" lang="en-US" sz="1600" strike="noStrike" u="none">
              <a:solidFill>
                <a:srgbClr val="000000"/>
              </a:solidFill>
              <a:effectLst/>
              <a:uFillTx/>
              <a:latin typeface="Arial"/>
            </a:endParaRPr>
          </a:p>
        </p:txBody>
      </p:sp>
      <p:sp>
        <p:nvSpPr>
          <p:cNvPr id="55" name="Text 10"/>
          <p:cNvSpPr/>
          <p:nvPr/>
        </p:nvSpPr>
        <p:spPr>
          <a:xfrm>
            <a:off x="4690800" y="2743200"/>
            <a:ext cx="2788560" cy="822600"/>
          </a:xfrm>
          <a:prstGeom prst="rect">
            <a:avLst/>
          </a:prstGeom>
          <a:noFill/>
          <a:ln w="0">
            <a:noFill/>
          </a:ln>
        </p:spPr>
        <p:style>
          <a:lnRef idx="0"/>
          <a:fillRef idx="0"/>
          <a:effectRef idx="0"/>
          <a:fontRef idx="minor"/>
        </p:style>
        <p:txBody>
          <a:bodyPr lIns="0" rIns="0" tIns="0" bIns="0" anchor="b">
            <a:noAutofit/>
          </a:bodyPr>
          <a:p>
            <a:pPr defTabSz="914400">
              <a:lnSpc>
                <a:spcPct val="100000"/>
              </a:lnSpc>
              <a:tabLst>
                <a:tab algn="l" pos="0"/>
              </a:tabLst>
            </a:pPr>
            <a:r>
              <a:rPr b="1" lang="en-US" sz="2100" strike="noStrike" u="none">
                <a:solidFill>
                  <a:srgbClr val="14202b"/>
                </a:solidFill>
                <a:effectLst/>
                <a:uFillTx/>
                <a:latin typeface="Cambria"/>
                <a:ea typeface="Cambria"/>
              </a:rPr>
              <a:t>The branches multiply</a:t>
            </a:r>
            <a:endParaRPr b="0" lang="en-US" sz="2100" strike="noStrike" u="none">
              <a:solidFill>
                <a:srgbClr val="000000"/>
              </a:solidFill>
              <a:effectLst/>
              <a:uFillTx/>
              <a:latin typeface="Arial"/>
            </a:endParaRPr>
          </a:p>
        </p:txBody>
      </p:sp>
      <p:sp>
        <p:nvSpPr>
          <p:cNvPr id="56" name="Text 11"/>
          <p:cNvSpPr/>
          <p:nvPr/>
        </p:nvSpPr>
        <p:spPr>
          <a:xfrm>
            <a:off x="4690800" y="3657600"/>
            <a:ext cx="2788560" cy="1508400"/>
          </a:xfrm>
          <a:prstGeom prst="rect">
            <a:avLst/>
          </a:prstGeom>
          <a:noFill/>
          <a:ln w="0">
            <a:noFill/>
          </a:ln>
        </p:spPr>
        <p:style>
          <a:lnRef idx="0"/>
          <a:fillRef idx="0"/>
          <a:effectRef idx="0"/>
          <a:fontRef idx="minor"/>
        </p:style>
        <p:txBody>
          <a:bodyPr lIns="0" rIns="0" tIns="0" bIns="0" anchor="ctr">
            <a:noAutofit/>
          </a:bodyPr>
          <a:p>
            <a:pPr defTabSz="914400">
              <a:lnSpc>
                <a:spcPct val="120000"/>
              </a:lnSpc>
              <a:tabLst>
                <a:tab algn="l" pos="0"/>
              </a:tabLst>
            </a:pPr>
            <a:r>
              <a:rPr b="0" lang="en-US" sz="1450" strike="noStrike" u="none">
                <a:solidFill>
                  <a:srgbClr val="5d6e7c"/>
                </a:solidFill>
                <a:effectLst/>
                <a:uFillTx/>
                <a:latin typeface="Calibri"/>
                <a:ea typeface="Calibri"/>
              </a:rPr>
              <a:t>4 features x 5 ranges each = 625 cases to write and keep straight. Add one feature and the tree explodes again.</a:t>
            </a:r>
            <a:endParaRPr b="0" lang="en-US" sz="1450" strike="noStrike" u="none">
              <a:solidFill>
                <a:srgbClr val="000000"/>
              </a:solidFill>
              <a:effectLst/>
              <a:uFillTx/>
              <a:latin typeface="Arial"/>
            </a:endParaRPr>
          </a:p>
        </p:txBody>
      </p:sp>
      <p:sp>
        <p:nvSpPr>
          <p:cNvPr id="57" name="Shape 12"/>
          <p:cNvSpPr/>
          <p:nvPr/>
        </p:nvSpPr>
        <p:spPr>
          <a:xfrm>
            <a:off x="8101440" y="1828800"/>
            <a:ext cx="3428640" cy="3565800"/>
          </a:xfrm>
          <a:prstGeom prst="roundRect">
            <a:avLst>
              <a:gd name="adj" fmla="val 2133"/>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 name="Shape 13"/>
          <p:cNvSpPr/>
          <p:nvPr/>
        </p:nvSpPr>
        <p:spPr>
          <a:xfrm>
            <a:off x="8421480" y="2148840"/>
            <a:ext cx="456840" cy="45684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9" name="Text 14"/>
          <p:cNvSpPr/>
          <p:nvPr/>
        </p:nvSpPr>
        <p:spPr>
          <a:xfrm>
            <a:off x="8421480" y="214884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3</a:t>
            </a:r>
            <a:endParaRPr b="0" lang="en-US" sz="1600" strike="noStrike" u="none">
              <a:solidFill>
                <a:srgbClr val="000000"/>
              </a:solidFill>
              <a:effectLst/>
              <a:uFillTx/>
              <a:latin typeface="Arial"/>
            </a:endParaRPr>
          </a:p>
        </p:txBody>
      </p:sp>
      <p:sp>
        <p:nvSpPr>
          <p:cNvPr id="60" name="Text 15"/>
          <p:cNvSpPr/>
          <p:nvPr/>
        </p:nvSpPr>
        <p:spPr>
          <a:xfrm>
            <a:off x="8421480" y="2743200"/>
            <a:ext cx="2788560" cy="822600"/>
          </a:xfrm>
          <a:prstGeom prst="rect">
            <a:avLst/>
          </a:prstGeom>
          <a:noFill/>
          <a:ln w="0">
            <a:noFill/>
          </a:ln>
        </p:spPr>
        <p:style>
          <a:lnRef idx="0"/>
          <a:fillRef idx="0"/>
          <a:effectRef idx="0"/>
          <a:fontRef idx="minor"/>
        </p:style>
        <p:txBody>
          <a:bodyPr lIns="0" rIns="0" tIns="0" bIns="0" anchor="b">
            <a:noAutofit/>
          </a:bodyPr>
          <a:p>
            <a:pPr defTabSz="914400">
              <a:lnSpc>
                <a:spcPct val="100000"/>
              </a:lnSpc>
              <a:tabLst>
                <a:tab algn="l" pos="0"/>
              </a:tabLst>
            </a:pPr>
            <a:r>
              <a:rPr b="1" lang="en-US" sz="2100" strike="noStrike" u="none">
                <a:solidFill>
                  <a:srgbClr val="14202b"/>
                </a:solidFill>
                <a:effectLst/>
                <a:uFillTx/>
                <a:latin typeface="Cambria"/>
                <a:ea typeface="Cambria"/>
              </a:rPr>
              <a:t>The world moves</a:t>
            </a:r>
            <a:endParaRPr b="0" lang="en-US" sz="2100" strike="noStrike" u="none">
              <a:solidFill>
                <a:srgbClr val="000000"/>
              </a:solidFill>
              <a:effectLst/>
              <a:uFillTx/>
              <a:latin typeface="Arial"/>
            </a:endParaRPr>
          </a:p>
        </p:txBody>
      </p:sp>
      <p:sp>
        <p:nvSpPr>
          <p:cNvPr id="61" name="Text 16"/>
          <p:cNvSpPr/>
          <p:nvPr/>
        </p:nvSpPr>
        <p:spPr>
          <a:xfrm>
            <a:off x="8421480" y="3657600"/>
            <a:ext cx="2788560" cy="1508400"/>
          </a:xfrm>
          <a:prstGeom prst="rect">
            <a:avLst/>
          </a:prstGeom>
          <a:noFill/>
          <a:ln w="0">
            <a:noFill/>
          </a:ln>
        </p:spPr>
        <p:style>
          <a:lnRef idx="0"/>
          <a:fillRef idx="0"/>
          <a:effectRef idx="0"/>
          <a:fontRef idx="minor"/>
        </p:style>
        <p:txBody>
          <a:bodyPr lIns="0" rIns="0" tIns="0" bIns="0" anchor="ctr">
            <a:noAutofit/>
          </a:bodyPr>
          <a:p>
            <a:pPr defTabSz="914400">
              <a:lnSpc>
                <a:spcPct val="120000"/>
              </a:lnSpc>
              <a:tabLst>
                <a:tab algn="l" pos="0"/>
              </a:tabLst>
            </a:pPr>
            <a:r>
              <a:rPr b="0" lang="en-US" sz="1450" strike="noStrike" u="none">
                <a:solidFill>
                  <a:srgbClr val="5d6e7c"/>
                </a:solidFill>
                <a:effectLst/>
                <a:uFillTx/>
                <a:latin typeface="Calibri"/>
                <a:ea typeface="Calibri"/>
              </a:rPr>
              <a:t>The market goes up 10% and every constant in the file is wrong. Fixing it means editing logic by hand, again.</a:t>
            </a:r>
            <a:endParaRPr b="0" lang="en-US" sz="1450" strike="noStrike" u="none">
              <a:solidFill>
                <a:srgbClr val="000000"/>
              </a:solidFill>
              <a:effectLst/>
              <a:uFillTx/>
              <a:latin typeface="Arial"/>
            </a:endParaRPr>
          </a:p>
        </p:txBody>
      </p:sp>
      <p:sp>
        <p:nvSpPr>
          <p:cNvPr id="62" name="Text 17"/>
          <p:cNvSpPr/>
          <p:nvPr/>
        </p:nvSpPr>
        <p:spPr>
          <a:xfrm>
            <a:off x="640080" y="5715000"/>
            <a:ext cx="1091124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25323d"/>
                </a:solidFill>
                <a:effectLst/>
                <a:uFillTx/>
                <a:latin typeface="Calibri"/>
                <a:ea typeface="Calibri"/>
              </a:rPr>
              <a:t>All three have the same root cause: a human is choosing the numbers.</a:t>
            </a:r>
            <a:endParaRPr b="0" lang="en-US" sz="17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4202b"/>
        </a:solidFill>
      </p:bgPr>
    </p:bg>
    <p:spTree>
      <p:nvGrpSpPr>
        <p:cNvPr id="1" name=""/>
        <p:cNvGrpSpPr/>
        <p:nvPr/>
      </p:nvGrpSpPr>
      <p:grpSpPr>
        <a:xfrm>
          <a:off x="0" y="0"/>
          <a:ext cx="0" cy="0"/>
          <a:chOff x="0" y="0"/>
          <a:chExt cx="0" cy="0"/>
        </a:xfrm>
      </p:grpSpPr>
      <p:sp>
        <p:nvSpPr>
          <p:cNvPr id="63" name="Text 0"/>
          <p:cNvSpPr/>
          <p:nvPr/>
        </p:nvSpPr>
        <p:spPr>
          <a:xfrm>
            <a:off x="640080" y="1737360"/>
            <a:ext cx="1088100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4000" strike="noStrike" u="none">
                <a:solidFill>
                  <a:srgbClr val="ffffff"/>
                </a:solidFill>
                <a:effectLst/>
                <a:uFillTx/>
                <a:latin typeface="Cambria"/>
                <a:ea typeface="Cambria"/>
              </a:rPr>
              <a:t>What if the program</a:t>
            </a:r>
            <a:endParaRPr b="0" lang="en-US" sz="4000" strike="noStrike" u="none">
              <a:solidFill>
                <a:srgbClr val="ffffff"/>
              </a:solidFill>
              <a:effectLst/>
              <a:uFillTx/>
              <a:latin typeface="Arial"/>
            </a:endParaRPr>
          </a:p>
        </p:txBody>
      </p:sp>
      <p:sp>
        <p:nvSpPr>
          <p:cNvPr id="64" name="Text 1"/>
          <p:cNvSpPr/>
          <p:nvPr/>
        </p:nvSpPr>
        <p:spPr>
          <a:xfrm>
            <a:off x="640080" y="2560320"/>
            <a:ext cx="1088100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400" strike="noStrike" u="none">
                <a:solidFill>
                  <a:srgbClr val="ff6b35"/>
                </a:solidFill>
                <a:effectLst/>
                <a:uFillTx/>
                <a:latin typeface="Cambria"/>
                <a:ea typeface="Cambria"/>
              </a:rPr>
              <a:t>picked the numbers for us?</a:t>
            </a:r>
            <a:endParaRPr b="0" lang="en-US" sz="4400" strike="noStrike" u="none">
              <a:solidFill>
                <a:srgbClr val="ffffff"/>
              </a:solidFill>
              <a:effectLst/>
              <a:uFillTx/>
              <a:latin typeface="Arial"/>
            </a:endParaRPr>
          </a:p>
        </p:txBody>
      </p:sp>
      <p:sp>
        <p:nvSpPr>
          <p:cNvPr id="65" name="Text 2"/>
          <p:cNvSpPr/>
          <p:nvPr/>
        </p:nvSpPr>
        <p:spPr>
          <a:xfrm>
            <a:off x="640080" y="3794760"/>
            <a:ext cx="1088100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900" strike="noStrike" u="none">
                <a:solidFill>
                  <a:srgbClr val="aebecb"/>
                </a:solidFill>
                <a:effectLst/>
                <a:uFillTx/>
                <a:latin typeface="Calibri"/>
                <a:ea typeface="Calibri"/>
              </a:rPr>
              <a:t>Stop writing the logic. Write down a shape with adjustable numbers in it, then let the data choose the numbers. We need a shape that is flexible but simple — and you already know one.</a:t>
            </a:r>
            <a:endParaRPr b="0" lang="en-US" sz="1900" strike="noStrike" u="none">
              <a:solidFill>
                <a:srgbClr val="ffffff"/>
              </a:solidFill>
              <a:effectLst/>
              <a:uFillTx/>
              <a:latin typeface="Arial"/>
            </a:endParaRPr>
          </a:p>
        </p:txBody>
      </p:sp>
      <p:sp>
        <p:nvSpPr>
          <p:cNvPr id="66" name="Shape 3"/>
          <p:cNvSpPr/>
          <p:nvPr/>
        </p:nvSpPr>
        <p:spPr>
          <a:xfrm>
            <a:off x="640080" y="489204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7" name="Text 4"/>
          <p:cNvSpPr/>
          <p:nvPr/>
        </p:nvSpPr>
        <p:spPr>
          <a:xfrm>
            <a:off x="640080" y="489204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ff6b35"/>
                </a:solidFill>
                <a:effectLst/>
                <a:uFillTx/>
                <a:latin typeface="Calibri"/>
                <a:ea typeface="Calibri"/>
              </a:rPr>
              <a:t>Linear regression</a:t>
            </a:r>
            <a:endParaRPr b="0" lang="en-US" sz="1800" strike="noStrike" u="none">
              <a:solidFill>
                <a:srgbClr val="ffffff"/>
              </a:solidFill>
              <a:effectLst/>
              <a:uFillTx/>
              <a:latin typeface="Arial"/>
            </a:endParaRPr>
          </a:p>
        </p:txBody>
      </p:sp>
      <p:sp>
        <p:nvSpPr>
          <p:cNvPr id="68" name="Shape 5"/>
          <p:cNvSpPr/>
          <p:nvPr/>
        </p:nvSpPr>
        <p:spPr>
          <a:xfrm>
            <a:off x="4370760" y="489204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9" name="Text 6"/>
          <p:cNvSpPr/>
          <p:nvPr/>
        </p:nvSpPr>
        <p:spPr>
          <a:xfrm>
            <a:off x="4370760" y="489204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d6e0e8"/>
                </a:solidFill>
                <a:effectLst/>
                <a:uFillTx/>
                <a:latin typeface="Calibri"/>
                <a:ea typeface="Calibri"/>
              </a:rPr>
              <a:t>Weights and a bias</a:t>
            </a:r>
            <a:endParaRPr b="0" lang="en-US" sz="1800" strike="noStrike" u="none">
              <a:solidFill>
                <a:srgbClr val="ffffff"/>
              </a:solidFill>
              <a:effectLst/>
              <a:uFillTx/>
              <a:latin typeface="Arial"/>
            </a:endParaRPr>
          </a:p>
        </p:txBody>
      </p:sp>
      <p:sp>
        <p:nvSpPr>
          <p:cNvPr id="70" name="Shape 7"/>
          <p:cNvSpPr/>
          <p:nvPr/>
        </p:nvSpPr>
        <p:spPr>
          <a:xfrm>
            <a:off x="8101440" y="489204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1" name="Text 8"/>
          <p:cNvSpPr/>
          <p:nvPr/>
        </p:nvSpPr>
        <p:spPr>
          <a:xfrm>
            <a:off x="8101440" y="489204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d6e0e8"/>
                </a:solidFill>
                <a:effectLst/>
                <a:uFillTx/>
                <a:latin typeface="Calibri"/>
                <a:ea typeface="Calibri"/>
              </a:rPr>
              <a:t>A loss to minimize</a:t>
            </a:r>
            <a:endParaRPr b="0" lang="en-US" sz="18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START SIMPLE</a:t>
            </a:r>
            <a:endParaRPr b="0" lang="en-US" sz="1200" strike="noStrike" u="none">
              <a:solidFill>
                <a:srgbClr val="000000"/>
              </a:solidFill>
              <a:effectLst/>
              <a:uFillTx/>
              <a:latin typeface="Arial"/>
            </a:endParaRPr>
          </a:p>
        </p:txBody>
      </p:sp>
      <p:sp>
        <p:nvSpPr>
          <p:cNvPr id="73"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You already know a model</a:t>
            </a:r>
            <a:endParaRPr b="0" lang="en-US" sz="3200" strike="noStrike" u="none">
              <a:solidFill>
                <a:srgbClr val="000000"/>
              </a:solidFill>
              <a:effectLst/>
              <a:uFillTx/>
              <a:latin typeface="Arial"/>
            </a:endParaRPr>
          </a:p>
        </p:txBody>
      </p:sp>
      <p:sp>
        <p:nvSpPr>
          <p:cNvPr id="74" name="Text 2"/>
          <p:cNvSpPr/>
          <p:nvPr/>
        </p:nvSpPr>
        <p:spPr>
          <a:xfrm>
            <a:off x="640080" y="1828800"/>
            <a:ext cx="10911240" cy="1371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8800" strike="noStrike" u="none">
                <a:solidFill>
                  <a:srgbClr val="7d4e9e"/>
                </a:solidFill>
                <a:effectLst/>
                <a:uFillTx/>
                <a:latin typeface="Cambria"/>
                <a:ea typeface="Cambria"/>
              </a:rPr>
              <a:t>y</a:t>
            </a:r>
            <a:r>
              <a:rPr b="0" lang="en-US" sz="8800" strike="noStrike" u="none">
                <a:solidFill>
                  <a:srgbClr val="25323d"/>
                </a:solidFill>
                <a:effectLst/>
                <a:uFillTx/>
                <a:latin typeface="Cambria"/>
                <a:ea typeface="Cambria"/>
              </a:rPr>
              <a:t> = </a:t>
            </a:r>
            <a:r>
              <a:rPr b="1" lang="en-US" sz="8800" strike="noStrike" u="none">
                <a:solidFill>
                  <a:srgbClr val="ff6b35"/>
                </a:solidFill>
                <a:effectLst/>
                <a:uFillTx/>
                <a:latin typeface="Cambria"/>
                <a:ea typeface="Cambria"/>
              </a:rPr>
              <a:t>m</a:t>
            </a:r>
            <a:r>
              <a:rPr b="1" lang="en-US" sz="8800" strike="noStrike" u="none">
                <a:solidFill>
                  <a:srgbClr val="0e7c86"/>
                </a:solidFill>
                <a:effectLst/>
                <a:uFillTx/>
                <a:latin typeface="Cambria"/>
                <a:ea typeface="Cambria"/>
              </a:rPr>
              <a:t>x</a:t>
            </a:r>
            <a:r>
              <a:rPr b="0" lang="en-US" sz="8800" strike="noStrike" u="none">
                <a:solidFill>
                  <a:srgbClr val="25323d"/>
                </a:solidFill>
                <a:effectLst/>
                <a:uFillTx/>
                <a:latin typeface="Cambria"/>
                <a:ea typeface="Cambria"/>
              </a:rPr>
              <a:t> + </a:t>
            </a:r>
            <a:r>
              <a:rPr b="1" lang="en-US" sz="8800" strike="noStrike" u="none">
                <a:solidFill>
                  <a:srgbClr val="ff6b35"/>
                </a:solidFill>
                <a:effectLst/>
                <a:uFillTx/>
                <a:latin typeface="Cambria"/>
                <a:ea typeface="Cambria"/>
              </a:rPr>
              <a:t>b</a:t>
            </a:r>
            <a:endParaRPr b="0" lang="en-US" sz="8800" strike="noStrike" u="none">
              <a:solidFill>
                <a:srgbClr val="000000"/>
              </a:solidFill>
              <a:effectLst/>
              <a:uFillTx/>
              <a:latin typeface="Arial"/>
            </a:endParaRPr>
          </a:p>
        </p:txBody>
      </p:sp>
      <p:sp>
        <p:nvSpPr>
          <p:cNvPr id="75" name="Shape 3"/>
          <p:cNvSpPr/>
          <p:nvPr/>
        </p:nvSpPr>
        <p:spPr>
          <a:xfrm>
            <a:off x="640080" y="3657600"/>
            <a:ext cx="2514240" cy="1874160"/>
          </a:xfrm>
          <a:prstGeom prst="roundRect">
            <a:avLst>
              <a:gd name="adj" fmla="val 3902"/>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6" name="Text 4"/>
          <p:cNvSpPr/>
          <p:nvPr/>
        </p:nvSpPr>
        <p:spPr>
          <a:xfrm>
            <a:off x="896040" y="3840480"/>
            <a:ext cx="63972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7d4e9e"/>
                </a:solidFill>
                <a:effectLst/>
                <a:uFillTx/>
                <a:latin typeface="Cambria"/>
                <a:ea typeface="Cambria"/>
              </a:rPr>
              <a:t>y</a:t>
            </a:r>
            <a:endParaRPr b="0" lang="en-US" sz="3200" strike="noStrike" u="none">
              <a:solidFill>
                <a:srgbClr val="000000"/>
              </a:solidFill>
              <a:effectLst/>
              <a:uFillTx/>
              <a:latin typeface="Arial"/>
            </a:endParaRPr>
          </a:p>
        </p:txBody>
      </p:sp>
      <p:sp>
        <p:nvSpPr>
          <p:cNvPr id="77" name="Text 5"/>
          <p:cNvSpPr/>
          <p:nvPr/>
        </p:nvSpPr>
        <p:spPr>
          <a:xfrm>
            <a:off x="896040" y="4434840"/>
            <a:ext cx="201132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14202b"/>
                </a:solidFill>
                <a:effectLst/>
                <a:uFillTx/>
                <a:latin typeface="Calibri"/>
                <a:ea typeface="Calibri"/>
              </a:rPr>
              <a:t>output</a:t>
            </a:r>
            <a:endParaRPr b="0" lang="en-US" sz="1700" strike="noStrike" u="none">
              <a:solidFill>
                <a:srgbClr val="000000"/>
              </a:solidFill>
              <a:effectLst/>
              <a:uFillTx/>
              <a:latin typeface="Arial"/>
            </a:endParaRPr>
          </a:p>
        </p:txBody>
      </p:sp>
      <p:sp>
        <p:nvSpPr>
          <p:cNvPr id="78" name="Text 6"/>
          <p:cNvSpPr/>
          <p:nvPr/>
        </p:nvSpPr>
        <p:spPr>
          <a:xfrm>
            <a:off x="896040" y="4800600"/>
            <a:ext cx="205704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What the line predicts.</a:t>
            </a:r>
            <a:endParaRPr b="0" lang="en-US" sz="1400" strike="noStrike" u="none">
              <a:solidFill>
                <a:srgbClr val="000000"/>
              </a:solidFill>
              <a:effectLst/>
              <a:uFillTx/>
              <a:latin typeface="Arial"/>
            </a:endParaRPr>
          </a:p>
        </p:txBody>
      </p:sp>
      <p:sp>
        <p:nvSpPr>
          <p:cNvPr id="79" name="Shape 7"/>
          <p:cNvSpPr/>
          <p:nvPr/>
        </p:nvSpPr>
        <p:spPr>
          <a:xfrm>
            <a:off x="3410640" y="3657600"/>
            <a:ext cx="2514240" cy="1874160"/>
          </a:xfrm>
          <a:prstGeom prst="roundRect">
            <a:avLst>
              <a:gd name="adj" fmla="val 3902"/>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0" name="Text 8"/>
          <p:cNvSpPr/>
          <p:nvPr/>
        </p:nvSpPr>
        <p:spPr>
          <a:xfrm>
            <a:off x="3666600" y="3840480"/>
            <a:ext cx="63972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0e7c86"/>
                </a:solidFill>
                <a:effectLst/>
                <a:uFillTx/>
                <a:latin typeface="Cambria"/>
                <a:ea typeface="Cambria"/>
              </a:rPr>
              <a:t>x</a:t>
            </a:r>
            <a:endParaRPr b="0" lang="en-US" sz="3200" strike="noStrike" u="none">
              <a:solidFill>
                <a:srgbClr val="000000"/>
              </a:solidFill>
              <a:effectLst/>
              <a:uFillTx/>
              <a:latin typeface="Arial"/>
            </a:endParaRPr>
          </a:p>
        </p:txBody>
      </p:sp>
      <p:sp>
        <p:nvSpPr>
          <p:cNvPr id="81" name="Text 9"/>
          <p:cNvSpPr/>
          <p:nvPr/>
        </p:nvSpPr>
        <p:spPr>
          <a:xfrm>
            <a:off x="3666600" y="4434840"/>
            <a:ext cx="201132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14202b"/>
                </a:solidFill>
                <a:effectLst/>
                <a:uFillTx/>
                <a:latin typeface="Calibri"/>
                <a:ea typeface="Calibri"/>
              </a:rPr>
              <a:t>input</a:t>
            </a:r>
            <a:endParaRPr b="0" lang="en-US" sz="1700" strike="noStrike" u="none">
              <a:solidFill>
                <a:srgbClr val="000000"/>
              </a:solidFill>
              <a:effectLst/>
              <a:uFillTx/>
              <a:latin typeface="Arial"/>
            </a:endParaRPr>
          </a:p>
        </p:txBody>
      </p:sp>
      <p:sp>
        <p:nvSpPr>
          <p:cNvPr id="82" name="Text 10"/>
          <p:cNvSpPr/>
          <p:nvPr/>
        </p:nvSpPr>
        <p:spPr>
          <a:xfrm>
            <a:off x="3666600" y="4800600"/>
            <a:ext cx="205704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The thing you know.</a:t>
            </a:r>
            <a:endParaRPr b="0" lang="en-US" sz="1400" strike="noStrike" u="none">
              <a:solidFill>
                <a:srgbClr val="000000"/>
              </a:solidFill>
              <a:effectLst/>
              <a:uFillTx/>
              <a:latin typeface="Arial"/>
            </a:endParaRPr>
          </a:p>
        </p:txBody>
      </p:sp>
      <p:sp>
        <p:nvSpPr>
          <p:cNvPr id="83" name="Shape 11"/>
          <p:cNvSpPr/>
          <p:nvPr/>
        </p:nvSpPr>
        <p:spPr>
          <a:xfrm>
            <a:off x="6181200" y="3657600"/>
            <a:ext cx="2514240" cy="1874160"/>
          </a:xfrm>
          <a:prstGeom prst="roundRect">
            <a:avLst>
              <a:gd name="adj" fmla="val 3902"/>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4" name="Text 12"/>
          <p:cNvSpPr/>
          <p:nvPr/>
        </p:nvSpPr>
        <p:spPr>
          <a:xfrm>
            <a:off x="6437520" y="3840480"/>
            <a:ext cx="63972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ff6b35"/>
                </a:solidFill>
                <a:effectLst/>
                <a:uFillTx/>
                <a:latin typeface="Cambria"/>
                <a:ea typeface="Cambria"/>
              </a:rPr>
              <a:t>m</a:t>
            </a:r>
            <a:endParaRPr b="0" lang="en-US" sz="3200" strike="noStrike" u="none">
              <a:solidFill>
                <a:srgbClr val="000000"/>
              </a:solidFill>
              <a:effectLst/>
              <a:uFillTx/>
              <a:latin typeface="Arial"/>
            </a:endParaRPr>
          </a:p>
        </p:txBody>
      </p:sp>
      <p:sp>
        <p:nvSpPr>
          <p:cNvPr id="85" name="Text 13"/>
          <p:cNvSpPr/>
          <p:nvPr/>
        </p:nvSpPr>
        <p:spPr>
          <a:xfrm>
            <a:off x="6437520" y="4434840"/>
            <a:ext cx="201132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14202b"/>
                </a:solidFill>
                <a:effectLst/>
                <a:uFillTx/>
                <a:latin typeface="Calibri"/>
                <a:ea typeface="Calibri"/>
              </a:rPr>
              <a:t>slope</a:t>
            </a:r>
            <a:endParaRPr b="0" lang="en-US" sz="1700" strike="noStrike" u="none">
              <a:solidFill>
                <a:srgbClr val="000000"/>
              </a:solidFill>
              <a:effectLst/>
              <a:uFillTx/>
              <a:latin typeface="Arial"/>
            </a:endParaRPr>
          </a:p>
        </p:txBody>
      </p:sp>
      <p:sp>
        <p:nvSpPr>
          <p:cNvPr id="86" name="Text 14"/>
          <p:cNvSpPr/>
          <p:nvPr/>
        </p:nvSpPr>
        <p:spPr>
          <a:xfrm>
            <a:off x="6437520" y="4800600"/>
            <a:ext cx="205704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How steep the line is.</a:t>
            </a:r>
            <a:endParaRPr b="0" lang="en-US" sz="1400" strike="noStrike" u="none">
              <a:solidFill>
                <a:srgbClr val="000000"/>
              </a:solidFill>
              <a:effectLst/>
              <a:uFillTx/>
              <a:latin typeface="Arial"/>
            </a:endParaRPr>
          </a:p>
        </p:txBody>
      </p:sp>
      <p:sp>
        <p:nvSpPr>
          <p:cNvPr id="87" name="Shape 15"/>
          <p:cNvSpPr/>
          <p:nvPr/>
        </p:nvSpPr>
        <p:spPr>
          <a:xfrm>
            <a:off x="8952120" y="3657600"/>
            <a:ext cx="2514240" cy="1874160"/>
          </a:xfrm>
          <a:prstGeom prst="roundRect">
            <a:avLst>
              <a:gd name="adj" fmla="val 3902"/>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8" name="Text 16"/>
          <p:cNvSpPr/>
          <p:nvPr/>
        </p:nvSpPr>
        <p:spPr>
          <a:xfrm>
            <a:off x="9208080" y="3840480"/>
            <a:ext cx="63972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ff6b35"/>
                </a:solidFill>
                <a:effectLst/>
                <a:uFillTx/>
                <a:latin typeface="Cambria"/>
                <a:ea typeface="Cambria"/>
              </a:rPr>
              <a:t>b</a:t>
            </a:r>
            <a:endParaRPr b="0" lang="en-US" sz="3200" strike="noStrike" u="none">
              <a:solidFill>
                <a:srgbClr val="000000"/>
              </a:solidFill>
              <a:effectLst/>
              <a:uFillTx/>
              <a:latin typeface="Arial"/>
            </a:endParaRPr>
          </a:p>
        </p:txBody>
      </p:sp>
      <p:sp>
        <p:nvSpPr>
          <p:cNvPr id="89" name="Text 17"/>
          <p:cNvSpPr/>
          <p:nvPr/>
        </p:nvSpPr>
        <p:spPr>
          <a:xfrm>
            <a:off x="9208080" y="4434840"/>
            <a:ext cx="201132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14202b"/>
                </a:solidFill>
                <a:effectLst/>
                <a:uFillTx/>
                <a:latin typeface="Calibri"/>
                <a:ea typeface="Calibri"/>
              </a:rPr>
              <a:t>intercept</a:t>
            </a:r>
            <a:endParaRPr b="0" lang="en-US" sz="1700" strike="noStrike" u="none">
              <a:solidFill>
                <a:srgbClr val="000000"/>
              </a:solidFill>
              <a:effectLst/>
              <a:uFillTx/>
              <a:latin typeface="Arial"/>
            </a:endParaRPr>
          </a:p>
        </p:txBody>
      </p:sp>
      <p:sp>
        <p:nvSpPr>
          <p:cNvPr id="90" name="Text 18"/>
          <p:cNvSpPr/>
          <p:nvPr/>
        </p:nvSpPr>
        <p:spPr>
          <a:xfrm>
            <a:off x="9208080" y="4800600"/>
            <a:ext cx="205704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Where it crosses x = 0.</a:t>
            </a:r>
            <a:endParaRPr b="0" lang="en-US"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1"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THE SIMPLEST CASE</a:t>
            </a:r>
            <a:endParaRPr b="0" lang="en-US" sz="1200" strike="noStrike" u="none">
              <a:solidFill>
                <a:srgbClr val="000000"/>
              </a:solidFill>
              <a:effectLst/>
              <a:uFillTx/>
              <a:latin typeface="Arial"/>
            </a:endParaRPr>
          </a:p>
        </p:txBody>
      </p:sp>
      <p:sp>
        <p:nvSpPr>
          <p:cNvPr id="92"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Start with m = 1 and b = 0</a:t>
            </a:r>
            <a:endParaRPr b="0" lang="en-US" sz="3200" strike="noStrike" u="none">
              <a:solidFill>
                <a:srgbClr val="000000"/>
              </a:solidFill>
              <a:effectLst/>
              <a:uFillTx/>
              <a:latin typeface="Arial"/>
            </a:endParaRPr>
          </a:p>
        </p:txBody>
      </p:sp>
      <p:graphicFrame>
        <p:nvGraphicFramePr>
          <p:cNvPr id="93" name="Chart 0"/>
          <p:cNvGraphicFramePr/>
          <p:nvPr/>
        </p:nvGraphicFramePr>
        <p:xfrm>
          <a:off x="640080" y="1691640"/>
          <a:ext cx="6949080" cy="4480200"/>
        </p:xfrm>
        <a:graphic>
          <a:graphicData uri="http://schemas.openxmlformats.org/drawingml/2006/chart">
            <c:chart xmlns:c="http://schemas.openxmlformats.org/drawingml/2006/chart" xmlns:r="http://schemas.openxmlformats.org/officeDocument/2006/relationships" r:id="rId1"/>
          </a:graphicData>
        </a:graphic>
      </p:graphicFrame>
      <p:sp>
        <p:nvSpPr>
          <p:cNvPr id="94" name="Shape 2"/>
          <p:cNvSpPr/>
          <p:nvPr/>
        </p:nvSpPr>
        <p:spPr>
          <a:xfrm>
            <a:off x="7955280" y="1737360"/>
            <a:ext cx="3593160" cy="1919880"/>
          </a:xfrm>
          <a:prstGeom prst="roundRect">
            <a:avLst>
              <a:gd name="adj" fmla="val 3810"/>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5" name="Text 3"/>
          <p:cNvSpPr/>
          <p:nvPr/>
        </p:nvSpPr>
        <p:spPr>
          <a:xfrm>
            <a:off x="8275320" y="2011680"/>
            <a:ext cx="3017160" cy="1462680"/>
          </a:xfrm>
          <a:prstGeom prst="rect">
            <a:avLst/>
          </a:prstGeom>
          <a:noFill/>
          <a:ln w="0">
            <a:noFill/>
          </a:ln>
        </p:spPr>
        <p:style>
          <a:lnRef idx="0"/>
          <a:fillRef idx="0"/>
          <a:effectRef idx="0"/>
          <a:fontRef idx="minor"/>
        </p:style>
        <p:txBody>
          <a:bodyPr lIns="0" rIns="0" tIns="0" bIns="0" anchor="ctr">
            <a:noAutofit/>
          </a:bodyPr>
          <a:p>
            <a:r>
              <a:rPr b="1" lang="en-US" sz="2600" strike="noStrike" u="none">
                <a:solidFill>
                  <a:srgbClr val="14202b"/>
                </a:solidFill>
                <a:effectLst/>
                <a:uFillTx/>
                <a:latin typeface="Cambria"/>
                <a:ea typeface="Cambria"/>
              </a:rPr>
              <a:t>y = 1x + 0</a:t>
            </a:r>
            <a:endParaRPr b="0" lang="en-US" sz="2600" strike="noStrike" u="none">
              <a:solidFill>
                <a:srgbClr val="000000"/>
              </a:solidFill>
              <a:effectLst/>
              <a:uFillTx/>
              <a:latin typeface="Arial"/>
            </a:endParaRPr>
          </a:p>
          <a:p>
            <a:pPr defTabSz="914400">
              <a:lnSpc>
                <a:spcPct val="100000"/>
              </a:lnSpc>
              <a:tabLst>
                <a:tab algn="l" pos="0"/>
              </a:tabLst>
            </a:pPr>
            <a:endParaRPr b="0" lang="en-US" sz="2600" strike="noStrike" u="none">
              <a:solidFill>
                <a:srgbClr val="000000"/>
              </a:solidFill>
              <a:effectLst/>
              <a:uFillTx/>
              <a:latin typeface="Arial"/>
            </a:endParaRPr>
          </a:p>
          <a:p>
            <a:pPr defTabSz="914400">
              <a:lnSpc>
                <a:spcPct val="100000"/>
              </a:lnSpc>
              <a:tabLst>
                <a:tab algn="l" pos="0"/>
              </a:tabLst>
            </a:pPr>
            <a:r>
              <a:rPr b="0" lang="en-US" sz="1500" strike="noStrike" u="none">
                <a:solidFill>
                  <a:srgbClr val="5d6e7c"/>
                </a:solidFill>
                <a:effectLst/>
                <a:uFillTx/>
                <a:latin typeface="Calibri"/>
                <a:ea typeface="Calibri"/>
              </a:rPr>
              <a:t>The prediction is just the input, unchanged.</a:t>
            </a:r>
            <a:endParaRPr b="0" lang="en-US" sz="1500" strike="noStrike" u="none">
              <a:solidFill>
                <a:srgbClr val="000000"/>
              </a:solidFill>
              <a:effectLst/>
              <a:uFillTx/>
              <a:latin typeface="Arial"/>
            </a:endParaRPr>
          </a:p>
        </p:txBody>
      </p:sp>
      <p:sp>
        <p:nvSpPr>
          <p:cNvPr id="96" name="Shape 4"/>
          <p:cNvSpPr/>
          <p:nvPr/>
        </p:nvSpPr>
        <p:spPr>
          <a:xfrm>
            <a:off x="7955280" y="3886200"/>
            <a:ext cx="3593160" cy="2011320"/>
          </a:xfrm>
          <a:prstGeom prst="roundRect">
            <a:avLst>
              <a:gd name="adj" fmla="val 3636"/>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7" name="Text 5"/>
          <p:cNvSpPr/>
          <p:nvPr/>
        </p:nvSpPr>
        <p:spPr>
          <a:xfrm>
            <a:off x="8275320" y="4160520"/>
            <a:ext cx="3017160" cy="1554120"/>
          </a:xfrm>
          <a:prstGeom prst="rect">
            <a:avLst/>
          </a:prstGeom>
          <a:noFill/>
          <a:ln w="0">
            <a:noFill/>
          </a:ln>
        </p:spPr>
        <p:style>
          <a:lnRef idx="0"/>
          <a:fillRef idx="0"/>
          <a:effectRef idx="0"/>
          <a:fontRef idx="minor"/>
        </p:style>
        <p:txBody>
          <a:bodyPr lIns="0" rIns="0" tIns="0" bIns="0" anchor="ctr">
            <a:noAutofit/>
          </a:bodyPr>
          <a:p>
            <a:r>
              <a:rPr b="1" lang="en-US" sz="1700" strike="noStrike" u="none">
                <a:solidFill>
                  <a:srgbClr val="14202b"/>
                </a:solidFill>
                <a:effectLst/>
                <a:uFillTx/>
                <a:latin typeface="Calibri"/>
                <a:ea typeface="Calibri"/>
              </a:rPr>
              <a:t>Useless, but real</a:t>
            </a:r>
            <a:endParaRPr b="0" lang="en-US" sz="1700" strike="noStrike" u="none">
              <a:solidFill>
                <a:srgbClr val="000000"/>
              </a:solidFill>
              <a:effectLst/>
              <a:uFillTx/>
              <a:latin typeface="Arial"/>
            </a:endParaRPr>
          </a:p>
          <a:p>
            <a:pPr defTabSz="914400">
              <a:lnSpc>
                <a:spcPct val="100000"/>
              </a:lnSpc>
              <a:tabLst>
                <a:tab algn="l" pos="0"/>
              </a:tabLst>
            </a:pPr>
            <a:endParaRPr b="0" lang="en-US" sz="1700" strike="noStrike" u="none">
              <a:solidFill>
                <a:srgbClr val="000000"/>
              </a:solidFill>
              <a:effectLst/>
              <a:uFillTx/>
              <a:latin typeface="Arial"/>
            </a:endParaRPr>
          </a:p>
          <a:p>
            <a:pPr defTabSz="914400">
              <a:lnSpc>
                <a:spcPct val="100000"/>
              </a:lnSpc>
              <a:tabLst>
                <a:tab algn="l" pos="0"/>
              </a:tabLst>
            </a:pPr>
            <a:r>
              <a:rPr b="0" lang="en-US" sz="1500" strike="noStrike" u="none">
                <a:solidFill>
                  <a:srgbClr val="25323d"/>
                </a:solidFill>
                <a:effectLst/>
                <a:uFillTx/>
                <a:latin typeface="Calibri"/>
                <a:ea typeface="Calibri"/>
              </a:rPr>
              <a:t>It is still a model: give it an x, it returns a prediction. It is just a badly configured one.</a:t>
            </a:r>
            <a:endParaRPr b="0" lang="en-US" sz="15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8"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KNOB 1</a:t>
            </a:r>
            <a:endParaRPr b="0" lang="en-US" sz="1200" strike="noStrike" u="none">
              <a:solidFill>
                <a:srgbClr val="000000"/>
              </a:solidFill>
              <a:effectLst/>
              <a:uFillTx/>
              <a:latin typeface="Arial"/>
            </a:endParaRPr>
          </a:p>
        </p:txBody>
      </p:sp>
      <p:sp>
        <p:nvSpPr>
          <p:cNvPr id="99"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m controls the steepness</a:t>
            </a:r>
            <a:endParaRPr b="0" lang="en-US" sz="3200" strike="noStrike" u="none">
              <a:solidFill>
                <a:srgbClr val="000000"/>
              </a:solidFill>
              <a:effectLst/>
              <a:uFillTx/>
              <a:latin typeface="Arial"/>
            </a:endParaRPr>
          </a:p>
        </p:txBody>
      </p:sp>
      <p:graphicFrame>
        <p:nvGraphicFramePr>
          <p:cNvPr id="100" name="Chart 0"/>
          <p:cNvGraphicFramePr/>
          <p:nvPr/>
        </p:nvGraphicFramePr>
        <p:xfrm>
          <a:off x="640080" y="1691640"/>
          <a:ext cx="6949080" cy="4480200"/>
        </p:xfrm>
        <a:graphic>
          <a:graphicData uri="http://schemas.openxmlformats.org/drawingml/2006/chart">
            <c:chart xmlns:c="http://schemas.openxmlformats.org/drawingml/2006/chart" xmlns:r="http://schemas.openxmlformats.org/officeDocument/2006/relationships" r:id="rId1"/>
          </a:graphicData>
        </a:graphic>
      </p:graphicFrame>
      <p:sp>
        <p:nvSpPr>
          <p:cNvPr id="101" name="Shape 2"/>
          <p:cNvSpPr/>
          <p:nvPr/>
        </p:nvSpPr>
        <p:spPr>
          <a:xfrm>
            <a:off x="7955280" y="1737360"/>
            <a:ext cx="3593160" cy="2057040"/>
          </a:xfrm>
          <a:prstGeom prst="roundRect">
            <a:avLst>
              <a:gd name="adj" fmla="val 3556"/>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 name="Text 3"/>
          <p:cNvSpPr/>
          <p:nvPr/>
        </p:nvSpPr>
        <p:spPr>
          <a:xfrm>
            <a:off x="8275320" y="2011680"/>
            <a:ext cx="3017160" cy="1599840"/>
          </a:xfrm>
          <a:prstGeom prst="rect">
            <a:avLst/>
          </a:prstGeom>
          <a:noFill/>
          <a:ln w="0">
            <a:noFill/>
          </a:ln>
        </p:spPr>
        <p:style>
          <a:lnRef idx="0"/>
          <a:fillRef idx="0"/>
          <a:effectRef idx="0"/>
          <a:fontRef idx="minor"/>
        </p:style>
        <p:txBody>
          <a:bodyPr lIns="0" rIns="0" tIns="0" bIns="0" anchor="ctr">
            <a:noAutofit/>
          </a:bodyPr>
          <a:p>
            <a:r>
              <a:rPr b="1" lang="en-US" sz="1700" strike="noStrike" u="none">
                <a:solidFill>
                  <a:srgbClr val="14202b"/>
                </a:solidFill>
                <a:effectLst/>
                <a:uFillTx/>
                <a:latin typeface="Calibri"/>
                <a:ea typeface="Calibri"/>
              </a:rPr>
              <a:t>What m means</a:t>
            </a:r>
            <a:endParaRPr b="0" lang="en-US" sz="1700" strike="noStrike" u="none">
              <a:solidFill>
                <a:srgbClr val="000000"/>
              </a:solidFill>
              <a:effectLst/>
              <a:uFillTx/>
              <a:latin typeface="Arial"/>
            </a:endParaRPr>
          </a:p>
          <a:p>
            <a:pPr defTabSz="914400">
              <a:lnSpc>
                <a:spcPct val="100000"/>
              </a:lnSpc>
              <a:tabLst>
                <a:tab algn="l" pos="0"/>
              </a:tabLst>
            </a:pPr>
            <a:endParaRPr b="0" lang="en-US" sz="1700" strike="noStrike" u="none">
              <a:solidFill>
                <a:srgbClr val="000000"/>
              </a:solidFill>
              <a:effectLst/>
              <a:uFillTx/>
              <a:latin typeface="Arial"/>
            </a:endParaRPr>
          </a:p>
          <a:p>
            <a:pPr defTabSz="914400">
              <a:lnSpc>
                <a:spcPct val="100000"/>
              </a:lnSpc>
              <a:tabLst>
                <a:tab algn="l" pos="0"/>
              </a:tabLst>
            </a:pPr>
            <a:r>
              <a:rPr b="0" lang="en-US" sz="1500" strike="noStrike" u="none">
                <a:solidFill>
                  <a:srgbClr val="5d6e7c"/>
                </a:solidFill>
                <a:effectLst/>
                <a:uFillTx/>
                <a:latin typeface="Calibri"/>
                <a:ea typeface="Calibri"/>
              </a:rPr>
              <a:t>How hard the output reacts when the input changes by 1.</a:t>
            </a:r>
            <a:endParaRPr b="0" lang="en-US" sz="1500" strike="noStrike" u="none">
              <a:solidFill>
                <a:srgbClr val="000000"/>
              </a:solidFill>
              <a:effectLst/>
              <a:uFillTx/>
              <a:latin typeface="Arial"/>
            </a:endParaRPr>
          </a:p>
        </p:txBody>
      </p:sp>
      <p:sp>
        <p:nvSpPr>
          <p:cNvPr id="103" name="Shape 4"/>
          <p:cNvSpPr/>
          <p:nvPr/>
        </p:nvSpPr>
        <p:spPr>
          <a:xfrm>
            <a:off x="7955280" y="4023360"/>
            <a:ext cx="3593160" cy="1874160"/>
          </a:xfrm>
          <a:prstGeom prst="roundRect">
            <a:avLst>
              <a:gd name="adj" fmla="val 3902"/>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4" name="Text 5"/>
          <p:cNvSpPr/>
          <p:nvPr/>
        </p:nvSpPr>
        <p:spPr>
          <a:xfrm>
            <a:off x="8275320" y="4297680"/>
            <a:ext cx="3017160" cy="1416960"/>
          </a:xfrm>
          <a:prstGeom prst="rect">
            <a:avLst/>
          </a:prstGeom>
          <a:noFill/>
          <a:ln w="0">
            <a:noFill/>
          </a:ln>
        </p:spPr>
        <p:style>
          <a:lnRef idx="0"/>
          <a:fillRef idx="0"/>
          <a:effectRef idx="0"/>
          <a:fontRef idx="minor"/>
        </p:style>
        <p:txBody>
          <a:bodyPr lIns="0" rIns="0" tIns="0" bIns="0" anchor="ctr">
            <a:noAutofit/>
          </a:bodyPr>
          <a:p>
            <a:r>
              <a:rPr b="1" lang="en-US" sz="1700" strike="noStrike" u="none">
                <a:solidFill>
                  <a:srgbClr val="14202b"/>
                </a:solidFill>
                <a:effectLst/>
                <a:uFillTx/>
                <a:latin typeface="Calibri"/>
                <a:ea typeface="Calibri"/>
              </a:rPr>
              <a:t>In our problem</a:t>
            </a:r>
            <a:endParaRPr b="0" lang="en-US" sz="1700" strike="noStrike" u="none">
              <a:solidFill>
                <a:srgbClr val="000000"/>
              </a:solidFill>
              <a:effectLst/>
              <a:uFillTx/>
              <a:latin typeface="Arial"/>
            </a:endParaRPr>
          </a:p>
          <a:p>
            <a:pPr defTabSz="914400">
              <a:lnSpc>
                <a:spcPct val="100000"/>
              </a:lnSpc>
              <a:tabLst>
                <a:tab algn="l" pos="0"/>
              </a:tabLst>
            </a:pPr>
            <a:endParaRPr b="0" lang="en-US" sz="1700" strike="noStrike" u="none">
              <a:solidFill>
                <a:srgbClr val="000000"/>
              </a:solidFill>
              <a:effectLst/>
              <a:uFillTx/>
              <a:latin typeface="Arial"/>
            </a:endParaRPr>
          </a:p>
          <a:p>
            <a:pPr defTabSz="914400">
              <a:lnSpc>
                <a:spcPct val="100000"/>
              </a:lnSpc>
              <a:tabLst>
                <a:tab algn="l" pos="0"/>
              </a:tabLst>
            </a:pPr>
            <a:r>
              <a:rPr b="0" lang="en-US" sz="1500" strike="noStrike" u="none">
                <a:solidFill>
                  <a:srgbClr val="25323d"/>
                </a:solidFill>
                <a:effectLst/>
                <a:uFillTx/>
                <a:latin typeface="Calibri"/>
                <a:ea typeface="Calibri"/>
              </a:rPr>
              <a:t>m = dollars added per extra square foot.</a:t>
            </a:r>
            <a:endParaRPr b="0" lang="en-US" sz="15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5"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KNOB 2</a:t>
            </a:r>
            <a:endParaRPr b="0" lang="en-US" sz="1200" strike="noStrike" u="none">
              <a:solidFill>
                <a:srgbClr val="000000"/>
              </a:solidFill>
              <a:effectLst/>
              <a:uFillTx/>
              <a:latin typeface="Arial"/>
            </a:endParaRPr>
          </a:p>
        </p:txBody>
      </p:sp>
      <p:sp>
        <p:nvSpPr>
          <p:cNvPr id="106"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b slides the whole line up or down</a:t>
            </a:r>
            <a:endParaRPr b="0" lang="en-US" sz="3200" strike="noStrike" u="none">
              <a:solidFill>
                <a:srgbClr val="000000"/>
              </a:solidFill>
              <a:effectLst/>
              <a:uFillTx/>
              <a:latin typeface="Arial"/>
            </a:endParaRPr>
          </a:p>
        </p:txBody>
      </p:sp>
      <p:graphicFrame>
        <p:nvGraphicFramePr>
          <p:cNvPr id="107" name="Chart 0"/>
          <p:cNvGraphicFramePr/>
          <p:nvPr/>
        </p:nvGraphicFramePr>
        <p:xfrm>
          <a:off x="640080" y="1691640"/>
          <a:ext cx="6949080" cy="4480200"/>
        </p:xfrm>
        <a:graphic>
          <a:graphicData uri="http://schemas.openxmlformats.org/drawingml/2006/chart">
            <c:chart xmlns:c="http://schemas.openxmlformats.org/drawingml/2006/chart" xmlns:r="http://schemas.openxmlformats.org/officeDocument/2006/relationships" r:id="rId1"/>
          </a:graphicData>
        </a:graphic>
      </p:graphicFrame>
      <p:sp>
        <p:nvSpPr>
          <p:cNvPr id="108" name="Shape 2"/>
          <p:cNvSpPr/>
          <p:nvPr/>
        </p:nvSpPr>
        <p:spPr>
          <a:xfrm>
            <a:off x="7955280" y="1737360"/>
            <a:ext cx="3593160" cy="2057040"/>
          </a:xfrm>
          <a:prstGeom prst="roundRect">
            <a:avLst>
              <a:gd name="adj" fmla="val 3556"/>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9" name="Text 3"/>
          <p:cNvSpPr/>
          <p:nvPr/>
        </p:nvSpPr>
        <p:spPr>
          <a:xfrm>
            <a:off x="8275320" y="2011680"/>
            <a:ext cx="3017160" cy="1599840"/>
          </a:xfrm>
          <a:prstGeom prst="rect">
            <a:avLst/>
          </a:prstGeom>
          <a:noFill/>
          <a:ln w="0">
            <a:noFill/>
          </a:ln>
        </p:spPr>
        <p:style>
          <a:lnRef idx="0"/>
          <a:fillRef idx="0"/>
          <a:effectRef idx="0"/>
          <a:fontRef idx="minor"/>
        </p:style>
        <p:txBody>
          <a:bodyPr lIns="0" rIns="0" tIns="0" bIns="0" anchor="ctr">
            <a:noAutofit/>
          </a:bodyPr>
          <a:p>
            <a:r>
              <a:rPr b="1" lang="en-US" sz="1700" strike="noStrike" u="none">
                <a:solidFill>
                  <a:srgbClr val="14202b"/>
                </a:solidFill>
                <a:effectLst/>
                <a:uFillTx/>
                <a:latin typeface="Calibri"/>
                <a:ea typeface="Calibri"/>
              </a:rPr>
              <a:t>What b means</a:t>
            </a:r>
            <a:endParaRPr b="0" lang="en-US" sz="1700" strike="noStrike" u="none">
              <a:solidFill>
                <a:srgbClr val="000000"/>
              </a:solidFill>
              <a:effectLst/>
              <a:uFillTx/>
              <a:latin typeface="Arial"/>
            </a:endParaRPr>
          </a:p>
          <a:p>
            <a:pPr defTabSz="914400">
              <a:lnSpc>
                <a:spcPct val="100000"/>
              </a:lnSpc>
              <a:tabLst>
                <a:tab algn="l" pos="0"/>
              </a:tabLst>
            </a:pPr>
            <a:endParaRPr b="0" lang="en-US" sz="1700" strike="noStrike" u="none">
              <a:solidFill>
                <a:srgbClr val="000000"/>
              </a:solidFill>
              <a:effectLst/>
              <a:uFillTx/>
              <a:latin typeface="Arial"/>
            </a:endParaRPr>
          </a:p>
          <a:p>
            <a:pPr defTabSz="914400">
              <a:lnSpc>
                <a:spcPct val="100000"/>
              </a:lnSpc>
              <a:tabLst>
                <a:tab algn="l" pos="0"/>
              </a:tabLst>
            </a:pPr>
            <a:r>
              <a:rPr b="0" lang="en-US" sz="1500" strike="noStrike" u="none">
                <a:solidFill>
                  <a:srgbClr val="5d6e7c"/>
                </a:solidFill>
                <a:effectLst/>
                <a:uFillTx/>
                <a:latin typeface="Calibri"/>
                <a:ea typeface="Calibri"/>
              </a:rPr>
              <a:t>The baseline. What you predict when every input is zero.</a:t>
            </a:r>
            <a:endParaRPr b="0" lang="en-US" sz="1500" strike="noStrike" u="none">
              <a:solidFill>
                <a:srgbClr val="000000"/>
              </a:solidFill>
              <a:effectLst/>
              <a:uFillTx/>
              <a:latin typeface="Arial"/>
            </a:endParaRPr>
          </a:p>
        </p:txBody>
      </p:sp>
      <p:sp>
        <p:nvSpPr>
          <p:cNvPr id="110" name="Shape 4"/>
          <p:cNvSpPr/>
          <p:nvPr/>
        </p:nvSpPr>
        <p:spPr>
          <a:xfrm>
            <a:off x="7955280" y="4023360"/>
            <a:ext cx="3593160" cy="1874160"/>
          </a:xfrm>
          <a:prstGeom prst="roundRect">
            <a:avLst>
              <a:gd name="adj" fmla="val 3902"/>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1" name="Text 5"/>
          <p:cNvSpPr/>
          <p:nvPr/>
        </p:nvSpPr>
        <p:spPr>
          <a:xfrm>
            <a:off x="8275320" y="4297680"/>
            <a:ext cx="3017160" cy="1462680"/>
          </a:xfrm>
          <a:prstGeom prst="rect">
            <a:avLst/>
          </a:prstGeom>
          <a:noFill/>
          <a:ln w="0">
            <a:noFill/>
          </a:ln>
        </p:spPr>
        <p:style>
          <a:lnRef idx="0"/>
          <a:fillRef idx="0"/>
          <a:effectRef idx="0"/>
          <a:fontRef idx="minor"/>
        </p:style>
        <p:txBody>
          <a:bodyPr lIns="0" rIns="0" tIns="0" bIns="0" anchor="ctr">
            <a:noAutofit/>
          </a:bodyPr>
          <a:p>
            <a:r>
              <a:rPr b="1" lang="en-US" sz="1700" strike="noStrike" u="none">
                <a:solidFill>
                  <a:srgbClr val="14202b"/>
                </a:solidFill>
                <a:effectLst/>
                <a:uFillTx/>
                <a:latin typeface="Calibri"/>
                <a:ea typeface="Calibri"/>
              </a:rPr>
              <a:t>Why you need it</a:t>
            </a:r>
            <a:endParaRPr b="0" lang="en-US" sz="1700" strike="noStrike" u="none">
              <a:solidFill>
                <a:srgbClr val="000000"/>
              </a:solidFill>
              <a:effectLst/>
              <a:uFillTx/>
              <a:latin typeface="Arial"/>
            </a:endParaRPr>
          </a:p>
          <a:p>
            <a:pPr defTabSz="914400">
              <a:lnSpc>
                <a:spcPct val="100000"/>
              </a:lnSpc>
              <a:tabLst>
                <a:tab algn="l" pos="0"/>
              </a:tabLst>
            </a:pPr>
            <a:endParaRPr b="0" lang="en-US" sz="1700" strike="noStrike" u="none">
              <a:solidFill>
                <a:srgbClr val="000000"/>
              </a:solidFill>
              <a:effectLst/>
              <a:uFillTx/>
              <a:latin typeface="Arial"/>
            </a:endParaRPr>
          </a:p>
          <a:p>
            <a:pPr defTabSz="914400">
              <a:lnSpc>
                <a:spcPct val="100000"/>
              </a:lnSpc>
              <a:tabLst>
                <a:tab algn="l" pos="0"/>
              </a:tabLst>
            </a:pPr>
            <a:r>
              <a:rPr b="0" lang="en-US" sz="1500" strike="noStrike" u="none">
                <a:solidFill>
                  <a:srgbClr val="25323d"/>
                </a:solidFill>
                <a:effectLst/>
                <a:uFillTx/>
                <a:latin typeface="Calibri"/>
                <a:ea typeface="Calibri"/>
              </a:rPr>
              <a:t>Without b every line is forced through the origin. A 0 sq ft lot is not worth $0.</a:t>
            </a:r>
            <a:endParaRPr b="0" lang="en-US" sz="15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2"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THE POINT</a:t>
            </a:r>
            <a:endParaRPr b="0" lang="en-US" sz="1200" strike="noStrike" u="none">
              <a:solidFill>
                <a:srgbClr val="000000"/>
              </a:solidFill>
              <a:effectLst/>
              <a:uFillTx/>
              <a:latin typeface="Arial"/>
            </a:endParaRPr>
          </a:p>
        </p:txBody>
      </p:sp>
      <p:sp>
        <p:nvSpPr>
          <p:cNvPr id="113"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Two numbers describe every straight line</a:t>
            </a:r>
            <a:endParaRPr b="0" lang="en-US" sz="3200" strike="noStrike" u="none">
              <a:solidFill>
                <a:srgbClr val="000000"/>
              </a:solidFill>
              <a:effectLst/>
              <a:uFillTx/>
              <a:latin typeface="Arial"/>
            </a:endParaRPr>
          </a:p>
        </p:txBody>
      </p:sp>
      <p:sp>
        <p:nvSpPr>
          <p:cNvPr id="114" name="Shape 2"/>
          <p:cNvSpPr/>
          <p:nvPr/>
        </p:nvSpPr>
        <p:spPr>
          <a:xfrm>
            <a:off x="640080" y="1874520"/>
            <a:ext cx="3931560" cy="3565800"/>
          </a:xfrm>
          <a:prstGeom prst="roundRect">
            <a:avLst>
              <a:gd name="adj" fmla="val 2051"/>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5" name="Text 3"/>
          <p:cNvSpPr/>
          <p:nvPr/>
        </p:nvSpPr>
        <p:spPr>
          <a:xfrm>
            <a:off x="640080" y="2148840"/>
            <a:ext cx="3931560" cy="17370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0" strike="noStrike" u="none">
                <a:solidFill>
                  <a:srgbClr val="ff6b35"/>
                </a:solidFill>
                <a:effectLst/>
                <a:uFillTx/>
                <a:latin typeface="Cambria"/>
                <a:ea typeface="Cambria"/>
              </a:rPr>
              <a:t>2</a:t>
            </a:r>
            <a:endParaRPr b="0" lang="en-US" sz="13000" strike="noStrike" u="none">
              <a:solidFill>
                <a:srgbClr val="000000"/>
              </a:solidFill>
              <a:effectLst/>
              <a:uFillTx/>
              <a:latin typeface="Arial"/>
            </a:endParaRPr>
          </a:p>
        </p:txBody>
      </p:sp>
      <p:sp>
        <p:nvSpPr>
          <p:cNvPr id="116" name="Text 4"/>
          <p:cNvSpPr/>
          <p:nvPr/>
        </p:nvSpPr>
        <p:spPr>
          <a:xfrm>
            <a:off x="640080" y="3931920"/>
            <a:ext cx="393156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2000" strike="noStrike" u="none">
                <a:solidFill>
                  <a:srgbClr val="ffffff"/>
                </a:solidFill>
                <a:effectLst/>
                <a:uFillTx/>
                <a:latin typeface="Calibri"/>
                <a:ea typeface="Calibri"/>
              </a:rPr>
              <a:t>numbers to choose</a:t>
            </a:r>
            <a:endParaRPr b="0" lang="en-US" sz="2000" strike="noStrike" u="none">
              <a:solidFill>
                <a:srgbClr val="000000"/>
              </a:solidFill>
              <a:effectLst/>
              <a:uFillTx/>
              <a:latin typeface="Arial"/>
            </a:endParaRPr>
          </a:p>
        </p:txBody>
      </p:sp>
      <p:sp>
        <p:nvSpPr>
          <p:cNvPr id="117" name="Text 5"/>
          <p:cNvSpPr/>
          <p:nvPr/>
        </p:nvSpPr>
        <p:spPr>
          <a:xfrm>
            <a:off x="640080" y="4389120"/>
            <a:ext cx="393156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2400" strike="noStrike" u="none">
                <a:solidFill>
                  <a:srgbClr val="aebecb"/>
                </a:solidFill>
                <a:effectLst/>
                <a:uFillTx/>
                <a:latin typeface="Cambria"/>
                <a:ea typeface="Cambria"/>
              </a:rPr>
              <a:t>m and b</a:t>
            </a:r>
            <a:endParaRPr b="0" lang="en-US" sz="2400" strike="noStrike" u="none">
              <a:solidFill>
                <a:srgbClr val="000000"/>
              </a:solidFill>
              <a:effectLst/>
              <a:uFillTx/>
              <a:latin typeface="Arial"/>
            </a:endParaRPr>
          </a:p>
        </p:txBody>
      </p:sp>
      <p:sp>
        <p:nvSpPr>
          <p:cNvPr id="118" name="Shape 6"/>
          <p:cNvSpPr/>
          <p:nvPr/>
        </p:nvSpPr>
        <p:spPr>
          <a:xfrm>
            <a:off x="4937760" y="2030040"/>
            <a:ext cx="182520" cy="1825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9" name="Text 7"/>
          <p:cNvSpPr/>
          <p:nvPr/>
        </p:nvSpPr>
        <p:spPr>
          <a:xfrm>
            <a:off x="5394960" y="1920240"/>
            <a:ext cx="612612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00" strike="noStrike" u="none">
                <a:solidFill>
                  <a:srgbClr val="14202b"/>
                </a:solidFill>
                <a:effectLst/>
                <a:uFillTx/>
                <a:latin typeface="Calibri"/>
                <a:ea typeface="Calibri"/>
              </a:rPr>
              <a:t>No branches</a:t>
            </a:r>
            <a:endParaRPr b="0" lang="en-US" sz="2100" strike="noStrike" u="none">
              <a:solidFill>
                <a:srgbClr val="000000"/>
              </a:solidFill>
              <a:effectLst/>
              <a:uFillTx/>
              <a:latin typeface="Arial"/>
            </a:endParaRPr>
          </a:p>
        </p:txBody>
      </p:sp>
      <p:sp>
        <p:nvSpPr>
          <p:cNvPr id="120" name="Text 8"/>
          <p:cNvSpPr/>
          <p:nvPr/>
        </p:nvSpPr>
        <p:spPr>
          <a:xfrm>
            <a:off x="5394960" y="2359080"/>
            <a:ext cx="612612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50" strike="noStrike" u="none">
                <a:solidFill>
                  <a:srgbClr val="5d6e7c"/>
                </a:solidFill>
                <a:effectLst/>
                <a:uFillTx/>
                <a:latin typeface="Calibri"/>
                <a:ea typeface="Calibri"/>
              </a:rPr>
              <a:t>One expression. No thresholds to invent, no cases to enumerate.</a:t>
            </a:r>
            <a:endParaRPr b="0" lang="en-US" sz="1550" strike="noStrike" u="none">
              <a:solidFill>
                <a:srgbClr val="000000"/>
              </a:solidFill>
              <a:effectLst/>
              <a:uFillTx/>
              <a:latin typeface="Arial"/>
            </a:endParaRPr>
          </a:p>
        </p:txBody>
      </p:sp>
      <p:sp>
        <p:nvSpPr>
          <p:cNvPr id="121" name="Shape 9"/>
          <p:cNvSpPr/>
          <p:nvPr/>
        </p:nvSpPr>
        <p:spPr>
          <a:xfrm>
            <a:off x="4937760" y="3246120"/>
            <a:ext cx="182520" cy="1825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2" name="Text 10"/>
          <p:cNvSpPr/>
          <p:nvPr/>
        </p:nvSpPr>
        <p:spPr>
          <a:xfrm>
            <a:off x="5394960" y="3136320"/>
            <a:ext cx="612612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00" strike="noStrike" u="none">
                <a:solidFill>
                  <a:srgbClr val="14202b"/>
                </a:solidFill>
                <a:effectLst/>
                <a:uFillTx/>
                <a:latin typeface="Calibri"/>
                <a:ea typeface="Calibri"/>
              </a:rPr>
              <a:t>Infinite reach</a:t>
            </a:r>
            <a:endParaRPr b="0" lang="en-US" sz="2100" strike="noStrike" u="none">
              <a:solidFill>
                <a:srgbClr val="000000"/>
              </a:solidFill>
              <a:effectLst/>
              <a:uFillTx/>
              <a:latin typeface="Arial"/>
            </a:endParaRPr>
          </a:p>
        </p:txBody>
      </p:sp>
      <p:sp>
        <p:nvSpPr>
          <p:cNvPr id="123" name="Text 11"/>
          <p:cNvSpPr/>
          <p:nvPr/>
        </p:nvSpPr>
        <p:spPr>
          <a:xfrm>
            <a:off x="5394960" y="3575160"/>
            <a:ext cx="612612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50" strike="noStrike" u="none">
                <a:solidFill>
                  <a:srgbClr val="5d6e7c"/>
                </a:solidFill>
                <a:effectLst/>
                <a:uFillTx/>
                <a:latin typeface="Calibri"/>
                <a:ea typeface="Calibri"/>
              </a:rPr>
              <a:t>Any straight relationship is one setting of m and b away.</a:t>
            </a:r>
            <a:endParaRPr b="0" lang="en-US" sz="1550" strike="noStrike" u="none">
              <a:solidFill>
                <a:srgbClr val="000000"/>
              </a:solidFill>
              <a:effectLst/>
              <a:uFillTx/>
              <a:latin typeface="Arial"/>
            </a:endParaRPr>
          </a:p>
        </p:txBody>
      </p:sp>
      <p:sp>
        <p:nvSpPr>
          <p:cNvPr id="124" name="Shape 12"/>
          <p:cNvSpPr/>
          <p:nvPr/>
        </p:nvSpPr>
        <p:spPr>
          <a:xfrm>
            <a:off x="4937760" y="4462200"/>
            <a:ext cx="182520" cy="1825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5" name="Text 13"/>
          <p:cNvSpPr/>
          <p:nvPr/>
        </p:nvSpPr>
        <p:spPr>
          <a:xfrm>
            <a:off x="5394960" y="4352400"/>
            <a:ext cx="612612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00" strike="noStrike" u="none">
                <a:solidFill>
                  <a:srgbClr val="14202b"/>
                </a:solidFill>
                <a:effectLst/>
                <a:uFillTx/>
                <a:latin typeface="Calibri"/>
                <a:ea typeface="Calibri"/>
              </a:rPr>
              <a:t>Searchable</a:t>
            </a:r>
            <a:endParaRPr b="0" lang="en-US" sz="2100" strike="noStrike" u="none">
              <a:solidFill>
                <a:srgbClr val="000000"/>
              </a:solidFill>
              <a:effectLst/>
              <a:uFillTx/>
              <a:latin typeface="Arial"/>
            </a:endParaRPr>
          </a:p>
        </p:txBody>
      </p:sp>
      <p:sp>
        <p:nvSpPr>
          <p:cNvPr id="126" name="Text 14"/>
          <p:cNvSpPr/>
          <p:nvPr/>
        </p:nvSpPr>
        <p:spPr>
          <a:xfrm>
            <a:off x="5394960" y="4791600"/>
            <a:ext cx="612612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50" strike="noStrike" u="none">
                <a:solidFill>
                  <a:srgbClr val="5d6e7c"/>
                </a:solidFill>
                <a:effectLst/>
                <a:uFillTx/>
                <a:latin typeface="Calibri"/>
                <a:ea typeface="Calibri"/>
              </a:rPr>
              <a:t>Two numbers is a space a computer can hunt through.</a:t>
            </a:r>
            <a:endParaRPr b="0" lang="en-US" sz="1550" strike="noStrike" u="none">
              <a:solidFill>
                <a:srgbClr val="000000"/>
              </a:solidFill>
              <a:effectLst/>
              <a:uFillTx/>
              <a:latin typeface="Arial"/>
            </a:endParaRPr>
          </a:p>
        </p:txBody>
      </p:sp>
      <p:sp>
        <p:nvSpPr>
          <p:cNvPr id="127" name="Text 15"/>
          <p:cNvSpPr/>
          <p:nvPr/>
        </p:nvSpPr>
        <p:spPr>
          <a:xfrm>
            <a:off x="5394960" y="5577840"/>
            <a:ext cx="612612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0e7c86"/>
                </a:solidFill>
                <a:effectLst/>
                <a:uFillTx/>
                <a:latin typeface="Calibri"/>
                <a:ea typeface="Calibri"/>
              </a:rPr>
              <a:t>Compare that to 625 hand-written branches.</a:t>
            </a:r>
            <a:endParaRPr b="0" lang="en-US" sz="17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8"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RENAME</a:t>
            </a:r>
            <a:endParaRPr b="0" lang="en-US" sz="1200" strike="noStrike" u="none">
              <a:solidFill>
                <a:srgbClr val="000000"/>
              </a:solidFill>
              <a:effectLst/>
              <a:uFillTx/>
              <a:latin typeface="Arial"/>
            </a:endParaRPr>
          </a:p>
        </p:txBody>
      </p:sp>
      <p:sp>
        <p:nvSpPr>
          <p:cNvPr id="129"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Same equation, ML vocabulary</a:t>
            </a:r>
            <a:endParaRPr b="0" lang="en-US" sz="3200" strike="noStrike" u="none">
              <a:solidFill>
                <a:srgbClr val="000000"/>
              </a:solidFill>
              <a:effectLst/>
              <a:uFillTx/>
              <a:latin typeface="Arial"/>
            </a:endParaRPr>
          </a:p>
        </p:txBody>
      </p:sp>
      <p:sp>
        <p:nvSpPr>
          <p:cNvPr id="130" name="Text 2"/>
          <p:cNvSpPr/>
          <p:nvPr/>
        </p:nvSpPr>
        <p:spPr>
          <a:xfrm>
            <a:off x="640080" y="1828800"/>
            <a:ext cx="4205880" cy="822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4000" strike="noStrike" u="none">
                <a:solidFill>
                  <a:srgbClr val="5d6e7c"/>
                </a:solidFill>
                <a:effectLst/>
                <a:uFillTx/>
                <a:latin typeface="Cambria"/>
                <a:ea typeface="Cambria"/>
              </a:rPr>
              <a:t>y = mx + b</a:t>
            </a:r>
            <a:endParaRPr b="0" lang="en-US" sz="4000" strike="noStrike" u="none">
              <a:solidFill>
                <a:srgbClr val="000000"/>
              </a:solidFill>
              <a:effectLst/>
              <a:uFillTx/>
              <a:latin typeface="Arial"/>
            </a:endParaRPr>
          </a:p>
        </p:txBody>
      </p:sp>
      <p:sp>
        <p:nvSpPr>
          <p:cNvPr id="131" name="Shape 3"/>
          <p:cNvSpPr/>
          <p:nvPr/>
        </p:nvSpPr>
        <p:spPr>
          <a:xfrm>
            <a:off x="5029200" y="2084760"/>
            <a:ext cx="914040" cy="310680"/>
          </a:xfrm>
          <a:prstGeom prst="rightArrow">
            <a:avLst>
              <a:gd name="adj1" fmla="val 50000"/>
              <a:gd name="adj2" fmla="val 50000"/>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2" name="Text 4"/>
          <p:cNvSpPr/>
          <p:nvPr/>
        </p:nvSpPr>
        <p:spPr>
          <a:xfrm>
            <a:off x="6583680" y="1828800"/>
            <a:ext cx="4937400" cy="822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4000" strike="noStrike" u="none">
                <a:solidFill>
                  <a:srgbClr val="7d4e9e"/>
                </a:solidFill>
                <a:effectLst/>
                <a:uFillTx/>
                <a:latin typeface="Cambria"/>
                <a:ea typeface="Cambria"/>
              </a:rPr>
              <a:t>ŷ</a:t>
            </a:r>
            <a:r>
              <a:rPr b="0" lang="en-US" sz="4000" strike="noStrike" u="none">
                <a:solidFill>
                  <a:srgbClr val="14202b"/>
                </a:solidFill>
                <a:effectLst/>
                <a:uFillTx/>
                <a:latin typeface="Cambria"/>
                <a:ea typeface="Cambria"/>
              </a:rPr>
              <a:t> = </a:t>
            </a:r>
            <a:r>
              <a:rPr b="1" lang="en-US" sz="4000" strike="noStrike" u="none">
                <a:solidFill>
                  <a:srgbClr val="ff6b35"/>
                </a:solidFill>
                <a:effectLst/>
                <a:uFillTx/>
                <a:latin typeface="Cambria"/>
                <a:ea typeface="Cambria"/>
              </a:rPr>
              <a:t>w</a:t>
            </a:r>
            <a:r>
              <a:rPr b="1" lang="en-US" sz="4000" strike="noStrike" u="none">
                <a:solidFill>
                  <a:srgbClr val="0e7c86"/>
                </a:solidFill>
                <a:effectLst/>
                <a:uFillTx/>
                <a:latin typeface="Cambria"/>
                <a:ea typeface="Cambria"/>
              </a:rPr>
              <a:t>x</a:t>
            </a:r>
            <a:r>
              <a:rPr b="0" lang="en-US" sz="4000" strike="noStrike" u="none">
                <a:solidFill>
                  <a:srgbClr val="14202b"/>
                </a:solidFill>
                <a:effectLst/>
                <a:uFillTx/>
                <a:latin typeface="Cambria"/>
                <a:ea typeface="Cambria"/>
              </a:rPr>
              <a:t> + </a:t>
            </a:r>
            <a:r>
              <a:rPr b="1" lang="en-US" sz="4000" strike="noStrike" u="none">
                <a:solidFill>
                  <a:srgbClr val="ff6b35"/>
                </a:solidFill>
                <a:effectLst/>
                <a:uFillTx/>
                <a:latin typeface="Cambria"/>
                <a:ea typeface="Cambria"/>
              </a:rPr>
              <a:t>b</a:t>
            </a:r>
            <a:endParaRPr b="0" lang="en-US" sz="4000" strike="noStrike" u="none">
              <a:solidFill>
                <a:srgbClr val="000000"/>
              </a:solidFill>
              <a:effectLst/>
              <a:uFillTx/>
              <a:latin typeface="Arial"/>
            </a:endParaRPr>
          </a:p>
        </p:txBody>
      </p:sp>
      <p:sp>
        <p:nvSpPr>
          <p:cNvPr id="133" name="Shape 5"/>
          <p:cNvSpPr/>
          <p:nvPr/>
        </p:nvSpPr>
        <p:spPr>
          <a:xfrm>
            <a:off x="640080" y="2990160"/>
            <a:ext cx="10911240" cy="712800"/>
          </a:xfrm>
          <a:prstGeom prst="roundRect">
            <a:avLst>
              <a:gd name="adj" fmla="val 10256"/>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4" name="Text 6"/>
          <p:cNvSpPr/>
          <p:nvPr/>
        </p:nvSpPr>
        <p:spPr>
          <a:xfrm>
            <a:off x="960120" y="3063240"/>
            <a:ext cx="73116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600" strike="noStrike" u="none">
                <a:solidFill>
                  <a:srgbClr val="0e7c86"/>
                </a:solidFill>
                <a:effectLst/>
                <a:uFillTx/>
                <a:latin typeface="Cambria"/>
                <a:ea typeface="Cambria"/>
              </a:rPr>
              <a:t>x</a:t>
            </a:r>
            <a:endParaRPr b="0" lang="en-US" sz="2600" strike="noStrike" u="none">
              <a:solidFill>
                <a:srgbClr val="000000"/>
              </a:solidFill>
              <a:effectLst/>
              <a:uFillTx/>
              <a:latin typeface="Arial"/>
            </a:endParaRPr>
          </a:p>
        </p:txBody>
      </p:sp>
      <p:sp>
        <p:nvSpPr>
          <p:cNvPr id="135" name="Text 7"/>
          <p:cNvSpPr/>
          <p:nvPr/>
        </p:nvSpPr>
        <p:spPr>
          <a:xfrm>
            <a:off x="1828800" y="3063240"/>
            <a:ext cx="27428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feature / input</a:t>
            </a:r>
            <a:endParaRPr b="0" lang="en-US" sz="1800" strike="noStrike" u="none">
              <a:solidFill>
                <a:srgbClr val="000000"/>
              </a:solidFill>
              <a:effectLst/>
              <a:uFillTx/>
              <a:latin typeface="Arial"/>
            </a:endParaRPr>
          </a:p>
        </p:txBody>
      </p:sp>
      <p:sp>
        <p:nvSpPr>
          <p:cNvPr id="136" name="Text 8"/>
          <p:cNvSpPr/>
          <p:nvPr/>
        </p:nvSpPr>
        <p:spPr>
          <a:xfrm>
            <a:off x="4663440" y="3063240"/>
            <a:ext cx="64004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600" strike="noStrike" u="none">
                <a:solidFill>
                  <a:srgbClr val="5d6e7c"/>
                </a:solidFill>
                <a:effectLst/>
                <a:uFillTx/>
                <a:latin typeface="Calibri"/>
                <a:ea typeface="Calibri"/>
              </a:rPr>
              <a:t>One measured value. Square footage.</a:t>
            </a:r>
            <a:endParaRPr b="0" lang="en-US" sz="1600" strike="noStrike" u="none">
              <a:solidFill>
                <a:srgbClr val="000000"/>
              </a:solidFill>
              <a:effectLst/>
              <a:uFillTx/>
              <a:latin typeface="Arial"/>
            </a:endParaRPr>
          </a:p>
        </p:txBody>
      </p:sp>
      <p:sp>
        <p:nvSpPr>
          <p:cNvPr id="137" name="Text 9"/>
          <p:cNvSpPr/>
          <p:nvPr/>
        </p:nvSpPr>
        <p:spPr>
          <a:xfrm>
            <a:off x="960120" y="3822120"/>
            <a:ext cx="73116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600" strike="noStrike" u="none">
                <a:solidFill>
                  <a:srgbClr val="ff6b35"/>
                </a:solidFill>
                <a:effectLst/>
                <a:uFillTx/>
                <a:latin typeface="Cambria"/>
                <a:ea typeface="Cambria"/>
              </a:rPr>
              <a:t>w</a:t>
            </a:r>
            <a:endParaRPr b="0" lang="en-US" sz="2600" strike="noStrike" u="none">
              <a:solidFill>
                <a:srgbClr val="000000"/>
              </a:solidFill>
              <a:effectLst/>
              <a:uFillTx/>
              <a:latin typeface="Arial"/>
            </a:endParaRPr>
          </a:p>
        </p:txBody>
      </p:sp>
      <p:sp>
        <p:nvSpPr>
          <p:cNvPr id="138" name="Text 10"/>
          <p:cNvSpPr/>
          <p:nvPr/>
        </p:nvSpPr>
        <p:spPr>
          <a:xfrm>
            <a:off x="1828800" y="3822120"/>
            <a:ext cx="27428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weight</a:t>
            </a:r>
            <a:endParaRPr b="0" lang="en-US" sz="1800" strike="noStrike" u="none">
              <a:solidFill>
                <a:srgbClr val="000000"/>
              </a:solidFill>
              <a:effectLst/>
              <a:uFillTx/>
              <a:latin typeface="Arial"/>
            </a:endParaRPr>
          </a:p>
        </p:txBody>
      </p:sp>
      <p:sp>
        <p:nvSpPr>
          <p:cNvPr id="139" name="Text 11"/>
          <p:cNvSpPr/>
          <p:nvPr/>
        </p:nvSpPr>
        <p:spPr>
          <a:xfrm>
            <a:off x="4663440" y="3822120"/>
            <a:ext cx="64004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600" strike="noStrike" u="none">
                <a:solidFill>
                  <a:srgbClr val="5d6e7c"/>
                </a:solidFill>
                <a:effectLst/>
                <a:uFillTx/>
                <a:latin typeface="Calibri"/>
                <a:ea typeface="Calibri"/>
              </a:rPr>
              <a:t>Was the slope. How much this feature matters.</a:t>
            </a:r>
            <a:endParaRPr b="0" lang="en-US" sz="1600" strike="noStrike" u="none">
              <a:solidFill>
                <a:srgbClr val="000000"/>
              </a:solidFill>
              <a:effectLst/>
              <a:uFillTx/>
              <a:latin typeface="Arial"/>
            </a:endParaRPr>
          </a:p>
        </p:txBody>
      </p:sp>
      <p:sp>
        <p:nvSpPr>
          <p:cNvPr id="140" name="Shape 12"/>
          <p:cNvSpPr/>
          <p:nvPr/>
        </p:nvSpPr>
        <p:spPr>
          <a:xfrm>
            <a:off x="640080" y="4507920"/>
            <a:ext cx="10911240" cy="712800"/>
          </a:xfrm>
          <a:prstGeom prst="roundRect">
            <a:avLst>
              <a:gd name="adj" fmla="val 10256"/>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1" name="Text 13"/>
          <p:cNvSpPr/>
          <p:nvPr/>
        </p:nvSpPr>
        <p:spPr>
          <a:xfrm>
            <a:off x="960120" y="4581000"/>
            <a:ext cx="73116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600" strike="noStrike" u="none">
                <a:solidFill>
                  <a:srgbClr val="ff6b35"/>
                </a:solidFill>
                <a:effectLst/>
                <a:uFillTx/>
                <a:latin typeface="Cambria"/>
                <a:ea typeface="Cambria"/>
              </a:rPr>
              <a:t>b</a:t>
            </a:r>
            <a:endParaRPr b="0" lang="en-US" sz="2600" strike="noStrike" u="none">
              <a:solidFill>
                <a:srgbClr val="000000"/>
              </a:solidFill>
              <a:effectLst/>
              <a:uFillTx/>
              <a:latin typeface="Arial"/>
            </a:endParaRPr>
          </a:p>
        </p:txBody>
      </p:sp>
      <p:sp>
        <p:nvSpPr>
          <p:cNvPr id="142" name="Text 14"/>
          <p:cNvSpPr/>
          <p:nvPr/>
        </p:nvSpPr>
        <p:spPr>
          <a:xfrm>
            <a:off x="1828800" y="4581000"/>
            <a:ext cx="27428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bias</a:t>
            </a:r>
            <a:endParaRPr b="0" lang="en-US" sz="1800" strike="noStrike" u="none">
              <a:solidFill>
                <a:srgbClr val="000000"/>
              </a:solidFill>
              <a:effectLst/>
              <a:uFillTx/>
              <a:latin typeface="Arial"/>
            </a:endParaRPr>
          </a:p>
        </p:txBody>
      </p:sp>
      <p:sp>
        <p:nvSpPr>
          <p:cNvPr id="143" name="Text 15"/>
          <p:cNvSpPr/>
          <p:nvPr/>
        </p:nvSpPr>
        <p:spPr>
          <a:xfrm>
            <a:off x="4663440" y="4581000"/>
            <a:ext cx="64004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600" strike="noStrike" u="none">
                <a:solidFill>
                  <a:srgbClr val="5d6e7c"/>
                </a:solidFill>
                <a:effectLst/>
                <a:uFillTx/>
                <a:latin typeface="Calibri"/>
                <a:ea typeface="Calibri"/>
              </a:rPr>
              <a:t>Was the intercept. The baseline prediction.</a:t>
            </a:r>
            <a:endParaRPr b="0" lang="en-US" sz="1600" strike="noStrike" u="none">
              <a:solidFill>
                <a:srgbClr val="000000"/>
              </a:solidFill>
              <a:effectLst/>
              <a:uFillTx/>
              <a:latin typeface="Arial"/>
            </a:endParaRPr>
          </a:p>
        </p:txBody>
      </p:sp>
      <p:sp>
        <p:nvSpPr>
          <p:cNvPr id="144" name="Text 16"/>
          <p:cNvSpPr/>
          <p:nvPr/>
        </p:nvSpPr>
        <p:spPr>
          <a:xfrm>
            <a:off x="960120" y="5340240"/>
            <a:ext cx="73116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600" strike="noStrike" u="none">
                <a:solidFill>
                  <a:srgbClr val="7d4e9e"/>
                </a:solidFill>
                <a:effectLst/>
                <a:uFillTx/>
                <a:latin typeface="Cambria"/>
                <a:ea typeface="Cambria"/>
              </a:rPr>
              <a:t>ŷ</a:t>
            </a:r>
            <a:endParaRPr b="0" lang="en-US" sz="2600" strike="noStrike" u="none">
              <a:solidFill>
                <a:srgbClr val="000000"/>
              </a:solidFill>
              <a:effectLst/>
              <a:uFillTx/>
              <a:latin typeface="Arial"/>
            </a:endParaRPr>
          </a:p>
        </p:txBody>
      </p:sp>
      <p:sp>
        <p:nvSpPr>
          <p:cNvPr id="145" name="Text 17"/>
          <p:cNvSpPr/>
          <p:nvPr/>
        </p:nvSpPr>
        <p:spPr>
          <a:xfrm>
            <a:off x="1828800" y="5340240"/>
            <a:ext cx="27428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prediction</a:t>
            </a:r>
            <a:endParaRPr b="0" lang="en-US" sz="1800" strike="noStrike" u="none">
              <a:solidFill>
                <a:srgbClr val="000000"/>
              </a:solidFill>
              <a:effectLst/>
              <a:uFillTx/>
              <a:latin typeface="Arial"/>
            </a:endParaRPr>
          </a:p>
        </p:txBody>
      </p:sp>
      <p:sp>
        <p:nvSpPr>
          <p:cNvPr id="146" name="Text 18"/>
          <p:cNvSpPr/>
          <p:nvPr/>
        </p:nvSpPr>
        <p:spPr>
          <a:xfrm>
            <a:off x="4663440" y="5340240"/>
            <a:ext cx="64004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600" strike="noStrike" u="none">
                <a:solidFill>
                  <a:srgbClr val="5d6e7c"/>
                </a:solidFill>
                <a:effectLst/>
                <a:uFillTx/>
                <a:latin typeface="Calibri"/>
                <a:ea typeface="Calibri"/>
              </a:rPr>
              <a:t>"y hat." The model's guess, not the truth.</a:t>
            </a:r>
            <a:endParaRPr b="0" lang="en-US" sz="1600" strike="noStrike" u="none">
              <a:solidFill>
                <a:srgbClr val="000000"/>
              </a:solidFill>
              <a:effectLst/>
              <a:uFillTx/>
              <a:latin typeface="Arial"/>
            </a:endParaRPr>
          </a:p>
        </p:txBody>
      </p:sp>
      <p:sp>
        <p:nvSpPr>
          <p:cNvPr id="147" name="Text 19"/>
          <p:cNvSpPr/>
          <p:nvPr/>
        </p:nvSpPr>
        <p:spPr>
          <a:xfrm>
            <a:off x="640080" y="6172200"/>
            <a:ext cx="109112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600" strike="noStrike" u="none">
                <a:solidFill>
                  <a:srgbClr val="0e7c86"/>
                </a:solidFill>
                <a:effectLst/>
                <a:uFillTx/>
                <a:latin typeface="Calibri"/>
                <a:ea typeface="Calibri"/>
              </a:rPr>
              <a:t>Nothing changed but the letters.</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8"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SCALE IT UP</a:t>
            </a:r>
            <a:endParaRPr b="0" lang="en-US" sz="1200" strike="noStrike" u="none">
              <a:solidFill>
                <a:srgbClr val="000000"/>
              </a:solidFill>
              <a:effectLst/>
              <a:uFillTx/>
              <a:latin typeface="Arial"/>
            </a:endParaRPr>
          </a:p>
        </p:txBody>
      </p:sp>
      <p:sp>
        <p:nvSpPr>
          <p:cNvPr id="149"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One weight per feature</a:t>
            </a:r>
            <a:endParaRPr b="0" lang="en-US" sz="3200" strike="noStrike" u="none">
              <a:solidFill>
                <a:srgbClr val="000000"/>
              </a:solidFill>
              <a:effectLst/>
              <a:uFillTx/>
              <a:latin typeface="Arial"/>
            </a:endParaRPr>
          </a:p>
        </p:txBody>
      </p:sp>
      <p:sp>
        <p:nvSpPr>
          <p:cNvPr id="150" name="Text 2"/>
          <p:cNvSpPr/>
          <p:nvPr/>
        </p:nvSpPr>
        <p:spPr>
          <a:xfrm>
            <a:off x="640080" y="1737360"/>
            <a:ext cx="109112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3600" strike="noStrike" u="none">
                <a:solidFill>
                  <a:srgbClr val="7d4e9e"/>
                </a:solidFill>
                <a:effectLst/>
                <a:uFillTx/>
                <a:latin typeface="Cambria"/>
                <a:ea typeface="Cambria"/>
              </a:rPr>
              <a:t>ŷ</a:t>
            </a:r>
            <a:r>
              <a:rPr b="1" lang="en-US" sz="3600" strike="noStrike" u="none">
                <a:solidFill>
                  <a:srgbClr val="14202b"/>
                </a:solidFill>
                <a:effectLst/>
                <a:uFillTx/>
                <a:latin typeface="Cambria"/>
                <a:ea typeface="Cambria"/>
              </a:rPr>
              <a:t> = </a:t>
            </a:r>
            <a:r>
              <a:rPr b="1" lang="en-US" sz="3600" strike="noStrike" u="none">
                <a:solidFill>
                  <a:srgbClr val="ff6b35"/>
                </a:solidFill>
                <a:effectLst/>
                <a:uFillTx/>
                <a:latin typeface="Cambria"/>
                <a:ea typeface="Cambria"/>
              </a:rPr>
              <a:t>w</a:t>
            </a:r>
            <a:r>
              <a:rPr b="1" lang="en-US" sz="3600" strike="noStrike" u="none" baseline="-40000">
                <a:solidFill>
                  <a:srgbClr val="ff6b35"/>
                </a:solidFill>
                <a:effectLst/>
                <a:uFillTx/>
                <a:latin typeface="Cambria"/>
                <a:ea typeface="Cambria"/>
              </a:rPr>
              <a:t>1</a:t>
            </a:r>
            <a:r>
              <a:rPr b="1" lang="en-US" sz="3600" strike="noStrike" u="none">
                <a:solidFill>
                  <a:srgbClr val="0e7c86"/>
                </a:solidFill>
                <a:effectLst/>
                <a:uFillTx/>
                <a:latin typeface="Cambria"/>
                <a:ea typeface="Cambria"/>
              </a:rPr>
              <a:t>x</a:t>
            </a:r>
            <a:r>
              <a:rPr b="1" lang="en-US" sz="3600" strike="noStrike" u="none" baseline="-40000">
                <a:solidFill>
                  <a:srgbClr val="0e7c86"/>
                </a:solidFill>
                <a:effectLst/>
                <a:uFillTx/>
                <a:latin typeface="Cambria"/>
                <a:ea typeface="Cambria"/>
              </a:rPr>
              <a:t>1</a:t>
            </a:r>
            <a:r>
              <a:rPr b="1" lang="en-US" sz="3600" strike="noStrike" u="none">
                <a:solidFill>
                  <a:srgbClr val="14202b"/>
                </a:solidFill>
                <a:effectLst/>
                <a:uFillTx/>
                <a:latin typeface="Cambria"/>
                <a:ea typeface="Cambria"/>
              </a:rPr>
              <a:t> + </a:t>
            </a:r>
            <a:r>
              <a:rPr b="1" lang="en-US" sz="3600" strike="noStrike" u="none">
                <a:solidFill>
                  <a:srgbClr val="ff6b35"/>
                </a:solidFill>
                <a:effectLst/>
                <a:uFillTx/>
                <a:latin typeface="Cambria"/>
                <a:ea typeface="Cambria"/>
              </a:rPr>
              <a:t>w</a:t>
            </a:r>
            <a:r>
              <a:rPr b="1" lang="en-US" sz="3600" strike="noStrike" u="none" baseline="-40000">
                <a:solidFill>
                  <a:srgbClr val="ff6b35"/>
                </a:solidFill>
                <a:effectLst/>
                <a:uFillTx/>
                <a:latin typeface="Cambria"/>
                <a:ea typeface="Cambria"/>
              </a:rPr>
              <a:t>2</a:t>
            </a:r>
            <a:r>
              <a:rPr b="1" lang="en-US" sz="3600" strike="noStrike" u="none">
                <a:solidFill>
                  <a:srgbClr val="0e7c86"/>
                </a:solidFill>
                <a:effectLst/>
                <a:uFillTx/>
                <a:latin typeface="Cambria"/>
                <a:ea typeface="Cambria"/>
              </a:rPr>
              <a:t>x</a:t>
            </a:r>
            <a:r>
              <a:rPr b="1" lang="en-US" sz="3600" strike="noStrike" u="none" baseline="-40000">
                <a:solidFill>
                  <a:srgbClr val="0e7c86"/>
                </a:solidFill>
                <a:effectLst/>
                <a:uFillTx/>
                <a:latin typeface="Cambria"/>
                <a:ea typeface="Cambria"/>
              </a:rPr>
              <a:t>2</a:t>
            </a:r>
            <a:r>
              <a:rPr b="1" lang="en-US" sz="3600" strike="noStrike" u="none">
                <a:solidFill>
                  <a:srgbClr val="14202b"/>
                </a:solidFill>
                <a:effectLst/>
                <a:uFillTx/>
                <a:latin typeface="Cambria"/>
                <a:ea typeface="Cambria"/>
              </a:rPr>
              <a:t> + </a:t>
            </a:r>
            <a:r>
              <a:rPr b="1" lang="en-US" sz="3600" strike="noStrike" u="none">
                <a:solidFill>
                  <a:srgbClr val="ff6b35"/>
                </a:solidFill>
                <a:effectLst/>
                <a:uFillTx/>
                <a:latin typeface="Cambria"/>
                <a:ea typeface="Cambria"/>
              </a:rPr>
              <a:t>w</a:t>
            </a:r>
            <a:r>
              <a:rPr b="1" lang="en-US" sz="3600" strike="noStrike" u="none" baseline="-40000">
                <a:solidFill>
                  <a:srgbClr val="ff6b35"/>
                </a:solidFill>
                <a:effectLst/>
                <a:uFillTx/>
                <a:latin typeface="Cambria"/>
                <a:ea typeface="Cambria"/>
              </a:rPr>
              <a:t>3</a:t>
            </a:r>
            <a:r>
              <a:rPr b="1" lang="en-US" sz="3600" strike="noStrike" u="none">
                <a:solidFill>
                  <a:srgbClr val="0e7c86"/>
                </a:solidFill>
                <a:effectLst/>
                <a:uFillTx/>
                <a:latin typeface="Cambria"/>
                <a:ea typeface="Cambria"/>
              </a:rPr>
              <a:t>x</a:t>
            </a:r>
            <a:r>
              <a:rPr b="1" lang="en-US" sz="3600" strike="noStrike" u="none" baseline="-40000">
                <a:solidFill>
                  <a:srgbClr val="0e7c86"/>
                </a:solidFill>
                <a:effectLst/>
                <a:uFillTx/>
                <a:latin typeface="Cambria"/>
                <a:ea typeface="Cambria"/>
              </a:rPr>
              <a:t>3</a:t>
            </a:r>
            <a:r>
              <a:rPr b="1" lang="en-US" sz="3600" strike="noStrike" u="none">
                <a:solidFill>
                  <a:srgbClr val="14202b"/>
                </a:solidFill>
                <a:effectLst/>
                <a:uFillTx/>
                <a:latin typeface="Cambria"/>
                <a:ea typeface="Cambria"/>
              </a:rPr>
              <a:t> + </a:t>
            </a:r>
            <a:r>
              <a:rPr b="1" lang="en-US" sz="3600" strike="noStrike" u="none">
                <a:solidFill>
                  <a:srgbClr val="ff6b35"/>
                </a:solidFill>
                <a:effectLst/>
                <a:uFillTx/>
                <a:latin typeface="Cambria"/>
                <a:ea typeface="Cambria"/>
              </a:rPr>
              <a:t>b</a:t>
            </a:r>
            <a:endParaRPr b="0" lang="en-US" sz="3600" strike="noStrike" u="none">
              <a:solidFill>
                <a:srgbClr val="000000"/>
              </a:solidFill>
              <a:effectLst/>
              <a:uFillTx/>
              <a:latin typeface="Arial"/>
            </a:endParaRPr>
          </a:p>
        </p:txBody>
      </p:sp>
      <p:graphicFrame>
        <p:nvGraphicFramePr>
          <p:cNvPr id="151" name="Table 0"/>
          <p:cNvGraphicFramePr/>
          <p:nvPr/>
        </p:nvGraphicFramePr>
        <p:xfrm>
          <a:off x="640080" y="2880360"/>
          <a:ext cx="10911240" cy="2514600"/>
        </p:xfrm>
        <a:graphic>
          <a:graphicData uri="http://schemas.openxmlformats.org/drawingml/2006/table">
            <a:tbl>
              <a:tblPr/>
              <a:tblGrid>
                <a:gridCol w="3017520"/>
                <a:gridCol w="1828800"/>
                <a:gridCol w="6064920"/>
              </a:tblGrid>
              <a:tr h="502920">
                <a:tc>
                  <a:txBody>
                    <a:bodyPr lIns="127800" rIns="127800" tIns="127800" bIns="127800" anchor="ctr">
                      <a:noAutofit/>
                    </a:bodyPr>
                    <a:p>
                      <a:pPr defTabSz="914400">
                        <a:lnSpc>
                          <a:spcPct val="100000"/>
                        </a:lnSpc>
                        <a:tabLst>
                          <a:tab algn="l" pos="0"/>
                        </a:tabLst>
                      </a:pPr>
                      <a:r>
                        <a:rPr b="1" lang="en-US" sz="1550" strike="noStrike" u="none">
                          <a:solidFill>
                            <a:srgbClr val="ffffff"/>
                          </a:solidFill>
                          <a:effectLst/>
                          <a:uFillTx/>
                          <a:latin typeface="Calibri"/>
                          <a:ea typeface="Calibri"/>
                        </a:rPr>
                        <a:t>Feature</a:t>
                      </a:r>
                      <a:endParaRPr b="0" lang="en-US" sz="1550" strike="noStrike" u="none">
                        <a:solidFill>
                          <a:srgbClr val="ffffff"/>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solidFill>
                      <a:srgbClr val="14202b"/>
                    </a:solidFill>
                  </a:tcPr>
                </a:tc>
                <a:tc>
                  <a:txBody>
                    <a:bodyPr lIns="127800" rIns="127800" tIns="127800" bIns="127800" anchor="ctr">
                      <a:noAutofit/>
                    </a:bodyPr>
                    <a:p>
                      <a:pPr defTabSz="914400">
                        <a:lnSpc>
                          <a:spcPct val="100000"/>
                        </a:lnSpc>
                        <a:tabLst>
                          <a:tab algn="l" pos="0"/>
                        </a:tabLst>
                      </a:pPr>
                      <a:r>
                        <a:rPr b="1" lang="en-US" sz="1550" strike="noStrike" u="none">
                          <a:solidFill>
                            <a:srgbClr val="ffffff"/>
                          </a:solidFill>
                          <a:effectLst/>
                          <a:uFillTx/>
                          <a:latin typeface="Calibri"/>
                          <a:ea typeface="Calibri"/>
                        </a:rPr>
                        <a:t>Weight</a:t>
                      </a:r>
                      <a:endParaRPr b="0" lang="en-US" sz="1550" strike="noStrike" u="none">
                        <a:solidFill>
                          <a:srgbClr val="ffffff"/>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solidFill>
                      <a:srgbClr val="14202b"/>
                    </a:solidFill>
                  </a:tcPr>
                </a:tc>
                <a:tc>
                  <a:txBody>
                    <a:bodyPr lIns="127800" rIns="127800" tIns="127800" bIns="127800" anchor="ctr">
                      <a:noAutofit/>
                    </a:bodyPr>
                    <a:p>
                      <a:pPr defTabSz="914400">
                        <a:lnSpc>
                          <a:spcPct val="100000"/>
                        </a:lnSpc>
                        <a:tabLst>
                          <a:tab algn="l" pos="0"/>
                        </a:tabLst>
                      </a:pPr>
                      <a:r>
                        <a:rPr b="1" lang="en-US" sz="1550" strike="noStrike" u="none">
                          <a:solidFill>
                            <a:srgbClr val="ffffff"/>
                          </a:solidFill>
                          <a:effectLst/>
                          <a:uFillTx/>
                          <a:latin typeface="Calibri"/>
                          <a:ea typeface="Calibri"/>
                        </a:rPr>
                        <a:t>What the model learned</a:t>
                      </a:r>
                      <a:endParaRPr b="0" lang="en-US" sz="1550" strike="noStrike" u="none">
                        <a:solidFill>
                          <a:srgbClr val="ffffff"/>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solidFill>
                      <a:srgbClr val="14202b"/>
                    </a:solidFill>
                  </a:tcPr>
                </a:tc>
              </a:tr>
              <a:tr h="502920">
                <a:tc>
                  <a:txBody>
                    <a:bodyPr lIns="127800" rIns="127800" tIns="127800" bIns="127800" anchor="ctr">
                      <a:noAutofit/>
                    </a:bodyPr>
                    <a:p>
                      <a:pPr defTabSz="914400">
                        <a:lnSpc>
                          <a:spcPct val="100000"/>
                        </a:lnSpc>
                        <a:tabLst>
                          <a:tab algn="l" pos="0"/>
                        </a:tabLst>
                      </a:pPr>
                      <a:r>
                        <a:rPr b="0" lang="en-US" sz="1550" strike="noStrike" u="none">
                          <a:solidFill>
                            <a:srgbClr val="25323d"/>
                          </a:solidFill>
                          <a:effectLst/>
                          <a:uFillTx/>
                          <a:latin typeface="Calibri"/>
                          <a:ea typeface="Calibri"/>
                        </a:rPr>
                        <a:t>x1  square feet</a:t>
                      </a:r>
                      <a:endParaRPr b="0" lang="en-US" sz="155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50" strike="noStrike" u="none">
                          <a:solidFill>
                            <a:srgbClr val="25323d"/>
                          </a:solidFill>
                          <a:effectLst/>
                          <a:uFillTx/>
                          <a:latin typeface="Calibri"/>
                          <a:ea typeface="Calibri"/>
                        </a:rPr>
                        <a:t>+118</a:t>
                      </a:r>
                      <a:endParaRPr b="0" lang="en-US" sz="155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50" strike="noStrike" u="none">
                          <a:solidFill>
                            <a:srgbClr val="25323d"/>
                          </a:solidFill>
                          <a:effectLst/>
                          <a:uFillTx/>
                          <a:latin typeface="Calibri"/>
                          <a:ea typeface="Calibri"/>
                        </a:rPr>
                        <a:t>Each extra sq ft adds about $118</a:t>
                      </a:r>
                      <a:endParaRPr b="0" lang="en-US" sz="155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502920">
                <a:tc>
                  <a:txBody>
                    <a:bodyPr lIns="127800" rIns="127800" tIns="127800" bIns="127800" anchor="ctr">
                      <a:noAutofit/>
                    </a:bodyPr>
                    <a:p>
                      <a:pPr defTabSz="914400">
                        <a:lnSpc>
                          <a:spcPct val="100000"/>
                        </a:lnSpc>
                        <a:tabLst>
                          <a:tab algn="l" pos="0"/>
                        </a:tabLst>
                      </a:pPr>
                      <a:r>
                        <a:rPr b="0" lang="en-US" sz="1550" strike="noStrike" u="none">
                          <a:solidFill>
                            <a:srgbClr val="25323d"/>
                          </a:solidFill>
                          <a:effectLst/>
                          <a:uFillTx/>
                          <a:latin typeface="Calibri"/>
                          <a:ea typeface="Calibri"/>
                        </a:rPr>
                        <a:t>x2  bedrooms</a:t>
                      </a:r>
                      <a:endParaRPr b="0" lang="en-US" sz="155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50" strike="noStrike" u="none">
                          <a:solidFill>
                            <a:srgbClr val="25323d"/>
                          </a:solidFill>
                          <a:effectLst/>
                          <a:uFillTx/>
                          <a:latin typeface="Calibri"/>
                          <a:ea typeface="Calibri"/>
                        </a:rPr>
                        <a:t>+6,400</a:t>
                      </a:r>
                      <a:endParaRPr b="0" lang="en-US" sz="155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50" strike="noStrike" u="none">
                          <a:solidFill>
                            <a:srgbClr val="25323d"/>
                          </a:solidFill>
                          <a:effectLst/>
                          <a:uFillTx/>
                          <a:latin typeface="Calibri"/>
                          <a:ea typeface="Calibri"/>
                        </a:rPr>
                        <a:t>A bedroom is worth a little, on top of size</a:t>
                      </a:r>
                      <a:endParaRPr b="0" lang="en-US" sz="155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502920">
                <a:tc>
                  <a:txBody>
                    <a:bodyPr lIns="127800" rIns="127800" tIns="127800" bIns="127800" anchor="ctr">
                      <a:noAutofit/>
                    </a:bodyPr>
                    <a:p>
                      <a:pPr defTabSz="914400">
                        <a:lnSpc>
                          <a:spcPct val="100000"/>
                        </a:lnSpc>
                        <a:tabLst>
                          <a:tab algn="l" pos="0"/>
                        </a:tabLst>
                      </a:pPr>
                      <a:r>
                        <a:rPr b="0" lang="en-US" sz="1550" strike="noStrike" u="none">
                          <a:solidFill>
                            <a:srgbClr val="25323d"/>
                          </a:solidFill>
                          <a:effectLst/>
                          <a:uFillTx/>
                          <a:latin typeface="Calibri"/>
                          <a:ea typeface="Calibri"/>
                        </a:rPr>
                        <a:t>x3  age in years</a:t>
                      </a:r>
                      <a:endParaRPr b="0" lang="en-US" sz="155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50" strike="noStrike" u="none">
                          <a:solidFill>
                            <a:srgbClr val="25323d"/>
                          </a:solidFill>
                          <a:effectLst/>
                          <a:uFillTx/>
                          <a:latin typeface="Calibri"/>
                          <a:ea typeface="Calibri"/>
                        </a:rPr>
                        <a:t>-1,250</a:t>
                      </a:r>
                      <a:endParaRPr b="0" lang="en-US" sz="155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50" strike="noStrike" u="none">
                          <a:solidFill>
                            <a:srgbClr val="25323d"/>
                          </a:solidFill>
                          <a:effectLst/>
                          <a:uFillTx/>
                          <a:latin typeface="Calibri"/>
                          <a:ea typeface="Calibri"/>
                        </a:rPr>
                        <a:t>Every year older costs about $1,250</a:t>
                      </a:r>
                      <a:endParaRPr b="0" lang="en-US" sz="155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502920">
                <a:tc>
                  <a:txBody>
                    <a:bodyPr lIns="127800" rIns="127800" tIns="127800" bIns="127800" anchor="ctr">
                      <a:noAutofit/>
                    </a:bodyPr>
                    <a:p>
                      <a:pPr defTabSz="914400">
                        <a:lnSpc>
                          <a:spcPct val="100000"/>
                        </a:lnSpc>
                        <a:tabLst>
                          <a:tab algn="l" pos="0"/>
                        </a:tabLst>
                      </a:pPr>
                      <a:r>
                        <a:rPr b="0" i="1" lang="en-US" sz="1550" strike="noStrike" u="none">
                          <a:solidFill>
                            <a:srgbClr val="25323d"/>
                          </a:solidFill>
                          <a:effectLst/>
                          <a:uFillTx/>
                          <a:latin typeface="Calibri"/>
                          <a:ea typeface="Calibri"/>
                        </a:rPr>
                        <a:t>b  bias</a:t>
                      </a:r>
                      <a:endParaRPr b="0" lang="en-US" sz="155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i="1" lang="en-US" sz="1550" strike="noStrike" u="none">
                          <a:solidFill>
                            <a:srgbClr val="25323d"/>
                          </a:solidFill>
                          <a:effectLst/>
                          <a:uFillTx/>
                          <a:latin typeface="Calibri"/>
                          <a:ea typeface="Calibri"/>
                        </a:rPr>
                        <a:t>+38,000</a:t>
                      </a:r>
                      <a:endParaRPr b="0" lang="en-US" sz="155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i="1" lang="en-US" sz="1550" strike="noStrike" u="none">
                          <a:solidFill>
                            <a:srgbClr val="25323d"/>
                          </a:solidFill>
                          <a:effectLst/>
                          <a:uFillTx/>
                          <a:latin typeface="Calibri"/>
                          <a:ea typeface="Calibri"/>
                        </a:rPr>
                        <a:t>The floor: lot, location, being a house at all</a:t>
                      </a:r>
                      <a:endParaRPr b="0" lang="en-US" sz="155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bl>
          </a:graphicData>
        </a:graphic>
      </p:graphicFrame>
      <p:sp>
        <p:nvSpPr>
          <p:cNvPr id="152" name="Shape 3"/>
          <p:cNvSpPr/>
          <p:nvPr/>
        </p:nvSpPr>
        <p:spPr>
          <a:xfrm>
            <a:off x="640080" y="5577840"/>
            <a:ext cx="10911240" cy="776880"/>
          </a:xfrm>
          <a:prstGeom prst="roundRect">
            <a:avLst>
              <a:gd name="adj" fmla="val 9412"/>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3" name="Text 4"/>
          <p:cNvSpPr/>
          <p:nvPr/>
        </p:nvSpPr>
        <p:spPr>
          <a:xfrm>
            <a:off x="960120" y="5577840"/>
            <a:ext cx="1027116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600" strike="noStrike" u="none">
                <a:solidFill>
                  <a:srgbClr val="5d6e7c"/>
                </a:solidFill>
                <a:effectLst/>
                <a:uFillTx/>
                <a:latin typeface="Calibri"/>
                <a:ea typeface="Calibri"/>
              </a:rPr>
              <a:t>Compact form:   </a:t>
            </a:r>
            <a:r>
              <a:rPr b="1" lang="en-US" sz="2200" strike="noStrike" u="none">
                <a:solidFill>
                  <a:srgbClr val="14202b"/>
                </a:solidFill>
                <a:effectLst/>
                <a:uFillTx/>
                <a:latin typeface="Cambria"/>
                <a:ea typeface="Cambria"/>
              </a:rPr>
              <a:t>ŷ = w · x + b</a:t>
            </a:r>
            <a:r>
              <a:rPr b="0" lang="en-US" sz="1600" strike="noStrike" u="none">
                <a:solidFill>
                  <a:srgbClr val="5d6e7c"/>
                </a:solidFill>
                <a:effectLst/>
                <a:uFillTx/>
                <a:latin typeface="Calibri"/>
                <a:ea typeface="Calibri"/>
              </a:rPr>
              <a:t>     a dot product, plus one number</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4202b"/>
        </a:solidFill>
      </p:bgPr>
    </p:bg>
    <p:spTree>
      <p:nvGrpSpPr>
        <p:cNvPr id="1" name=""/>
        <p:cNvGrpSpPr/>
        <p:nvPr/>
      </p:nvGrpSpPr>
      <p:grpSpPr>
        <a:xfrm>
          <a:off x="0" y="0"/>
          <a:ext cx="0" cy="0"/>
          <a:chOff x="0" y="0"/>
          <a:chExt cx="0" cy="0"/>
        </a:xfrm>
      </p:grpSpPr>
      <p:sp>
        <p:nvSpPr>
          <p:cNvPr id="154" name="Text 0"/>
          <p:cNvSpPr/>
          <p:nvPr/>
        </p:nvSpPr>
        <p:spPr>
          <a:xfrm>
            <a:off x="640080" y="1691640"/>
            <a:ext cx="1088100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4000" strike="noStrike" u="none">
                <a:solidFill>
                  <a:srgbClr val="aebecb"/>
                </a:solidFill>
                <a:effectLst/>
                <a:uFillTx/>
                <a:latin typeface="Cambria"/>
                <a:ea typeface="Cambria"/>
              </a:rPr>
              <a:t>Voilà.</a:t>
            </a:r>
            <a:endParaRPr b="0" lang="en-US" sz="4000" strike="noStrike" u="none">
              <a:solidFill>
                <a:srgbClr val="ffffff"/>
              </a:solidFill>
              <a:effectLst/>
              <a:uFillTx/>
              <a:latin typeface="Arial"/>
            </a:endParaRPr>
          </a:p>
        </p:txBody>
      </p:sp>
      <p:sp>
        <p:nvSpPr>
          <p:cNvPr id="155" name="Text 1"/>
          <p:cNvSpPr/>
          <p:nvPr/>
        </p:nvSpPr>
        <p:spPr>
          <a:xfrm>
            <a:off x="640080" y="2514600"/>
            <a:ext cx="1088100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400" strike="noStrike" u="none">
                <a:solidFill>
                  <a:srgbClr val="ffffff"/>
                </a:solidFill>
                <a:effectLst/>
                <a:uFillTx/>
                <a:latin typeface="Cambria"/>
                <a:ea typeface="Cambria"/>
              </a:rPr>
              <a:t>This is a machine learning model.</a:t>
            </a:r>
            <a:endParaRPr b="0" lang="en-US" sz="4400" strike="noStrike" u="none">
              <a:solidFill>
                <a:srgbClr val="ffffff"/>
              </a:solidFill>
              <a:effectLst/>
              <a:uFillTx/>
              <a:latin typeface="Arial"/>
            </a:endParaRPr>
          </a:p>
        </p:txBody>
      </p:sp>
      <p:sp>
        <p:nvSpPr>
          <p:cNvPr id="156" name="Shape 2"/>
          <p:cNvSpPr/>
          <p:nvPr/>
        </p:nvSpPr>
        <p:spPr>
          <a:xfrm>
            <a:off x="640080" y="406908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7" name="Text 3"/>
          <p:cNvSpPr/>
          <p:nvPr/>
        </p:nvSpPr>
        <p:spPr>
          <a:xfrm>
            <a:off x="640080" y="406908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ff6b35"/>
                </a:solidFill>
                <a:effectLst/>
                <a:uFillTx/>
                <a:latin typeface="Calibri"/>
                <a:ea typeface="Calibri"/>
              </a:rPr>
              <a:t>Linear regression</a:t>
            </a:r>
            <a:endParaRPr b="0" lang="en-US" sz="1800" strike="noStrike" u="none">
              <a:solidFill>
                <a:srgbClr val="ffffff"/>
              </a:solidFill>
              <a:effectLst/>
              <a:uFillTx/>
              <a:latin typeface="Arial"/>
            </a:endParaRPr>
          </a:p>
        </p:txBody>
      </p:sp>
      <p:sp>
        <p:nvSpPr>
          <p:cNvPr id="158" name="Shape 4"/>
          <p:cNvSpPr/>
          <p:nvPr/>
        </p:nvSpPr>
        <p:spPr>
          <a:xfrm>
            <a:off x="4370760" y="406908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9" name="Text 5"/>
          <p:cNvSpPr/>
          <p:nvPr/>
        </p:nvSpPr>
        <p:spPr>
          <a:xfrm>
            <a:off x="4370760" y="406908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d6e0e8"/>
                </a:solidFill>
                <a:effectLst/>
                <a:uFillTx/>
                <a:latin typeface="Calibri"/>
                <a:ea typeface="Calibri"/>
              </a:rPr>
              <a:t>Weights and a bias</a:t>
            </a:r>
            <a:endParaRPr b="0" lang="en-US" sz="1800" strike="noStrike" u="none">
              <a:solidFill>
                <a:srgbClr val="ffffff"/>
              </a:solidFill>
              <a:effectLst/>
              <a:uFillTx/>
              <a:latin typeface="Arial"/>
            </a:endParaRPr>
          </a:p>
        </p:txBody>
      </p:sp>
      <p:sp>
        <p:nvSpPr>
          <p:cNvPr id="160" name="Shape 6"/>
          <p:cNvSpPr/>
          <p:nvPr/>
        </p:nvSpPr>
        <p:spPr>
          <a:xfrm>
            <a:off x="8101440" y="406908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1" name="Text 7"/>
          <p:cNvSpPr/>
          <p:nvPr/>
        </p:nvSpPr>
        <p:spPr>
          <a:xfrm>
            <a:off x="8101440" y="406908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d6e0e8"/>
                </a:solidFill>
                <a:effectLst/>
                <a:uFillTx/>
                <a:latin typeface="Calibri"/>
                <a:ea typeface="Calibri"/>
              </a:rPr>
              <a:t>Trained, not written</a:t>
            </a:r>
            <a:endParaRPr b="0" lang="en-US" sz="18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2"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TWO JOBS, ONE MODEL</a:t>
            </a:r>
            <a:endParaRPr b="0" lang="en-US" sz="1200" strike="noStrike" u="none">
              <a:solidFill>
                <a:srgbClr val="000000"/>
              </a:solidFill>
              <a:effectLst/>
              <a:uFillTx/>
              <a:latin typeface="Arial"/>
            </a:endParaRPr>
          </a:p>
        </p:txBody>
      </p:sp>
      <p:sp>
        <p:nvSpPr>
          <p:cNvPr id="163"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Regression and classification</a:t>
            </a:r>
            <a:endParaRPr b="0" lang="en-US" sz="3200" strike="noStrike" u="none">
              <a:solidFill>
                <a:srgbClr val="000000"/>
              </a:solidFill>
              <a:effectLst/>
              <a:uFillTx/>
              <a:latin typeface="Arial"/>
            </a:endParaRPr>
          </a:p>
        </p:txBody>
      </p:sp>
      <p:sp>
        <p:nvSpPr>
          <p:cNvPr id="164" name="Shape 2"/>
          <p:cNvSpPr/>
          <p:nvPr/>
        </p:nvSpPr>
        <p:spPr>
          <a:xfrm>
            <a:off x="640080" y="1737360"/>
            <a:ext cx="5266440" cy="4160160"/>
          </a:xfrm>
          <a:prstGeom prst="roundRect">
            <a:avLst>
              <a:gd name="adj" fmla="val 1758"/>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5" name="Shape 3"/>
          <p:cNvSpPr/>
          <p:nvPr/>
        </p:nvSpPr>
        <p:spPr>
          <a:xfrm>
            <a:off x="1005840" y="1993320"/>
            <a:ext cx="200880" cy="200880"/>
          </a:xfrm>
          <a:prstGeom prst="ellipse">
            <a:avLst/>
          </a:prstGeom>
          <a:solidFill>
            <a:srgbClr val="0e7c86"/>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6" name="Text 4"/>
          <p:cNvSpPr/>
          <p:nvPr/>
        </p:nvSpPr>
        <p:spPr>
          <a:xfrm>
            <a:off x="1005840" y="2194560"/>
            <a:ext cx="45716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600" strike="noStrike" u="none">
                <a:solidFill>
                  <a:srgbClr val="14202b"/>
                </a:solidFill>
                <a:effectLst/>
                <a:uFillTx/>
                <a:latin typeface="Cambria"/>
                <a:ea typeface="Cambria"/>
              </a:rPr>
              <a:t>Regression</a:t>
            </a:r>
            <a:endParaRPr b="0" lang="en-US" sz="2600" strike="noStrike" u="none">
              <a:solidFill>
                <a:srgbClr val="000000"/>
              </a:solidFill>
              <a:effectLst/>
              <a:uFillTx/>
              <a:latin typeface="Arial"/>
            </a:endParaRPr>
          </a:p>
        </p:txBody>
      </p:sp>
      <p:sp>
        <p:nvSpPr>
          <p:cNvPr id="167" name="Text 5"/>
          <p:cNvSpPr/>
          <p:nvPr/>
        </p:nvSpPr>
        <p:spPr>
          <a:xfrm>
            <a:off x="1005840" y="2651760"/>
            <a:ext cx="45716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0e7c86"/>
                </a:solidFill>
                <a:effectLst/>
                <a:uFillTx/>
                <a:latin typeface="Calibri"/>
                <a:ea typeface="Calibri"/>
              </a:rPr>
              <a:t>Predict a number</a:t>
            </a:r>
            <a:endParaRPr b="0" lang="en-US" sz="1700" strike="noStrike" u="none">
              <a:solidFill>
                <a:srgbClr val="000000"/>
              </a:solidFill>
              <a:effectLst/>
              <a:uFillTx/>
              <a:latin typeface="Arial"/>
            </a:endParaRPr>
          </a:p>
        </p:txBody>
      </p:sp>
      <p:sp>
        <p:nvSpPr>
          <p:cNvPr id="168" name="Text 6"/>
          <p:cNvSpPr/>
          <p:nvPr/>
        </p:nvSpPr>
        <p:spPr>
          <a:xfrm>
            <a:off x="1005840" y="3063240"/>
            <a:ext cx="45716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50" strike="noStrike" u="none">
                <a:solidFill>
                  <a:srgbClr val="5d6e7c"/>
                </a:solidFill>
                <a:effectLst/>
                <a:uFillTx/>
                <a:latin typeface="Calibri"/>
                <a:ea typeface="Calibri"/>
              </a:rPr>
              <a:t>Use ŷ directly.</a:t>
            </a:r>
            <a:endParaRPr b="0" lang="en-US" sz="1550" strike="noStrike" u="none">
              <a:solidFill>
                <a:srgbClr val="000000"/>
              </a:solidFill>
              <a:effectLst/>
              <a:uFillTx/>
              <a:latin typeface="Arial"/>
            </a:endParaRPr>
          </a:p>
        </p:txBody>
      </p:sp>
      <p:sp>
        <p:nvSpPr>
          <p:cNvPr id="169" name="Text 7"/>
          <p:cNvSpPr/>
          <p:nvPr/>
        </p:nvSpPr>
        <p:spPr>
          <a:xfrm>
            <a:off x="1005840" y="3749040"/>
            <a:ext cx="4571640" cy="173700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spcAft>
                <a:spcPts val="799"/>
              </a:spcAft>
              <a:buClr>
                <a:srgbClr val="25323d"/>
              </a:buClr>
              <a:buFont typeface="Symbol" charset="2"/>
              <a:buChar char=""/>
            </a:pPr>
            <a:r>
              <a:rPr b="0" lang="en-US" sz="1600" strike="noStrike" u="none">
                <a:solidFill>
                  <a:srgbClr val="25323d"/>
                </a:solidFill>
                <a:effectLst/>
                <a:uFillTx/>
                <a:latin typeface="Calibri"/>
                <a:ea typeface="Calibri"/>
              </a:rPr>
              <a:t>House price: $238,000</a:t>
            </a:r>
            <a:endParaRPr b="0" lang="en-US" sz="1600" strike="noStrike" u="none">
              <a:solidFill>
                <a:srgbClr val="000000"/>
              </a:solidFill>
              <a:effectLst/>
              <a:uFillTx/>
              <a:latin typeface="Arial"/>
            </a:endParaRPr>
          </a:p>
          <a:p>
            <a:pPr marL="343080" indent="-343080" defTabSz="914400">
              <a:lnSpc>
                <a:spcPct val="100000"/>
              </a:lnSpc>
              <a:spcAft>
                <a:spcPts val="799"/>
              </a:spcAft>
              <a:buClr>
                <a:srgbClr val="25323d"/>
              </a:buClr>
              <a:buFont typeface="Symbol" charset="2"/>
              <a:buChar char=""/>
            </a:pPr>
            <a:r>
              <a:rPr b="0" lang="en-US" sz="1600" strike="noStrike" u="none">
                <a:solidFill>
                  <a:srgbClr val="25323d"/>
                </a:solidFill>
                <a:effectLst/>
                <a:uFillTx/>
                <a:latin typeface="Calibri"/>
                <a:ea typeface="Calibri"/>
              </a:rPr>
              <a:t>Temperature tomorrow</a:t>
            </a:r>
            <a:endParaRPr b="0" lang="en-US" sz="1600" strike="noStrike" u="none">
              <a:solidFill>
                <a:srgbClr val="000000"/>
              </a:solidFill>
              <a:effectLst/>
              <a:uFillTx/>
              <a:latin typeface="Arial"/>
            </a:endParaRPr>
          </a:p>
          <a:p>
            <a:pPr marL="343080" indent="-343080" defTabSz="914400">
              <a:lnSpc>
                <a:spcPct val="100000"/>
              </a:lnSpc>
              <a:spcAft>
                <a:spcPts val="799"/>
              </a:spcAft>
              <a:buClr>
                <a:srgbClr val="25323d"/>
              </a:buClr>
              <a:buFont typeface="Symbol" charset="2"/>
              <a:buChar char=""/>
            </a:pPr>
            <a:r>
              <a:rPr b="0" lang="en-US" sz="1600" strike="noStrike" u="none">
                <a:solidFill>
                  <a:srgbClr val="25323d"/>
                </a:solidFill>
                <a:effectLst/>
                <a:uFillTx/>
                <a:latin typeface="Calibri"/>
                <a:ea typeface="Calibri"/>
              </a:rPr>
              <a:t>Time until failure</a:t>
            </a:r>
            <a:endParaRPr b="0" lang="en-US" sz="1600" strike="noStrike" u="none">
              <a:solidFill>
                <a:srgbClr val="000000"/>
              </a:solidFill>
              <a:effectLst/>
              <a:uFillTx/>
              <a:latin typeface="Arial"/>
            </a:endParaRPr>
          </a:p>
        </p:txBody>
      </p:sp>
      <p:sp>
        <p:nvSpPr>
          <p:cNvPr id="170" name="Shape 8"/>
          <p:cNvSpPr/>
          <p:nvPr/>
        </p:nvSpPr>
        <p:spPr>
          <a:xfrm>
            <a:off x="6282000" y="1737360"/>
            <a:ext cx="5266440" cy="4160160"/>
          </a:xfrm>
          <a:prstGeom prst="roundRect">
            <a:avLst>
              <a:gd name="adj" fmla="val 1758"/>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1" name="Shape 9"/>
          <p:cNvSpPr/>
          <p:nvPr/>
        </p:nvSpPr>
        <p:spPr>
          <a:xfrm>
            <a:off x="6647760" y="1993320"/>
            <a:ext cx="200880" cy="200880"/>
          </a:xfrm>
          <a:prstGeom prst="ellipse">
            <a:avLst/>
          </a:prstGeom>
          <a:solidFill>
            <a:srgbClr val="7d4e9e"/>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72" name="Text 10"/>
          <p:cNvSpPr/>
          <p:nvPr/>
        </p:nvSpPr>
        <p:spPr>
          <a:xfrm>
            <a:off x="6647760" y="2194560"/>
            <a:ext cx="45716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600" strike="noStrike" u="none">
                <a:solidFill>
                  <a:srgbClr val="14202b"/>
                </a:solidFill>
                <a:effectLst/>
                <a:uFillTx/>
                <a:latin typeface="Cambria"/>
                <a:ea typeface="Cambria"/>
              </a:rPr>
              <a:t>Classification</a:t>
            </a:r>
            <a:endParaRPr b="0" lang="en-US" sz="2600" strike="noStrike" u="none">
              <a:solidFill>
                <a:srgbClr val="000000"/>
              </a:solidFill>
              <a:effectLst/>
              <a:uFillTx/>
              <a:latin typeface="Arial"/>
            </a:endParaRPr>
          </a:p>
        </p:txBody>
      </p:sp>
      <p:sp>
        <p:nvSpPr>
          <p:cNvPr id="173" name="Text 11"/>
          <p:cNvSpPr/>
          <p:nvPr/>
        </p:nvSpPr>
        <p:spPr>
          <a:xfrm>
            <a:off x="6647760" y="2651760"/>
            <a:ext cx="45716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7d4e9e"/>
                </a:solidFill>
                <a:effectLst/>
                <a:uFillTx/>
                <a:latin typeface="Calibri"/>
                <a:ea typeface="Calibri"/>
              </a:rPr>
              <a:t>Predict a category</a:t>
            </a:r>
            <a:endParaRPr b="0" lang="en-US" sz="1700" strike="noStrike" u="none">
              <a:solidFill>
                <a:srgbClr val="000000"/>
              </a:solidFill>
              <a:effectLst/>
              <a:uFillTx/>
              <a:latin typeface="Arial"/>
            </a:endParaRPr>
          </a:p>
        </p:txBody>
      </p:sp>
      <p:sp>
        <p:nvSpPr>
          <p:cNvPr id="174" name="Text 12"/>
          <p:cNvSpPr/>
          <p:nvPr/>
        </p:nvSpPr>
        <p:spPr>
          <a:xfrm>
            <a:off x="6647760" y="3063240"/>
            <a:ext cx="45716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50" strike="noStrike" u="none">
                <a:solidFill>
                  <a:srgbClr val="5d6e7c"/>
                </a:solidFill>
                <a:effectLst/>
                <a:uFillTx/>
                <a:latin typeface="Calibri"/>
                <a:ea typeface="Calibri"/>
              </a:rPr>
              <a:t>Squash ŷ into 0–1, then threshold it.</a:t>
            </a:r>
            <a:endParaRPr b="0" lang="en-US" sz="1550" strike="noStrike" u="none">
              <a:solidFill>
                <a:srgbClr val="000000"/>
              </a:solidFill>
              <a:effectLst/>
              <a:uFillTx/>
              <a:latin typeface="Arial"/>
            </a:endParaRPr>
          </a:p>
        </p:txBody>
      </p:sp>
      <p:sp>
        <p:nvSpPr>
          <p:cNvPr id="175" name="Text 13"/>
          <p:cNvSpPr/>
          <p:nvPr/>
        </p:nvSpPr>
        <p:spPr>
          <a:xfrm>
            <a:off x="6647760" y="3749040"/>
            <a:ext cx="4571640" cy="173700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spcAft>
                <a:spcPts val="799"/>
              </a:spcAft>
              <a:buClr>
                <a:srgbClr val="25323d"/>
              </a:buClr>
              <a:buFont typeface="Symbol" charset="2"/>
              <a:buChar char=""/>
            </a:pPr>
            <a:r>
              <a:rPr b="0" lang="en-US" sz="1600" strike="noStrike" u="none">
                <a:solidFill>
                  <a:srgbClr val="25323d"/>
                </a:solidFill>
                <a:effectLst/>
                <a:uFillTx/>
                <a:latin typeface="Calibri"/>
                <a:ea typeface="Calibri"/>
              </a:rPr>
              <a:t>Spam or not spam</a:t>
            </a:r>
            <a:endParaRPr b="0" lang="en-US" sz="1600" strike="noStrike" u="none">
              <a:solidFill>
                <a:srgbClr val="000000"/>
              </a:solidFill>
              <a:effectLst/>
              <a:uFillTx/>
              <a:latin typeface="Arial"/>
            </a:endParaRPr>
          </a:p>
          <a:p>
            <a:pPr marL="343080" indent="-343080" defTabSz="914400">
              <a:lnSpc>
                <a:spcPct val="100000"/>
              </a:lnSpc>
              <a:spcAft>
                <a:spcPts val="799"/>
              </a:spcAft>
              <a:buClr>
                <a:srgbClr val="25323d"/>
              </a:buClr>
              <a:buFont typeface="Symbol" charset="2"/>
              <a:buChar char=""/>
            </a:pPr>
            <a:r>
              <a:rPr b="0" lang="en-US" sz="1600" strike="noStrike" u="none">
                <a:solidFill>
                  <a:srgbClr val="25323d"/>
                </a:solidFill>
                <a:effectLst/>
                <a:uFillTx/>
                <a:latin typeface="Calibri"/>
                <a:ea typeface="Calibri"/>
              </a:rPr>
              <a:t>Will this customer churn?</a:t>
            </a:r>
            <a:endParaRPr b="0" lang="en-US" sz="1600" strike="noStrike" u="none">
              <a:solidFill>
                <a:srgbClr val="000000"/>
              </a:solidFill>
              <a:effectLst/>
              <a:uFillTx/>
              <a:latin typeface="Arial"/>
            </a:endParaRPr>
          </a:p>
          <a:p>
            <a:pPr marL="343080" indent="-343080" defTabSz="914400">
              <a:lnSpc>
                <a:spcPct val="100000"/>
              </a:lnSpc>
              <a:spcAft>
                <a:spcPts val="799"/>
              </a:spcAft>
              <a:buClr>
                <a:srgbClr val="25323d"/>
              </a:buClr>
              <a:buFont typeface="Symbol" charset="2"/>
              <a:buChar char=""/>
            </a:pPr>
            <a:r>
              <a:rPr b="0" lang="en-US" sz="1600" strike="noStrike" u="none">
                <a:solidFill>
                  <a:srgbClr val="25323d"/>
                </a:solidFill>
                <a:effectLst/>
                <a:uFillTx/>
                <a:latin typeface="Calibri"/>
                <a:ea typeface="Calibri"/>
              </a:rPr>
              <a:t>Which digit is this?</a:t>
            </a:r>
            <a:endParaRPr b="0" lang="en-US" sz="1600" strike="noStrike" u="none">
              <a:solidFill>
                <a:srgbClr val="000000"/>
              </a:solidFill>
              <a:effectLst/>
              <a:uFillTx/>
              <a:latin typeface="Arial"/>
            </a:endParaRPr>
          </a:p>
        </p:txBody>
      </p:sp>
      <p:sp>
        <p:nvSpPr>
          <p:cNvPr id="176" name="Text 14"/>
          <p:cNvSpPr/>
          <p:nvPr/>
        </p:nvSpPr>
        <p:spPr>
          <a:xfrm>
            <a:off x="640080" y="6035040"/>
            <a:ext cx="1091124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25323d"/>
                </a:solidFill>
                <a:effectLst/>
                <a:uFillTx/>
                <a:latin typeface="Calibri"/>
                <a:ea typeface="Calibri"/>
              </a:rPr>
              <a:t>The equation does not change. Only what you do with its output changes.</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7"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THE REAL QUESTION</a:t>
            </a:r>
            <a:endParaRPr b="0" lang="en-US" sz="1200" strike="noStrike" u="none">
              <a:solidFill>
                <a:srgbClr val="000000"/>
              </a:solidFill>
              <a:effectLst/>
              <a:uFillTx/>
              <a:latin typeface="Arial"/>
            </a:endParaRPr>
          </a:p>
        </p:txBody>
      </p:sp>
      <p:sp>
        <p:nvSpPr>
          <p:cNvPr id="178"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So who picks w and b?</a:t>
            </a:r>
            <a:endParaRPr b="0" lang="en-US" sz="3200" strike="noStrike" u="none">
              <a:solidFill>
                <a:srgbClr val="000000"/>
              </a:solidFill>
              <a:effectLst/>
              <a:uFillTx/>
              <a:latin typeface="Arial"/>
            </a:endParaRPr>
          </a:p>
        </p:txBody>
      </p:sp>
      <p:sp>
        <p:nvSpPr>
          <p:cNvPr id="179" name="Shape 2"/>
          <p:cNvSpPr/>
          <p:nvPr/>
        </p:nvSpPr>
        <p:spPr>
          <a:xfrm>
            <a:off x="1051560" y="5515560"/>
            <a:ext cx="62632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80" name="Shape 3"/>
          <p:cNvSpPr/>
          <p:nvPr/>
        </p:nvSpPr>
        <p:spPr>
          <a:xfrm rot="5400000">
            <a:off x="-776520" y="3686760"/>
            <a:ext cx="365724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81" name="Shape 4"/>
          <p:cNvSpPr/>
          <p:nvPr/>
        </p:nvSpPr>
        <p:spPr>
          <a:xfrm rot="20757000">
            <a:off x="1280520" y="3392280"/>
            <a:ext cx="5617080" cy="41760"/>
          </a:xfrm>
          <a:prstGeom prst="rect">
            <a:avLst/>
          </a:prstGeom>
          <a:solidFill>
            <a:srgbClr val="b9c2cb"/>
          </a:solidFill>
          <a:ln w="0">
            <a:noFill/>
          </a:ln>
        </p:spPr>
        <p:style>
          <a:lnRef idx="0"/>
          <a:fillRef idx="0"/>
          <a:effectRef idx="0"/>
          <a:fontRef idx="minor"/>
        </p:style>
        <p:txBody>
          <a:bodyPr lIns="90000" rIns="90000" tIns="-2880" bIns="-2880" anchor="t">
            <a:noAutofit/>
          </a:bodyPr>
          <a:p>
            <a:endParaRPr b="0" lang="en-US" sz="1800" strike="noStrike" u="none">
              <a:solidFill>
                <a:srgbClr val="000000"/>
              </a:solidFill>
              <a:effectLst/>
              <a:uFillTx/>
              <a:latin typeface="Arial"/>
            </a:endParaRPr>
          </a:p>
        </p:txBody>
      </p:sp>
      <p:sp>
        <p:nvSpPr>
          <p:cNvPr id="182" name="Shape 5"/>
          <p:cNvSpPr/>
          <p:nvPr/>
        </p:nvSpPr>
        <p:spPr>
          <a:xfrm rot="19881000">
            <a:off x="984240" y="3794400"/>
            <a:ext cx="6209280" cy="50760"/>
          </a:xfrm>
          <a:prstGeom prst="rect">
            <a:avLst/>
          </a:prstGeom>
          <a:solidFill>
            <a:srgbClr val="ff6b35"/>
          </a:solidFill>
          <a:ln w="0">
            <a:noFill/>
          </a:ln>
        </p:spPr>
        <p:style>
          <a:lnRef idx="0"/>
          <a:fillRef idx="0"/>
          <a:effectRef idx="0"/>
          <a:fontRef idx="minor"/>
        </p:style>
        <p:txBody>
          <a:bodyPr lIns="90000" rIns="90000" tIns="6120" bIns="6120" anchor="t">
            <a:noAutofit/>
          </a:bodyPr>
          <a:p>
            <a:endParaRPr b="0" lang="en-US" sz="1800" strike="noStrike" u="none">
              <a:solidFill>
                <a:srgbClr val="ffffff"/>
              </a:solidFill>
              <a:effectLst/>
              <a:uFillTx/>
              <a:latin typeface="Arial"/>
            </a:endParaRPr>
          </a:p>
        </p:txBody>
      </p:sp>
      <p:sp>
        <p:nvSpPr>
          <p:cNvPr id="183" name="Shape 6"/>
          <p:cNvSpPr/>
          <p:nvPr/>
        </p:nvSpPr>
        <p:spPr>
          <a:xfrm>
            <a:off x="2217600" y="4661640"/>
            <a:ext cx="173520" cy="17352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84" name="Shape 7"/>
          <p:cNvSpPr/>
          <p:nvPr/>
        </p:nvSpPr>
        <p:spPr>
          <a:xfrm>
            <a:off x="2718360" y="4243320"/>
            <a:ext cx="173520" cy="17352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85" name="Shape 8"/>
          <p:cNvSpPr/>
          <p:nvPr/>
        </p:nvSpPr>
        <p:spPr>
          <a:xfrm>
            <a:off x="2968920" y="4348080"/>
            <a:ext cx="173520" cy="17352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86" name="Shape 9"/>
          <p:cNvSpPr/>
          <p:nvPr/>
        </p:nvSpPr>
        <p:spPr>
          <a:xfrm>
            <a:off x="3470040" y="3825360"/>
            <a:ext cx="173520" cy="17352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87" name="Shape 10"/>
          <p:cNvSpPr/>
          <p:nvPr/>
        </p:nvSpPr>
        <p:spPr>
          <a:xfrm>
            <a:off x="3971160" y="3668760"/>
            <a:ext cx="173520" cy="17352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88" name="Shape 11"/>
          <p:cNvSpPr/>
          <p:nvPr/>
        </p:nvSpPr>
        <p:spPr>
          <a:xfrm>
            <a:off x="4221720" y="3407400"/>
            <a:ext cx="173520" cy="17352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89" name="Shape 12"/>
          <p:cNvSpPr/>
          <p:nvPr/>
        </p:nvSpPr>
        <p:spPr>
          <a:xfrm>
            <a:off x="4722840" y="3250800"/>
            <a:ext cx="173520" cy="17352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90" name="Shape 13"/>
          <p:cNvSpPr/>
          <p:nvPr/>
        </p:nvSpPr>
        <p:spPr>
          <a:xfrm>
            <a:off x="5223960" y="2885040"/>
            <a:ext cx="173520" cy="17352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91" name="Shape 14"/>
          <p:cNvSpPr/>
          <p:nvPr/>
        </p:nvSpPr>
        <p:spPr>
          <a:xfrm>
            <a:off x="5599800" y="2780280"/>
            <a:ext cx="173520" cy="17352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92" name="Shape 15"/>
          <p:cNvSpPr/>
          <p:nvPr/>
        </p:nvSpPr>
        <p:spPr>
          <a:xfrm>
            <a:off x="6226200" y="2414520"/>
            <a:ext cx="173520" cy="17352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93" name="Text 16"/>
          <p:cNvSpPr/>
          <p:nvPr/>
        </p:nvSpPr>
        <p:spPr>
          <a:xfrm>
            <a:off x="658440" y="1554480"/>
            <a:ext cx="18284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y  (price)</a:t>
            </a:r>
            <a:endParaRPr b="0" lang="en-US" sz="1300" strike="noStrike" u="none">
              <a:solidFill>
                <a:srgbClr val="000000"/>
              </a:solidFill>
              <a:effectLst/>
              <a:uFillTx/>
              <a:latin typeface="Arial"/>
            </a:endParaRPr>
          </a:p>
        </p:txBody>
      </p:sp>
      <p:sp>
        <p:nvSpPr>
          <p:cNvPr id="194" name="Text 17"/>
          <p:cNvSpPr/>
          <p:nvPr/>
        </p:nvSpPr>
        <p:spPr>
          <a:xfrm>
            <a:off x="5120640" y="5596200"/>
            <a:ext cx="219420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300" strike="noStrike" u="none">
                <a:solidFill>
                  <a:srgbClr val="5d6e7c"/>
                </a:solidFill>
                <a:effectLst/>
                <a:uFillTx/>
                <a:latin typeface="Calibri"/>
                <a:ea typeface="Calibri"/>
              </a:rPr>
              <a:t>x  (square feet)</a:t>
            </a:r>
            <a:endParaRPr b="0" lang="en-US" sz="1300" strike="noStrike" u="none">
              <a:solidFill>
                <a:srgbClr val="000000"/>
              </a:solidFill>
              <a:effectLst/>
              <a:uFillTx/>
              <a:latin typeface="Arial"/>
            </a:endParaRPr>
          </a:p>
        </p:txBody>
      </p:sp>
      <p:sp>
        <p:nvSpPr>
          <p:cNvPr id="195" name="Shape 18"/>
          <p:cNvSpPr/>
          <p:nvPr/>
        </p:nvSpPr>
        <p:spPr>
          <a:xfrm>
            <a:off x="1051560" y="6062400"/>
            <a:ext cx="164160" cy="16416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96" name="Text 19"/>
          <p:cNvSpPr/>
          <p:nvPr/>
        </p:nvSpPr>
        <p:spPr>
          <a:xfrm>
            <a:off x="1472040" y="5970960"/>
            <a:ext cx="169128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25323d"/>
                </a:solidFill>
                <a:effectLst/>
                <a:uFillTx/>
                <a:latin typeface="Calibri"/>
                <a:ea typeface="Calibri"/>
              </a:rPr>
              <a:t>the data</a:t>
            </a:r>
            <a:endParaRPr b="0" lang="en-US" sz="1400" strike="noStrike" u="none">
              <a:solidFill>
                <a:srgbClr val="000000"/>
              </a:solidFill>
              <a:effectLst/>
              <a:uFillTx/>
              <a:latin typeface="Arial"/>
            </a:endParaRPr>
          </a:p>
        </p:txBody>
      </p:sp>
      <p:sp>
        <p:nvSpPr>
          <p:cNvPr id="197" name="Shape 20"/>
          <p:cNvSpPr/>
          <p:nvPr/>
        </p:nvSpPr>
        <p:spPr>
          <a:xfrm>
            <a:off x="3154680" y="6108120"/>
            <a:ext cx="310680" cy="62640"/>
          </a:xfrm>
          <a:prstGeom prst="rect">
            <a:avLst/>
          </a:prstGeom>
          <a:solidFill>
            <a:srgbClr val="b9c2cb"/>
          </a:solidFill>
          <a:ln w="0">
            <a:noFill/>
          </a:ln>
        </p:spPr>
        <p:style>
          <a:lnRef idx="0"/>
          <a:fillRef idx="0"/>
          <a:effectRef idx="0"/>
          <a:fontRef idx="minor"/>
        </p:style>
        <p:txBody>
          <a:bodyPr lIns="90000" rIns="90000" tIns="18000" bIns="18000" anchor="t">
            <a:noAutofit/>
          </a:bodyPr>
          <a:p>
            <a:endParaRPr b="0" lang="en-US" sz="1800" strike="noStrike" u="none">
              <a:solidFill>
                <a:srgbClr val="000000"/>
              </a:solidFill>
              <a:effectLst/>
              <a:uFillTx/>
              <a:latin typeface="Arial"/>
            </a:endParaRPr>
          </a:p>
        </p:txBody>
      </p:sp>
      <p:sp>
        <p:nvSpPr>
          <p:cNvPr id="198" name="Text 21"/>
          <p:cNvSpPr/>
          <p:nvPr/>
        </p:nvSpPr>
        <p:spPr>
          <a:xfrm>
            <a:off x="3575160" y="5970960"/>
            <a:ext cx="169128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25323d"/>
                </a:solidFill>
                <a:effectLst/>
                <a:uFillTx/>
                <a:latin typeface="Calibri"/>
                <a:ea typeface="Calibri"/>
              </a:rPr>
              <a:t>a bad guess</a:t>
            </a:r>
            <a:endParaRPr b="0" lang="en-US" sz="1400" strike="noStrike" u="none">
              <a:solidFill>
                <a:srgbClr val="000000"/>
              </a:solidFill>
              <a:effectLst/>
              <a:uFillTx/>
              <a:latin typeface="Arial"/>
            </a:endParaRPr>
          </a:p>
        </p:txBody>
      </p:sp>
      <p:sp>
        <p:nvSpPr>
          <p:cNvPr id="199" name="Shape 22"/>
          <p:cNvSpPr/>
          <p:nvPr/>
        </p:nvSpPr>
        <p:spPr>
          <a:xfrm>
            <a:off x="5257800" y="6108120"/>
            <a:ext cx="310680" cy="62640"/>
          </a:xfrm>
          <a:prstGeom prst="rect">
            <a:avLst/>
          </a:prstGeom>
          <a:solidFill>
            <a:srgbClr val="ff6b35"/>
          </a:solidFill>
          <a:ln w="0">
            <a:noFill/>
          </a:ln>
        </p:spPr>
        <p:style>
          <a:lnRef idx="0"/>
          <a:fillRef idx="0"/>
          <a:effectRef idx="0"/>
          <a:fontRef idx="minor"/>
        </p:style>
        <p:txBody>
          <a:bodyPr lIns="90000" rIns="90000" tIns="18000" bIns="18000" anchor="t">
            <a:noAutofit/>
          </a:bodyPr>
          <a:p>
            <a:endParaRPr b="0" lang="en-US" sz="1800" strike="noStrike" u="none">
              <a:solidFill>
                <a:srgbClr val="ffffff"/>
              </a:solidFill>
              <a:effectLst/>
              <a:uFillTx/>
              <a:latin typeface="Arial"/>
            </a:endParaRPr>
          </a:p>
        </p:txBody>
      </p:sp>
      <p:sp>
        <p:nvSpPr>
          <p:cNvPr id="200" name="Text 23"/>
          <p:cNvSpPr/>
          <p:nvPr/>
        </p:nvSpPr>
        <p:spPr>
          <a:xfrm>
            <a:off x="5678280" y="5970960"/>
            <a:ext cx="169128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25323d"/>
                </a:solidFill>
                <a:effectLst/>
                <a:uFillTx/>
                <a:latin typeface="Calibri"/>
                <a:ea typeface="Calibri"/>
              </a:rPr>
              <a:t>the best fit</a:t>
            </a:r>
            <a:endParaRPr b="0" lang="en-US" sz="1400" strike="noStrike" u="none">
              <a:solidFill>
                <a:srgbClr val="000000"/>
              </a:solidFill>
              <a:effectLst/>
              <a:uFillTx/>
              <a:latin typeface="Arial"/>
            </a:endParaRPr>
          </a:p>
        </p:txBody>
      </p:sp>
      <p:sp>
        <p:nvSpPr>
          <p:cNvPr id="201" name="Shape 24"/>
          <p:cNvSpPr/>
          <p:nvPr/>
        </p:nvSpPr>
        <p:spPr>
          <a:xfrm>
            <a:off x="7955280" y="1737360"/>
            <a:ext cx="3593160" cy="2057040"/>
          </a:xfrm>
          <a:prstGeom prst="roundRect">
            <a:avLst>
              <a:gd name="adj" fmla="val 3556"/>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02" name="Text 25"/>
          <p:cNvSpPr/>
          <p:nvPr/>
        </p:nvSpPr>
        <p:spPr>
          <a:xfrm>
            <a:off x="8275320" y="2011680"/>
            <a:ext cx="3017160" cy="1599840"/>
          </a:xfrm>
          <a:prstGeom prst="rect">
            <a:avLst/>
          </a:prstGeom>
          <a:noFill/>
          <a:ln w="0">
            <a:noFill/>
          </a:ln>
        </p:spPr>
        <p:style>
          <a:lnRef idx="0"/>
          <a:fillRef idx="0"/>
          <a:effectRef idx="0"/>
          <a:fontRef idx="minor"/>
        </p:style>
        <p:txBody>
          <a:bodyPr lIns="0" rIns="0" tIns="0" bIns="0" anchor="ctr">
            <a:noAutofit/>
          </a:bodyPr>
          <a:p>
            <a:r>
              <a:rPr b="1" lang="en-US" sz="2800" strike="noStrike" u="none">
                <a:solidFill>
                  <a:srgbClr val="ff6b35"/>
                </a:solidFill>
                <a:effectLst/>
                <a:uFillTx/>
                <a:latin typeface="Cambria"/>
                <a:ea typeface="Cambria"/>
              </a:rPr>
              <a:t>Not you.</a:t>
            </a:r>
            <a:endParaRPr b="0" lang="en-US" sz="2800" strike="noStrike" u="none">
              <a:solidFill>
                <a:srgbClr val="000000"/>
              </a:solidFill>
              <a:effectLst/>
              <a:uFillTx/>
              <a:latin typeface="Arial"/>
            </a:endParaRPr>
          </a:p>
          <a:p>
            <a:pPr defTabSz="914400">
              <a:lnSpc>
                <a:spcPct val="100000"/>
              </a:lnSpc>
              <a:tabLst>
                <a:tab algn="l" pos="0"/>
              </a:tabLst>
            </a:pPr>
            <a:endParaRPr b="0" lang="en-US" sz="2800" strike="noStrike" u="none">
              <a:solidFill>
                <a:srgbClr val="000000"/>
              </a:solidFill>
              <a:effectLst/>
              <a:uFillTx/>
              <a:latin typeface="Arial"/>
            </a:endParaRPr>
          </a:p>
          <a:p>
            <a:pPr defTabSz="914400">
              <a:lnSpc>
                <a:spcPct val="100000"/>
              </a:lnSpc>
              <a:tabLst>
                <a:tab algn="l" pos="0"/>
              </a:tabLst>
            </a:pPr>
            <a:r>
              <a:rPr b="0" lang="en-US" sz="1500" strike="noStrike" u="none">
                <a:solidFill>
                  <a:srgbClr val="d6e0e8"/>
                </a:solidFill>
                <a:effectLst/>
                <a:uFillTx/>
                <a:latin typeface="Calibri"/>
                <a:ea typeface="Calibri"/>
              </a:rPr>
              <a:t>Guessing lines by hand is the if-statement problem again.</a:t>
            </a:r>
            <a:endParaRPr b="0" lang="en-US" sz="1500" strike="noStrike" u="none">
              <a:solidFill>
                <a:srgbClr val="000000"/>
              </a:solidFill>
              <a:effectLst/>
              <a:uFillTx/>
              <a:latin typeface="Arial"/>
            </a:endParaRPr>
          </a:p>
        </p:txBody>
      </p:sp>
      <p:sp>
        <p:nvSpPr>
          <p:cNvPr id="203" name="Shape 26"/>
          <p:cNvSpPr/>
          <p:nvPr/>
        </p:nvSpPr>
        <p:spPr>
          <a:xfrm>
            <a:off x="7955280" y="4023360"/>
            <a:ext cx="3593160" cy="1874160"/>
          </a:xfrm>
          <a:prstGeom prst="roundRect">
            <a:avLst>
              <a:gd name="adj" fmla="val 3902"/>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4" name="Text 27"/>
          <p:cNvSpPr/>
          <p:nvPr/>
        </p:nvSpPr>
        <p:spPr>
          <a:xfrm>
            <a:off x="8275320" y="4297680"/>
            <a:ext cx="3017160" cy="1462680"/>
          </a:xfrm>
          <a:prstGeom prst="rect">
            <a:avLst/>
          </a:prstGeom>
          <a:noFill/>
          <a:ln w="0">
            <a:noFill/>
          </a:ln>
        </p:spPr>
        <p:style>
          <a:lnRef idx="0"/>
          <a:fillRef idx="0"/>
          <a:effectRef idx="0"/>
          <a:fontRef idx="minor"/>
        </p:style>
        <p:txBody>
          <a:bodyPr lIns="0" rIns="0" tIns="0" bIns="0" anchor="ctr">
            <a:noAutofit/>
          </a:bodyPr>
          <a:p>
            <a:r>
              <a:rPr b="1" lang="en-US" sz="1700" strike="noStrike" u="none">
                <a:solidFill>
                  <a:srgbClr val="14202b"/>
                </a:solidFill>
                <a:effectLst/>
                <a:uFillTx/>
                <a:latin typeface="Calibri"/>
                <a:ea typeface="Calibri"/>
              </a:rPr>
              <a:t>The move</a:t>
            </a:r>
            <a:endParaRPr b="0" lang="en-US" sz="1700" strike="noStrike" u="none">
              <a:solidFill>
                <a:srgbClr val="000000"/>
              </a:solidFill>
              <a:effectLst/>
              <a:uFillTx/>
              <a:latin typeface="Arial"/>
            </a:endParaRPr>
          </a:p>
          <a:p>
            <a:pPr defTabSz="914400">
              <a:lnSpc>
                <a:spcPct val="100000"/>
              </a:lnSpc>
              <a:tabLst>
                <a:tab algn="l" pos="0"/>
              </a:tabLst>
            </a:pPr>
            <a:endParaRPr b="0" lang="en-US" sz="1700" strike="noStrike" u="none">
              <a:solidFill>
                <a:srgbClr val="000000"/>
              </a:solidFill>
              <a:effectLst/>
              <a:uFillTx/>
              <a:latin typeface="Arial"/>
            </a:endParaRPr>
          </a:p>
          <a:p>
            <a:pPr defTabSz="914400">
              <a:lnSpc>
                <a:spcPct val="100000"/>
              </a:lnSpc>
              <a:tabLst>
                <a:tab algn="l" pos="0"/>
              </a:tabLst>
            </a:pPr>
            <a:r>
              <a:rPr b="0" lang="en-US" sz="1500" strike="noStrike" u="none">
                <a:solidFill>
                  <a:srgbClr val="5d6e7c"/>
                </a:solidFill>
                <a:effectLst/>
                <a:uFillTx/>
                <a:latin typeface="Calibri"/>
                <a:ea typeface="Calibri"/>
              </a:rPr>
              <a:t>Define a score for how bad a line is. Then search for the lowest score.</a:t>
            </a:r>
            <a:endParaRPr b="0" lang="en-US" sz="15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5"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SCORING A LINE</a:t>
            </a:r>
            <a:endParaRPr b="0" lang="en-US" sz="1200" strike="noStrike" u="none">
              <a:solidFill>
                <a:srgbClr val="000000"/>
              </a:solidFill>
              <a:effectLst/>
              <a:uFillTx/>
              <a:latin typeface="Arial"/>
            </a:endParaRPr>
          </a:p>
        </p:txBody>
      </p:sp>
      <p:sp>
        <p:nvSpPr>
          <p:cNvPr id="206"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Measure how wrong you are</a:t>
            </a:r>
            <a:endParaRPr b="0" lang="en-US" sz="3200" strike="noStrike" u="none">
              <a:solidFill>
                <a:srgbClr val="000000"/>
              </a:solidFill>
              <a:effectLst/>
              <a:uFillTx/>
              <a:latin typeface="Arial"/>
            </a:endParaRPr>
          </a:p>
        </p:txBody>
      </p:sp>
      <p:sp>
        <p:nvSpPr>
          <p:cNvPr id="207" name="Shape 2"/>
          <p:cNvSpPr/>
          <p:nvPr/>
        </p:nvSpPr>
        <p:spPr>
          <a:xfrm>
            <a:off x="640080" y="1965960"/>
            <a:ext cx="5577480" cy="3748680"/>
          </a:xfrm>
          <a:prstGeom prst="roundRect">
            <a:avLst>
              <a:gd name="adj" fmla="val 1951"/>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8" name="Shape 3"/>
          <p:cNvSpPr/>
          <p:nvPr/>
        </p:nvSpPr>
        <p:spPr>
          <a:xfrm>
            <a:off x="1143000" y="5288040"/>
            <a:ext cx="4708800" cy="30600"/>
          </a:xfrm>
          <a:prstGeom prst="rect">
            <a:avLst/>
          </a:prstGeom>
          <a:solidFill>
            <a:srgbClr val="bcc7d0"/>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209" name="Shape 4"/>
          <p:cNvSpPr/>
          <p:nvPr/>
        </p:nvSpPr>
        <p:spPr>
          <a:xfrm rot="5400000">
            <a:off x="-365400" y="3779280"/>
            <a:ext cx="3017160" cy="30600"/>
          </a:xfrm>
          <a:prstGeom prst="rect">
            <a:avLst/>
          </a:prstGeom>
          <a:solidFill>
            <a:srgbClr val="bcc7d0"/>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210" name="Shape 5"/>
          <p:cNvSpPr/>
          <p:nvPr/>
        </p:nvSpPr>
        <p:spPr>
          <a:xfrm rot="19931400">
            <a:off x="1191240" y="3681000"/>
            <a:ext cx="4703400" cy="44280"/>
          </a:xfrm>
          <a:prstGeom prst="rect">
            <a:avLst/>
          </a:prstGeom>
          <a:solidFill>
            <a:srgbClr val="ff6b35"/>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211" name="Shape 6"/>
          <p:cNvSpPr/>
          <p:nvPr/>
        </p:nvSpPr>
        <p:spPr>
          <a:xfrm rot="5400000">
            <a:off x="1623600" y="4315680"/>
            <a:ext cx="502560" cy="32400"/>
          </a:xfrm>
          <a:prstGeom prst="rect">
            <a:avLst/>
          </a:prstGeom>
          <a:solidFill>
            <a:srgbClr val="9aa8b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212" name="Shape 7"/>
          <p:cNvSpPr/>
          <p:nvPr/>
        </p:nvSpPr>
        <p:spPr>
          <a:xfrm>
            <a:off x="1796760" y="4002840"/>
            <a:ext cx="155160" cy="15516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13" name="Shape 8"/>
          <p:cNvSpPr/>
          <p:nvPr/>
        </p:nvSpPr>
        <p:spPr>
          <a:xfrm rot="5400000">
            <a:off x="2414520" y="4373280"/>
            <a:ext cx="383760" cy="32400"/>
          </a:xfrm>
          <a:prstGeom prst="rect">
            <a:avLst/>
          </a:prstGeom>
          <a:solidFill>
            <a:srgbClr val="9aa8b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214" name="Shape 9"/>
          <p:cNvSpPr/>
          <p:nvPr/>
        </p:nvSpPr>
        <p:spPr>
          <a:xfrm>
            <a:off x="2528280" y="4503960"/>
            <a:ext cx="155160" cy="15516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15" name="Shape 10"/>
          <p:cNvSpPr/>
          <p:nvPr/>
        </p:nvSpPr>
        <p:spPr>
          <a:xfrm rot="5400000">
            <a:off x="3178080" y="3635280"/>
            <a:ext cx="319680" cy="32400"/>
          </a:xfrm>
          <a:prstGeom prst="rect">
            <a:avLst/>
          </a:prstGeom>
          <a:solidFill>
            <a:srgbClr val="9aa8b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216" name="Shape 11"/>
          <p:cNvSpPr/>
          <p:nvPr/>
        </p:nvSpPr>
        <p:spPr>
          <a:xfrm>
            <a:off x="3259800" y="3414240"/>
            <a:ext cx="155160" cy="15516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17" name="Shape 12"/>
          <p:cNvSpPr/>
          <p:nvPr/>
        </p:nvSpPr>
        <p:spPr>
          <a:xfrm rot="5400000">
            <a:off x="3840840" y="3659760"/>
            <a:ext cx="548280" cy="32400"/>
          </a:xfrm>
          <a:prstGeom prst="rect">
            <a:avLst/>
          </a:prstGeom>
          <a:solidFill>
            <a:srgbClr val="9aa8b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218" name="Shape 13"/>
          <p:cNvSpPr/>
          <p:nvPr/>
        </p:nvSpPr>
        <p:spPr>
          <a:xfrm>
            <a:off x="4037040" y="3872880"/>
            <a:ext cx="155160" cy="15516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19" name="Shape 14"/>
          <p:cNvSpPr/>
          <p:nvPr/>
        </p:nvSpPr>
        <p:spPr>
          <a:xfrm rot="5400000">
            <a:off x="4755240" y="2838240"/>
            <a:ext cx="273960" cy="32400"/>
          </a:xfrm>
          <a:prstGeom prst="rect">
            <a:avLst/>
          </a:prstGeom>
          <a:solidFill>
            <a:srgbClr val="9aa8b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220" name="Shape 15"/>
          <p:cNvSpPr/>
          <p:nvPr/>
        </p:nvSpPr>
        <p:spPr>
          <a:xfrm>
            <a:off x="4814280" y="2639880"/>
            <a:ext cx="155160" cy="15516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21" name="Text 16"/>
          <p:cNvSpPr/>
          <p:nvPr/>
        </p:nvSpPr>
        <p:spPr>
          <a:xfrm>
            <a:off x="1143000" y="5330880"/>
            <a:ext cx="292572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trike="noStrike" u="none">
                <a:solidFill>
                  <a:srgbClr val="5d6e7c"/>
                </a:solidFill>
                <a:effectLst/>
                <a:uFillTx/>
                <a:latin typeface="Calibri"/>
                <a:ea typeface="Calibri"/>
              </a:rPr>
              <a:t>residual = ŷ – y</a:t>
            </a:r>
            <a:endParaRPr b="0" lang="en-US" sz="1400" strike="noStrike" u="none">
              <a:solidFill>
                <a:srgbClr val="000000"/>
              </a:solidFill>
              <a:effectLst/>
              <a:uFillTx/>
              <a:latin typeface="Arial"/>
            </a:endParaRPr>
          </a:p>
        </p:txBody>
      </p:sp>
      <p:sp>
        <p:nvSpPr>
          <p:cNvPr id="222" name="Text 17"/>
          <p:cNvSpPr/>
          <p:nvPr/>
        </p:nvSpPr>
        <p:spPr>
          <a:xfrm>
            <a:off x="6492240" y="1965960"/>
            <a:ext cx="505620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3000" strike="noStrike" u="none">
                <a:solidFill>
                  <a:srgbClr val="14202b"/>
                </a:solidFill>
                <a:effectLst/>
                <a:uFillTx/>
                <a:latin typeface="Cambria"/>
                <a:ea typeface="Cambria"/>
              </a:rPr>
              <a:t>MSE = </a:t>
            </a:r>
            <a:r>
              <a:rPr b="0" lang="en-US" sz="3000" strike="noStrike" u="none">
                <a:solidFill>
                  <a:srgbClr val="5d6e7c"/>
                </a:solidFill>
                <a:effectLst/>
                <a:uFillTx/>
                <a:latin typeface="Cambria"/>
                <a:ea typeface="Cambria"/>
              </a:rPr>
              <a:t>1/n</a:t>
            </a:r>
            <a:r>
              <a:rPr b="0" lang="en-US" sz="3000" strike="noStrike" u="none">
                <a:solidFill>
                  <a:srgbClr val="14202b"/>
                </a:solidFill>
                <a:effectLst/>
                <a:uFillTx/>
                <a:latin typeface="Cambria"/>
                <a:ea typeface="Cambria"/>
              </a:rPr>
              <a:t> Σ (ŷ</a:t>
            </a:r>
            <a:r>
              <a:rPr b="0" lang="en-US" sz="3000" strike="noStrike" u="none" baseline="-40000">
                <a:solidFill>
                  <a:srgbClr val="5d6e7c"/>
                </a:solidFill>
                <a:effectLst/>
                <a:uFillTx/>
                <a:latin typeface="Cambria"/>
                <a:ea typeface="Cambria"/>
              </a:rPr>
              <a:t>i</a:t>
            </a:r>
            <a:r>
              <a:rPr b="0" lang="en-US" sz="3000" strike="noStrike" u="none">
                <a:solidFill>
                  <a:srgbClr val="14202b"/>
                </a:solidFill>
                <a:effectLst/>
                <a:uFillTx/>
                <a:latin typeface="Cambria"/>
                <a:ea typeface="Cambria"/>
              </a:rPr>
              <a:t> – y</a:t>
            </a:r>
            <a:r>
              <a:rPr b="0" lang="en-US" sz="3000" strike="noStrike" u="none" baseline="-40000">
                <a:solidFill>
                  <a:srgbClr val="5d6e7c"/>
                </a:solidFill>
                <a:effectLst/>
                <a:uFillTx/>
                <a:latin typeface="Cambria"/>
                <a:ea typeface="Cambria"/>
              </a:rPr>
              <a:t>i</a:t>
            </a:r>
            <a:r>
              <a:rPr b="0" lang="en-US" sz="3000" strike="noStrike" u="none">
                <a:solidFill>
                  <a:srgbClr val="14202b"/>
                </a:solidFill>
                <a:effectLst/>
                <a:uFillTx/>
                <a:latin typeface="Cambria"/>
                <a:ea typeface="Cambria"/>
              </a:rPr>
              <a:t>)²</a:t>
            </a:r>
            <a:endParaRPr b="0" lang="en-US" sz="3000" strike="noStrike" u="none">
              <a:solidFill>
                <a:srgbClr val="000000"/>
              </a:solidFill>
              <a:effectLst/>
              <a:uFillTx/>
              <a:latin typeface="Arial"/>
            </a:endParaRPr>
          </a:p>
        </p:txBody>
      </p:sp>
      <p:sp>
        <p:nvSpPr>
          <p:cNvPr id="223" name="Shape 18"/>
          <p:cNvSpPr/>
          <p:nvPr/>
        </p:nvSpPr>
        <p:spPr>
          <a:xfrm>
            <a:off x="6492240" y="3017520"/>
            <a:ext cx="365400" cy="36540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24" name="Text 19"/>
          <p:cNvSpPr/>
          <p:nvPr/>
        </p:nvSpPr>
        <p:spPr>
          <a:xfrm>
            <a:off x="6492240" y="3017520"/>
            <a:ext cx="365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1</a:t>
            </a:r>
            <a:endParaRPr b="0" lang="en-US" sz="1600" strike="noStrike" u="none">
              <a:solidFill>
                <a:srgbClr val="000000"/>
              </a:solidFill>
              <a:effectLst/>
              <a:uFillTx/>
              <a:latin typeface="Arial"/>
            </a:endParaRPr>
          </a:p>
        </p:txBody>
      </p:sp>
      <p:sp>
        <p:nvSpPr>
          <p:cNvPr id="225" name="Text 20"/>
          <p:cNvSpPr/>
          <p:nvPr/>
        </p:nvSpPr>
        <p:spPr>
          <a:xfrm>
            <a:off x="7040880" y="2971800"/>
            <a:ext cx="4480200" cy="347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Subtract</a:t>
            </a:r>
            <a:endParaRPr b="0" lang="en-US" sz="1800" strike="noStrike" u="none">
              <a:solidFill>
                <a:srgbClr val="000000"/>
              </a:solidFill>
              <a:effectLst/>
              <a:uFillTx/>
              <a:latin typeface="Arial"/>
            </a:endParaRPr>
          </a:p>
        </p:txBody>
      </p:sp>
      <p:sp>
        <p:nvSpPr>
          <p:cNvPr id="226" name="Text 21"/>
          <p:cNvSpPr/>
          <p:nvPr/>
        </p:nvSpPr>
        <p:spPr>
          <a:xfrm>
            <a:off x="7040880" y="3310200"/>
            <a:ext cx="448020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50" strike="noStrike" u="none">
                <a:solidFill>
                  <a:srgbClr val="5d6e7c"/>
                </a:solidFill>
                <a:effectLst/>
                <a:uFillTx/>
                <a:latin typeface="Calibri"/>
                <a:ea typeface="Calibri"/>
              </a:rPr>
              <a:t>Predicted minus actual, for one row.</a:t>
            </a:r>
            <a:endParaRPr b="0" lang="en-US" sz="1450" strike="noStrike" u="none">
              <a:solidFill>
                <a:srgbClr val="000000"/>
              </a:solidFill>
              <a:effectLst/>
              <a:uFillTx/>
              <a:latin typeface="Arial"/>
            </a:endParaRPr>
          </a:p>
        </p:txBody>
      </p:sp>
      <p:sp>
        <p:nvSpPr>
          <p:cNvPr id="227" name="Shape 22"/>
          <p:cNvSpPr/>
          <p:nvPr/>
        </p:nvSpPr>
        <p:spPr>
          <a:xfrm>
            <a:off x="6492240" y="3977640"/>
            <a:ext cx="365400" cy="36540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28" name="Text 23"/>
          <p:cNvSpPr/>
          <p:nvPr/>
        </p:nvSpPr>
        <p:spPr>
          <a:xfrm>
            <a:off x="6492240" y="3977640"/>
            <a:ext cx="365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2</a:t>
            </a:r>
            <a:endParaRPr b="0" lang="en-US" sz="1600" strike="noStrike" u="none">
              <a:solidFill>
                <a:srgbClr val="000000"/>
              </a:solidFill>
              <a:effectLst/>
              <a:uFillTx/>
              <a:latin typeface="Arial"/>
            </a:endParaRPr>
          </a:p>
        </p:txBody>
      </p:sp>
      <p:sp>
        <p:nvSpPr>
          <p:cNvPr id="229" name="Text 24"/>
          <p:cNvSpPr/>
          <p:nvPr/>
        </p:nvSpPr>
        <p:spPr>
          <a:xfrm>
            <a:off x="7040880" y="3931920"/>
            <a:ext cx="4480200" cy="347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Square</a:t>
            </a:r>
            <a:endParaRPr b="0" lang="en-US" sz="1800" strike="noStrike" u="none">
              <a:solidFill>
                <a:srgbClr val="000000"/>
              </a:solidFill>
              <a:effectLst/>
              <a:uFillTx/>
              <a:latin typeface="Arial"/>
            </a:endParaRPr>
          </a:p>
        </p:txBody>
      </p:sp>
      <p:sp>
        <p:nvSpPr>
          <p:cNvPr id="230" name="Text 25"/>
          <p:cNvSpPr/>
          <p:nvPr/>
        </p:nvSpPr>
        <p:spPr>
          <a:xfrm>
            <a:off x="7040880" y="4270320"/>
            <a:ext cx="448020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50" strike="noStrike" u="none">
                <a:solidFill>
                  <a:srgbClr val="5d6e7c"/>
                </a:solidFill>
                <a:effectLst/>
                <a:uFillTx/>
                <a:latin typeface="Calibri"/>
                <a:ea typeface="Calibri"/>
              </a:rPr>
              <a:t>Kills the sign, and punishes big misses hard.</a:t>
            </a:r>
            <a:endParaRPr b="0" lang="en-US" sz="1450" strike="noStrike" u="none">
              <a:solidFill>
                <a:srgbClr val="000000"/>
              </a:solidFill>
              <a:effectLst/>
              <a:uFillTx/>
              <a:latin typeface="Arial"/>
            </a:endParaRPr>
          </a:p>
        </p:txBody>
      </p:sp>
      <p:sp>
        <p:nvSpPr>
          <p:cNvPr id="231" name="Shape 26"/>
          <p:cNvSpPr/>
          <p:nvPr/>
        </p:nvSpPr>
        <p:spPr>
          <a:xfrm>
            <a:off x="6492240" y="4937760"/>
            <a:ext cx="365400" cy="36540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2" name="Text 27"/>
          <p:cNvSpPr/>
          <p:nvPr/>
        </p:nvSpPr>
        <p:spPr>
          <a:xfrm>
            <a:off x="6492240" y="4937760"/>
            <a:ext cx="365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3</a:t>
            </a:r>
            <a:endParaRPr b="0" lang="en-US" sz="1600" strike="noStrike" u="none">
              <a:solidFill>
                <a:srgbClr val="000000"/>
              </a:solidFill>
              <a:effectLst/>
              <a:uFillTx/>
              <a:latin typeface="Arial"/>
            </a:endParaRPr>
          </a:p>
        </p:txBody>
      </p:sp>
      <p:sp>
        <p:nvSpPr>
          <p:cNvPr id="233" name="Text 28"/>
          <p:cNvSpPr/>
          <p:nvPr/>
        </p:nvSpPr>
        <p:spPr>
          <a:xfrm>
            <a:off x="7040880" y="4892040"/>
            <a:ext cx="4480200" cy="347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Average</a:t>
            </a:r>
            <a:endParaRPr b="0" lang="en-US" sz="1800" strike="noStrike" u="none">
              <a:solidFill>
                <a:srgbClr val="000000"/>
              </a:solidFill>
              <a:effectLst/>
              <a:uFillTx/>
              <a:latin typeface="Arial"/>
            </a:endParaRPr>
          </a:p>
        </p:txBody>
      </p:sp>
      <p:sp>
        <p:nvSpPr>
          <p:cNvPr id="234" name="Text 29"/>
          <p:cNvSpPr/>
          <p:nvPr/>
        </p:nvSpPr>
        <p:spPr>
          <a:xfrm>
            <a:off x="7040880" y="5230440"/>
            <a:ext cx="448020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50" strike="noStrike" u="none">
                <a:solidFill>
                  <a:srgbClr val="5d6e7c"/>
                </a:solidFill>
                <a:effectLst/>
                <a:uFillTx/>
                <a:latin typeface="Calibri"/>
                <a:ea typeface="Calibri"/>
              </a:rPr>
              <a:t>One number for the whole dataset.</a:t>
            </a:r>
            <a:endParaRPr b="0" lang="en-US" sz="1450" strike="noStrike" u="none">
              <a:solidFill>
                <a:srgbClr val="000000"/>
              </a:solidFill>
              <a:effectLst/>
              <a:uFillTx/>
              <a:latin typeface="Arial"/>
            </a:endParaRPr>
          </a:p>
        </p:txBody>
      </p:sp>
      <p:sp>
        <p:nvSpPr>
          <p:cNvPr id="235" name="Text 30"/>
          <p:cNvSpPr/>
          <p:nvPr/>
        </p:nvSpPr>
        <p:spPr>
          <a:xfrm>
            <a:off x="6492240" y="5897880"/>
            <a:ext cx="505620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trike="noStrike" u="none">
                <a:solidFill>
                  <a:srgbClr val="0e7c86"/>
                </a:solidFill>
                <a:effectLst/>
                <a:uFillTx/>
                <a:latin typeface="Calibri"/>
                <a:ea typeface="Calibri"/>
              </a:rPr>
              <a:t>Low loss = good line. Finding the lowest is its own problem.</a:t>
            </a:r>
            <a:endParaRPr b="0" lang="en-US" sz="15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4202b"/>
        </a:solidFill>
      </p:bgPr>
    </p:bg>
    <p:spTree>
      <p:nvGrpSpPr>
        <p:cNvPr id="1" name=""/>
        <p:cNvGrpSpPr/>
        <p:nvPr/>
      </p:nvGrpSpPr>
      <p:grpSpPr>
        <a:xfrm>
          <a:off x="0" y="0"/>
          <a:ext cx="0" cy="0"/>
          <a:chOff x="0" y="0"/>
          <a:chExt cx="0" cy="0"/>
        </a:xfrm>
      </p:grpSpPr>
      <p:sp>
        <p:nvSpPr>
          <p:cNvPr id="236" name="Text 0"/>
          <p:cNvSpPr/>
          <p:nvPr/>
        </p:nvSpPr>
        <p:spPr>
          <a:xfrm>
            <a:off x="640080" y="1645920"/>
            <a:ext cx="1088100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3800" strike="noStrike" u="none">
                <a:solidFill>
                  <a:srgbClr val="ffffff"/>
                </a:solidFill>
                <a:effectLst/>
                <a:uFillTx/>
                <a:latin typeface="Cambria"/>
                <a:ea typeface="Cambria"/>
              </a:rPr>
              <a:t>The if-statements were not wrong.</a:t>
            </a:r>
            <a:endParaRPr b="0" lang="en-US" sz="3800" strike="noStrike" u="none">
              <a:solidFill>
                <a:srgbClr val="ffffff"/>
              </a:solidFill>
              <a:effectLst/>
              <a:uFillTx/>
              <a:latin typeface="Arial"/>
            </a:endParaRPr>
          </a:p>
        </p:txBody>
      </p:sp>
      <p:sp>
        <p:nvSpPr>
          <p:cNvPr id="237" name="Text 1"/>
          <p:cNvSpPr/>
          <p:nvPr/>
        </p:nvSpPr>
        <p:spPr>
          <a:xfrm>
            <a:off x="640080" y="2468880"/>
            <a:ext cx="1088100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400" strike="noStrike" u="none">
                <a:solidFill>
                  <a:srgbClr val="ff6b35"/>
                </a:solidFill>
                <a:effectLst/>
                <a:uFillTx/>
                <a:latin typeface="Cambria"/>
                <a:ea typeface="Cambria"/>
              </a:rPr>
              <a:t>They were just hand-written.</a:t>
            </a:r>
            <a:endParaRPr b="0" lang="en-US" sz="4400" strike="noStrike" u="none">
              <a:solidFill>
                <a:srgbClr val="ffffff"/>
              </a:solidFill>
              <a:effectLst/>
              <a:uFillTx/>
              <a:latin typeface="Arial"/>
            </a:endParaRPr>
          </a:p>
        </p:txBody>
      </p:sp>
      <p:sp>
        <p:nvSpPr>
          <p:cNvPr id="238" name="Text 2"/>
          <p:cNvSpPr/>
          <p:nvPr/>
        </p:nvSpPr>
        <p:spPr>
          <a:xfrm>
            <a:off x="640080" y="3703320"/>
            <a:ext cx="10881000" cy="868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900" strike="noStrike" u="none">
                <a:solidFill>
                  <a:srgbClr val="aebecb"/>
                </a:solidFill>
                <a:effectLst/>
                <a:uFillTx/>
                <a:latin typeface="Calibri"/>
                <a:ea typeface="Calibri"/>
              </a:rPr>
              <a:t>A decision tree keeps that exact structure and lets the data choose the questions, the thresholds, and the answers.</a:t>
            </a:r>
            <a:endParaRPr b="0" lang="en-US" sz="1900" strike="noStrike" u="none">
              <a:solidFill>
                <a:srgbClr val="ffffff"/>
              </a:solidFill>
              <a:effectLst/>
              <a:uFillTx/>
              <a:latin typeface="Arial"/>
            </a:endParaRPr>
          </a:p>
        </p:txBody>
      </p:sp>
      <p:sp>
        <p:nvSpPr>
          <p:cNvPr id="239" name="Shape 3"/>
          <p:cNvSpPr/>
          <p:nvPr/>
        </p:nvSpPr>
        <p:spPr>
          <a:xfrm>
            <a:off x="640080" y="484632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0" name="Text 4"/>
          <p:cNvSpPr/>
          <p:nvPr/>
        </p:nvSpPr>
        <p:spPr>
          <a:xfrm>
            <a:off x="640080" y="484632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ff6b35"/>
                </a:solidFill>
                <a:effectLst/>
                <a:uFillTx/>
                <a:latin typeface="Calibri"/>
                <a:ea typeface="Calibri"/>
              </a:rPr>
              <a:t>Decision tree</a:t>
            </a:r>
            <a:endParaRPr b="0" lang="en-US" sz="1800" strike="noStrike" u="none">
              <a:solidFill>
                <a:srgbClr val="ffffff"/>
              </a:solidFill>
              <a:effectLst/>
              <a:uFillTx/>
              <a:latin typeface="Arial"/>
            </a:endParaRPr>
          </a:p>
        </p:txBody>
      </p:sp>
      <p:sp>
        <p:nvSpPr>
          <p:cNvPr id="241" name="Shape 5"/>
          <p:cNvSpPr/>
          <p:nvPr/>
        </p:nvSpPr>
        <p:spPr>
          <a:xfrm>
            <a:off x="4370760" y="484632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2" name="Text 6"/>
          <p:cNvSpPr/>
          <p:nvPr/>
        </p:nvSpPr>
        <p:spPr>
          <a:xfrm>
            <a:off x="4370760" y="484632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d6e0e8"/>
                </a:solidFill>
                <a:effectLst/>
                <a:uFillTx/>
                <a:latin typeface="Calibri"/>
                <a:ea typeface="Calibri"/>
              </a:rPr>
              <a:t>Random forest</a:t>
            </a:r>
            <a:endParaRPr b="0" lang="en-US" sz="1800" strike="noStrike" u="none">
              <a:solidFill>
                <a:srgbClr val="ffffff"/>
              </a:solidFill>
              <a:effectLst/>
              <a:uFillTx/>
              <a:latin typeface="Arial"/>
            </a:endParaRPr>
          </a:p>
        </p:txBody>
      </p:sp>
      <p:sp>
        <p:nvSpPr>
          <p:cNvPr id="243" name="Shape 7"/>
          <p:cNvSpPr/>
          <p:nvPr/>
        </p:nvSpPr>
        <p:spPr>
          <a:xfrm>
            <a:off x="8101440" y="484632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4" name="Text 8"/>
          <p:cNvSpPr/>
          <p:nvPr/>
        </p:nvSpPr>
        <p:spPr>
          <a:xfrm>
            <a:off x="8101440" y="484632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d6e0e8"/>
                </a:solidFill>
                <a:effectLst/>
                <a:uFillTx/>
                <a:latin typeface="Calibri"/>
                <a:ea typeface="Calibri"/>
              </a:rPr>
              <a:t>Gradient boosting</a:t>
            </a:r>
            <a:endParaRPr b="0" lang="en-US" sz="18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5"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MODEL TWO</a:t>
            </a:r>
            <a:endParaRPr b="0" lang="en-US" sz="1200" strike="noStrike" u="none">
              <a:solidFill>
                <a:srgbClr val="000000"/>
              </a:solidFill>
              <a:effectLst/>
              <a:uFillTx/>
              <a:latin typeface="Arial"/>
            </a:endParaRPr>
          </a:p>
        </p:txBody>
      </p:sp>
      <p:sp>
        <p:nvSpPr>
          <p:cNvPr id="246"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The tree picks its own thresholds</a:t>
            </a:r>
            <a:endParaRPr b="0" lang="en-US" sz="3200" strike="noStrike" u="none">
              <a:solidFill>
                <a:srgbClr val="000000"/>
              </a:solidFill>
              <a:effectLst/>
              <a:uFillTx/>
              <a:latin typeface="Arial"/>
            </a:endParaRPr>
          </a:p>
        </p:txBody>
      </p:sp>
      <p:sp>
        <p:nvSpPr>
          <p:cNvPr id="247" name="Shape 2"/>
          <p:cNvSpPr/>
          <p:nvPr/>
        </p:nvSpPr>
        <p:spPr>
          <a:xfrm rot="9866400">
            <a:off x="3518280" y="2786400"/>
            <a:ext cx="262404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248" name="Text 3"/>
          <p:cNvSpPr/>
          <p:nvPr/>
        </p:nvSpPr>
        <p:spPr>
          <a:xfrm>
            <a:off x="4373280" y="2509920"/>
            <a:ext cx="54828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5d6e7c"/>
                </a:solidFill>
                <a:effectLst/>
                <a:uFillTx/>
                <a:latin typeface="Calibri"/>
                <a:ea typeface="Calibri"/>
              </a:rPr>
              <a:t>yes</a:t>
            </a:r>
            <a:endParaRPr b="0" lang="en-US" sz="1200" strike="noStrike" u="none">
              <a:solidFill>
                <a:srgbClr val="000000"/>
              </a:solidFill>
              <a:effectLst/>
              <a:uFillTx/>
              <a:latin typeface="Arial"/>
            </a:endParaRPr>
          </a:p>
        </p:txBody>
      </p:sp>
      <p:sp>
        <p:nvSpPr>
          <p:cNvPr id="249" name="Shape 4"/>
          <p:cNvSpPr/>
          <p:nvPr/>
        </p:nvSpPr>
        <p:spPr>
          <a:xfrm rot="933600">
            <a:off x="6046200" y="2785680"/>
            <a:ext cx="262404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250" name="Text 5"/>
          <p:cNvSpPr/>
          <p:nvPr/>
        </p:nvSpPr>
        <p:spPr>
          <a:xfrm>
            <a:off x="7267320" y="2509920"/>
            <a:ext cx="54828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5d6e7c"/>
                </a:solidFill>
                <a:effectLst/>
                <a:uFillTx/>
                <a:latin typeface="Calibri"/>
                <a:ea typeface="Calibri"/>
              </a:rPr>
              <a:t>no</a:t>
            </a:r>
            <a:endParaRPr b="0" lang="en-US" sz="1200" strike="noStrike" u="none">
              <a:solidFill>
                <a:srgbClr val="000000"/>
              </a:solidFill>
              <a:effectLst/>
              <a:uFillTx/>
              <a:latin typeface="Arial"/>
            </a:endParaRPr>
          </a:p>
        </p:txBody>
      </p:sp>
      <p:sp>
        <p:nvSpPr>
          <p:cNvPr id="251" name="Shape 6"/>
          <p:cNvSpPr/>
          <p:nvPr/>
        </p:nvSpPr>
        <p:spPr>
          <a:xfrm rot="9399600">
            <a:off x="1751760" y="4134960"/>
            <a:ext cx="189180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252" name="Text 7"/>
          <p:cNvSpPr/>
          <p:nvPr/>
        </p:nvSpPr>
        <p:spPr>
          <a:xfrm>
            <a:off x="2240280" y="3858840"/>
            <a:ext cx="54828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5d6e7c"/>
                </a:solidFill>
                <a:effectLst/>
                <a:uFillTx/>
                <a:latin typeface="Calibri"/>
                <a:ea typeface="Calibri"/>
              </a:rPr>
              <a:t>yes</a:t>
            </a:r>
            <a:endParaRPr b="0" lang="en-US" sz="1200" strike="noStrike" u="none">
              <a:solidFill>
                <a:srgbClr val="000000"/>
              </a:solidFill>
              <a:effectLst/>
              <a:uFillTx/>
              <a:latin typeface="Arial"/>
            </a:endParaRPr>
          </a:p>
        </p:txBody>
      </p:sp>
      <p:sp>
        <p:nvSpPr>
          <p:cNvPr id="253" name="Shape 8"/>
          <p:cNvSpPr/>
          <p:nvPr/>
        </p:nvSpPr>
        <p:spPr>
          <a:xfrm rot="1876200">
            <a:off x="3461400" y="4134600"/>
            <a:ext cx="144396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254" name="Text 9"/>
          <p:cNvSpPr/>
          <p:nvPr/>
        </p:nvSpPr>
        <p:spPr>
          <a:xfrm>
            <a:off x="4092120" y="3858840"/>
            <a:ext cx="54828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5d6e7c"/>
                </a:solidFill>
                <a:effectLst/>
                <a:uFillTx/>
                <a:latin typeface="Calibri"/>
                <a:ea typeface="Calibri"/>
              </a:rPr>
              <a:t>no</a:t>
            </a:r>
            <a:endParaRPr b="0" lang="en-US" sz="1200" strike="noStrike" u="none">
              <a:solidFill>
                <a:srgbClr val="000000"/>
              </a:solidFill>
              <a:effectLst/>
              <a:uFillTx/>
              <a:latin typeface="Arial"/>
            </a:endParaRPr>
          </a:p>
        </p:txBody>
      </p:sp>
      <p:sp>
        <p:nvSpPr>
          <p:cNvPr id="255" name="Shape 10"/>
          <p:cNvSpPr/>
          <p:nvPr/>
        </p:nvSpPr>
        <p:spPr>
          <a:xfrm rot="8956800">
            <a:off x="7257960" y="4134960"/>
            <a:ext cx="146736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256" name="Text 11"/>
          <p:cNvSpPr/>
          <p:nvPr/>
        </p:nvSpPr>
        <p:spPr>
          <a:xfrm>
            <a:off x="7534800" y="3858840"/>
            <a:ext cx="54828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5d6e7c"/>
                </a:solidFill>
                <a:effectLst/>
                <a:uFillTx/>
                <a:latin typeface="Calibri"/>
                <a:ea typeface="Calibri"/>
              </a:rPr>
              <a:t>yes</a:t>
            </a:r>
            <a:endParaRPr b="0" lang="en-US" sz="1200" strike="noStrike" u="none">
              <a:solidFill>
                <a:srgbClr val="000000"/>
              </a:solidFill>
              <a:effectLst/>
              <a:uFillTx/>
              <a:latin typeface="Arial"/>
            </a:endParaRPr>
          </a:p>
        </p:txBody>
      </p:sp>
      <p:sp>
        <p:nvSpPr>
          <p:cNvPr id="257" name="Shape 12"/>
          <p:cNvSpPr/>
          <p:nvPr/>
        </p:nvSpPr>
        <p:spPr>
          <a:xfrm rot="1420800">
            <a:off x="8544240" y="4134600"/>
            <a:ext cx="186660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258" name="Text 13"/>
          <p:cNvSpPr/>
          <p:nvPr/>
        </p:nvSpPr>
        <p:spPr>
          <a:xfrm>
            <a:off x="9386280" y="3858840"/>
            <a:ext cx="54828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5d6e7c"/>
                </a:solidFill>
                <a:effectLst/>
                <a:uFillTx/>
                <a:latin typeface="Calibri"/>
                <a:ea typeface="Calibri"/>
              </a:rPr>
              <a:t>no</a:t>
            </a:r>
            <a:endParaRPr b="0" lang="en-US" sz="1200" strike="noStrike" u="none">
              <a:solidFill>
                <a:srgbClr val="000000"/>
              </a:solidFill>
              <a:effectLst/>
              <a:uFillTx/>
              <a:latin typeface="Arial"/>
            </a:endParaRPr>
          </a:p>
        </p:txBody>
      </p:sp>
      <p:sp>
        <p:nvSpPr>
          <p:cNvPr id="259" name="Shape 14"/>
          <p:cNvSpPr/>
          <p:nvPr/>
        </p:nvSpPr>
        <p:spPr>
          <a:xfrm>
            <a:off x="4951440" y="1828800"/>
            <a:ext cx="2285640" cy="621360"/>
          </a:xfrm>
          <a:prstGeom prst="roundRect">
            <a:avLst>
              <a:gd name="adj" fmla="val 11765"/>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60" name="Text 15"/>
          <p:cNvSpPr/>
          <p:nvPr/>
        </p:nvSpPr>
        <p:spPr>
          <a:xfrm>
            <a:off x="4951440" y="1828800"/>
            <a:ext cx="2285640" cy="6213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400" strike="noStrike" u="none">
                <a:solidFill>
                  <a:srgbClr val="ffffff"/>
                </a:solidFill>
                <a:effectLst/>
                <a:uFillTx/>
                <a:latin typeface="Courier New"/>
                <a:ea typeface="Courier New"/>
              </a:rPr>
              <a:t>sqft &lt; 1,450 ?</a:t>
            </a:r>
            <a:endParaRPr b="0" lang="en-US" sz="1400" strike="noStrike" u="none">
              <a:solidFill>
                <a:srgbClr val="000000"/>
              </a:solidFill>
              <a:effectLst/>
              <a:uFillTx/>
              <a:latin typeface="Arial"/>
            </a:endParaRPr>
          </a:p>
        </p:txBody>
      </p:sp>
      <p:sp>
        <p:nvSpPr>
          <p:cNvPr id="261" name="Shape 16"/>
          <p:cNvSpPr/>
          <p:nvPr/>
        </p:nvSpPr>
        <p:spPr>
          <a:xfrm>
            <a:off x="2423160" y="3154680"/>
            <a:ext cx="2285640" cy="621360"/>
          </a:xfrm>
          <a:prstGeom prst="roundRect">
            <a:avLst>
              <a:gd name="adj" fmla="val 11765"/>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62" name="Text 17"/>
          <p:cNvSpPr/>
          <p:nvPr/>
        </p:nvSpPr>
        <p:spPr>
          <a:xfrm>
            <a:off x="2423160" y="3154680"/>
            <a:ext cx="2285640" cy="6213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400" strike="noStrike" u="none">
                <a:solidFill>
                  <a:srgbClr val="ffffff"/>
                </a:solidFill>
                <a:effectLst/>
                <a:uFillTx/>
                <a:latin typeface="Courier New"/>
                <a:ea typeface="Courier New"/>
              </a:rPr>
              <a:t>age &gt; 30 ?</a:t>
            </a:r>
            <a:endParaRPr b="0" lang="en-US" sz="1400" strike="noStrike" u="none">
              <a:solidFill>
                <a:srgbClr val="000000"/>
              </a:solidFill>
              <a:effectLst/>
              <a:uFillTx/>
              <a:latin typeface="Arial"/>
            </a:endParaRPr>
          </a:p>
        </p:txBody>
      </p:sp>
      <p:sp>
        <p:nvSpPr>
          <p:cNvPr id="263" name="Shape 18"/>
          <p:cNvSpPr/>
          <p:nvPr/>
        </p:nvSpPr>
        <p:spPr>
          <a:xfrm>
            <a:off x="7479720" y="3154680"/>
            <a:ext cx="2285640" cy="621360"/>
          </a:xfrm>
          <a:prstGeom prst="roundRect">
            <a:avLst>
              <a:gd name="adj" fmla="val 11765"/>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64" name="Text 19"/>
          <p:cNvSpPr/>
          <p:nvPr/>
        </p:nvSpPr>
        <p:spPr>
          <a:xfrm>
            <a:off x="7479720" y="3154680"/>
            <a:ext cx="2285640" cy="6213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400" strike="noStrike" u="none">
                <a:solidFill>
                  <a:srgbClr val="ffffff"/>
                </a:solidFill>
                <a:effectLst/>
                <a:uFillTx/>
                <a:latin typeface="Courier New"/>
                <a:ea typeface="Courier New"/>
              </a:rPr>
              <a:t>beds &lt; 4 ?</a:t>
            </a:r>
            <a:endParaRPr b="0" lang="en-US" sz="1400" strike="noStrike" u="none">
              <a:solidFill>
                <a:srgbClr val="000000"/>
              </a:solidFill>
              <a:effectLst/>
              <a:uFillTx/>
              <a:latin typeface="Arial"/>
            </a:endParaRPr>
          </a:p>
        </p:txBody>
      </p:sp>
      <p:sp>
        <p:nvSpPr>
          <p:cNvPr id="265" name="Shape 20"/>
          <p:cNvSpPr/>
          <p:nvPr/>
        </p:nvSpPr>
        <p:spPr>
          <a:xfrm>
            <a:off x="846000" y="4526280"/>
            <a:ext cx="1965600" cy="840960"/>
          </a:xfrm>
          <a:prstGeom prst="roundRect">
            <a:avLst>
              <a:gd name="adj" fmla="val 8696"/>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6" name="Text 21"/>
          <p:cNvSpPr/>
          <p:nvPr/>
        </p:nvSpPr>
        <p:spPr>
          <a:xfrm>
            <a:off x="846000" y="4636080"/>
            <a:ext cx="196560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trike="noStrike" u="none">
                <a:solidFill>
                  <a:srgbClr val="ff6b35"/>
                </a:solidFill>
                <a:effectLst/>
                <a:uFillTx/>
                <a:latin typeface="Cambria"/>
                <a:ea typeface="Cambria"/>
              </a:rPr>
              <a:t>$148,000</a:t>
            </a:r>
            <a:endParaRPr b="0" lang="en-US" sz="2000" strike="noStrike" u="none">
              <a:solidFill>
                <a:srgbClr val="000000"/>
              </a:solidFill>
              <a:effectLst/>
              <a:uFillTx/>
              <a:latin typeface="Arial"/>
            </a:endParaRPr>
          </a:p>
        </p:txBody>
      </p:sp>
      <p:sp>
        <p:nvSpPr>
          <p:cNvPr id="267" name="Text 22"/>
          <p:cNvSpPr/>
          <p:nvPr/>
        </p:nvSpPr>
        <p:spPr>
          <a:xfrm>
            <a:off x="846000" y="5029200"/>
            <a:ext cx="19656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200" strike="noStrike" u="none">
                <a:solidFill>
                  <a:srgbClr val="5d6e7c"/>
                </a:solidFill>
                <a:effectLst/>
                <a:uFillTx/>
                <a:latin typeface="Calibri"/>
                <a:ea typeface="Calibri"/>
              </a:rPr>
              <a:t>n = 61 houses</a:t>
            </a:r>
            <a:endParaRPr b="0" lang="en-US" sz="1200" strike="noStrike" u="none">
              <a:solidFill>
                <a:srgbClr val="000000"/>
              </a:solidFill>
              <a:effectLst/>
              <a:uFillTx/>
              <a:latin typeface="Arial"/>
            </a:endParaRPr>
          </a:p>
        </p:txBody>
      </p:sp>
      <p:sp>
        <p:nvSpPr>
          <p:cNvPr id="268" name="Shape 23"/>
          <p:cNvSpPr/>
          <p:nvPr/>
        </p:nvSpPr>
        <p:spPr>
          <a:xfrm>
            <a:off x="3817800" y="4526280"/>
            <a:ext cx="1965600" cy="840960"/>
          </a:xfrm>
          <a:prstGeom prst="roundRect">
            <a:avLst>
              <a:gd name="adj" fmla="val 8696"/>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9" name="Text 24"/>
          <p:cNvSpPr/>
          <p:nvPr/>
        </p:nvSpPr>
        <p:spPr>
          <a:xfrm>
            <a:off x="3817800" y="4636080"/>
            <a:ext cx="196560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trike="noStrike" u="none">
                <a:solidFill>
                  <a:srgbClr val="ff6b35"/>
                </a:solidFill>
                <a:effectLst/>
                <a:uFillTx/>
                <a:latin typeface="Cambria"/>
                <a:ea typeface="Cambria"/>
              </a:rPr>
              <a:t>$196,000</a:t>
            </a:r>
            <a:endParaRPr b="0" lang="en-US" sz="2000" strike="noStrike" u="none">
              <a:solidFill>
                <a:srgbClr val="000000"/>
              </a:solidFill>
              <a:effectLst/>
              <a:uFillTx/>
              <a:latin typeface="Arial"/>
            </a:endParaRPr>
          </a:p>
        </p:txBody>
      </p:sp>
      <p:sp>
        <p:nvSpPr>
          <p:cNvPr id="270" name="Text 25"/>
          <p:cNvSpPr/>
          <p:nvPr/>
        </p:nvSpPr>
        <p:spPr>
          <a:xfrm>
            <a:off x="3817800" y="5029200"/>
            <a:ext cx="19656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200" strike="noStrike" u="none">
                <a:solidFill>
                  <a:srgbClr val="5d6e7c"/>
                </a:solidFill>
                <a:effectLst/>
                <a:uFillTx/>
                <a:latin typeface="Calibri"/>
                <a:ea typeface="Calibri"/>
              </a:rPr>
              <a:t>n = 88 houses</a:t>
            </a:r>
            <a:endParaRPr b="0" lang="en-US" sz="1200" strike="noStrike" u="none">
              <a:solidFill>
                <a:srgbClr val="000000"/>
              </a:solidFill>
              <a:effectLst/>
              <a:uFillTx/>
              <a:latin typeface="Arial"/>
            </a:endParaRPr>
          </a:p>
        </p:txBody>
      </p:sp>
      <p:sp>
        <p:nvSpPr>
          <p:cNvPr id="271" name="Shape 26"/>
          <p:cNvSpPr/>
          <p:nvPr/>
        </p:nvSpPr>
        <p:spPr>
          <a:xfrm>
            <a:off x="6378120" y="4526280"/>
            <a:ext cx="1965600" cy="840960"/>
          </a:xfrm>
          <a:prstGeom prst="roundRect">
            <a:avLst>
              <a:gd name="adj" fmla="val 8696"/>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2" name="Text 27"/>
          <p:cNvSpPr/>
          <p:nvPr/>
        </p:nvSpPr>
        <p:spPr>
          <a:xfrm>
            <a:off x="6378120" y="4636080"/>
            <a:ext cx="196560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trike="noStrike" u="none">
                <a:solidFill>
                  <a:srgbClr val="ff6b35"/>
                </a:solidFill>
                <a:effectLst/>
                <a:uFillTx/>
                <a:latin typeface="Cambria"/>
                <a:ea typeface="Cambria"/>
              </a:rPr>
              <a:t>$258,000</a:t>
            </a:r>
            <a:endParaRPr b="0" lang="en-US" sz="2000" strike="noStrike" u="none">
              <a:solidFill>
                <a:srgbClr val="000000"/>
              </a:solidFill>
              <a:effectLst/>
              <a:uFillTx/>
              <a:latin typeface="Arial"/>
            </a:endParaRPr>
          </a:p>
        </p:txBody>
      </p:sp>
      <p:sp>
        <p:nvSpPr>
          <p:cNvPr id="273" name="Text 28"/>
          <p:cNvSpPr/>
          <p:nvPr/>
        </p:nvSpPr>
        <p:spPr>
          <a:xfrm>
            <a:off x="6378120" y="5029200"/>
            <a:ext cx="19656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200" strike="noStrike" u="none">
                <a:solidFill>
                  <a:srgbClr val="5d6e7c"/>
                </a:solidFill>
                <a:effectLst/>
                <a:uFillTx/>
                <a:latin typeface="Calibri"/>
                <a:ea typeface="Calibri"/>
              </a:rPr>
              <a:t>n = 74 houses</a:t>
            </a:r>
            <a:endParaRPr b="0" lang="en-US" sz="1200" strike="noStrike" u="none">
              <a:solidFill>
                <a:srgbClr val="000000"/>
              </a:solidFill>
              <a:effectLst/>
              <a:uFillTx/>
              <a:latin typeface="Arial"/>
            </a:endParaRPr>
          </a:p>
        </p:txBody>
      </p:sp>
      <p:sp>
        <p:nvSpPr>
          <p:cNvPr id="274" name="Shape 29"/>
          <p:cNvSpPr/>
          <p:nvPr/>
        </p:nvSpPr>
        <p:spPr>
          <a:xfrm>
            <a:off x="9349920" y="4526280"/>
            <a:ext cx="1965600" cy="840960"/>
          </a:xfrm>
          <a:prstGeom prst="roundRect">
            <a:avLst>
              <a:gd name="adj" fmla="val 8696"/>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5" name="Text 30"/>
          <p:cNvSpPr/>
          <p:nvPr/>
        </p:nvSpPr>
        <p:spPr>
          <a:xfrm>
            <a:off x="9349920" y="4636080"/>
            <a:ext cx="196560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trike="noStrike" u="none">
                <a:solidFill>
                  <a:srgbClr val="ff6b35"/>
                </a:solidFill>
                <a:effectLst/>
                <a:uFillTx/>
                <a:latin typeface="Cambria"/>
                <a:ea typeface="Cambria"/>
              </a:rPr>
              <a:t>$327,000</a:t>
            </a:r>
            <a:endParaRPr b="0" lang="en-US" sz="2000" strike="noStrike" u="none">
              <a:solidFill>
                <a:srgbClr val="000000"/>
              </a:solidFill>
              <a:effectLst/>
              <a:uFillTx/>
              <a:latin typeface="Arial"/>
            </a:endParaRPr>
          </a:p>
        </p:txBody>
      </p:sp>
      <p:sp>
        <p:nvSpPr>
          <p:cNvPr id="276" name="Text 31"/>
          <p:cNvSpPr/>
          <p:nvPr/>
        </p:nvSpPr>
        <p:spPr>
          <a:xfrm>
            <a:off x="9349920" y="5029200"/>
            <a:ext cx="19656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200" strike="noStrike" u="none">
                <a:solidFill>
                  <a:srgbClr val="5d6e7c"/>
                </a:solidFill>
                <a:effectLst/>
                <a:uFillTx/>
                <a:latin typeface="Calibri"/>
                <a:ea typeface="Calibri"/>
              </a:rPr>
              <a:t>n = 52 houses</a:t>
            </a:r>
            <a:endParaRPr b="0" lang="en-US" sz="1200" strike="noStrike" u="none">
              <a:solidFill>
                <a:srgbClr val="000000"/>
              </a:solidFill>
              <a:effectLst/>
              <a:uFillTx/>
              <a:latin typeface="Arial"/>
            </a:endParaRPr>
          </a:p>
        </p:txBody>
      </p:sp>
      <p:sp>
        <p:nvSpPr>
          <p:cNvPr id="277" name="Shape 32"/>
          <p:cNvSpPr/>
          <p:nvPr/>
        </p:nvSpPr>
        <p:spPr>
          <a:xfrm>
            <a:off x="640080" y="5623560"/>
            <a:ext cx="10911240" cy="776880"/>
          </a:xfrm>
          <a:prstGeom prst="roundRect">
            <a:avLst>
              <a:gd name="adj" fmla="val 9412"/>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8" name="Text 33"/>
          <p:cNvSpPr/>
          <p:nvPr/>
        </p:nvSpPr>
        <p:spPr>
          <a:xfrm>
            <a:off x="960120" y="5623560"/>
            <a:ext cx="1027116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14202b"/>
                </a:solidFill>
                <a:effectLst/>
                <a:uFillTx/>
                <a:latin typeface="Calibri"/>
                <a:ea typeface="Calibri"/>
              </a:rPr>
              <a:t>To predict:  </a:t>
            </a:r>
            <a:r>
              <a:rPr b="0" lang="en-US" sz="1600" strike="noStrike" u="none">
                <a:solidFill>
                  <a:srgbClr val="25323d"/>
                </a:solidFill>
                <a:effectLst/>
                <a:uFillTx/>
                <a:latin typeface="Calibri"/>
                <a:ea typeface="Calibri"/>
              </a:rPr>
              <a:t>answer the questions, land in a leaf, return that leaf's average price. Every threshold and every price on this slide came from the data.</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79"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TRAINING A TREE</a:t>
            </a:r>
            <a:endParaRPr b="0" lang="en-US" sz="1200" strike="noStrike" u="none">
              <a:solidFill>
                <a:srgbClr val="000000"/>
              </a:solidFill>
              <a:effectLst/>
              <a:uFillTx/>
              <a:latin typeface="Arial"/>
            </a:endParaRPr>
          </a:p>
        </p:txBody>
      </p:sp>
      <p:sp>
        <p:nvSpPr>
          <p:cNvPr id="280"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How it chooses a question</a:t>
            </a:r>
            <a:endParaRPr b="0" lang="en-US" sz="3200" strike="noStrike" u="none">
              <a:solidFill>
                <a:srgbClr val="000000"/>
              </a:solidFill>
              <a:effectLst/>
              <a:uFillTx/>
              <a:latin typeface="Arial"/>
            </a:endParaRPr>
          </a:p>
        </p:txBody>
      </p:sp>
      <p:sp>
        <p:nvSpPr>
          <p:cNvPr id="281" name="Shape 2"/>
          <p:cNvSpPr/>
          <p:nvPr/>
        </p:nvSpPr>
        <p:spPr>
          <a:xfrm>
            <a:off x="1097280" y="4784040"/>
            <a:ext cx="55774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282" name="Shape 3"/>
          <p:cNvSpPr/>
          <p:nvPr/>
        </p:nvSpPr>
        <p:spPr>
          <a:xfrm rot="5400000">
            <a:off x="-365040" y="3321000"/>
            <a:ext cx="292572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283" name="Shape 4"/>
          <p:cNvSpPr/>
          <p:nvPr/>
        </p:nvSpPr>
        <p:spPr>
          <a:xfrm rot="16200000">
            <a:off x="3006720" y="4680720"/>
            <a:ext cx="208800" cy="30600"/>
          </a:xfrm>
          <a:prstGeom prst="rect">
            <a:avLst/>
          </a:prstGeom>
          <a:solidFill>
            <a:srgbClr val="9aa8b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284" name="Shape 5"/>
          <p:cNvSpPr/>
          <p:nvPr/>
        </p:nvSpPr>
        <p:spPr>
          <a:xfrm rot="16200000">
            <a:off x="3006720" y="4262760"/>
            <a:ext cx="208800" cy="30600"/>
          </a:xfrm>
          <a:prstGeom prst="rect">
            <a:avLst/>
          </a:prstGeom>
          <a:solidFill>
            <a:srgbClr val="9aa8b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285" name="Shape 6"/>
          <p:cNvSpPr/>
          <p:nvPr/>
        </p:nvSpPr>
        <p:spPr>
          <a:xfrm rot="16200000">
            <a:off x="3006720" y="3844800"/>
            <a:ext cx="208800" cy="30600"/>
          </a:xfrm>
          <a:prstGeom prst="rect">
            <a:avLst/>
          </a:prstGeom>
          <a:solidFill>
            <a:srgbClr val="9aa8b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286" name="Shape 7"/>
          <p:cNvSpPr/>
          <p:nvPr/>
        </p:nvSpPr>
        <p:spPr>
          <a:xfrm rot="16200000">
            <a:off x="3006720" y="3426840"/>
            <a:ext cx="208800" cy="30600"/>
          </a:xfrm>
          <a:prstGeom prst="rect">
            <a:avLst/>
          </a:prstGeom>
          <a:solidFill>
            <a:srgbClr val="9aa8b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287" name="Shape 8"/>
          <p:cNvSpPr/>
          <p:nvPr/>
        </p:nvSpPr>
        <p:spPr>
          <a:xfrm rot="16200000">
            <a:off x="3006720" y="3008520"/>
            <a:ext cx="208800" cy="30600"/>
          </a:xfrm>
          <a:prstGeom prst="rect">
            <a:avLst/>
          </a:prstGeom>
          <a:solidFill>
            <a:srgbClr val="9aa8b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288" name="Shape 9"/>
          <p:cNvSpPr/>
          <p:nvPr/>
        </p:nvSpPr>
        <p:spPr>
          <a:xfrm rot="16200000">
            <a:off x="3006720" y="2590560"/>
            <a:ext cx="208800" cy="30600"/>
          </a:xfrm>
          <a:prstGeom prst="rect">
            <a:avLst/>
          </a:prstGeom>
          <a:solidFill>
            <a:srgbClr val="9aa8b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289" name="Shape 10"/>
          <p:cNvSpPr/>
          <p:nvPr/>
        </p:nvSpPr>
        <p:spPr>
          <a:xfrm rot="16200000">
            <a:off x="3006720" y="2172600"/>
            <a:ext cx="208800" cy="30600"/>
          </a:xfrm>
          <a:prstGeom prst="rect">
            <a:avLst/>
          </a:prstGeom>
          <a:solidFill>
            <a:srgbClr val="9aa8b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290" name="Shape 11"/>
          <p:cNvSpPr/>
          <p:nvPr/>
        </p:nvSpPr>
        <p:spPr>
          <a:xfrm>
            <a:off x="1283040" y="3966480"/>
            <a:ext cx="1828080" cy="47160"/>
          </a:xfrm>
          <a:prstGeom prst="rect">
            <a:avLst/>
          </a:prstGeom>
          <a:solidFill>
            <a:srgbClr val="0e7c86"/>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291" name="Shape 12"/>
          <p:cNvSpPr/>
          <p:nvPr/>
        </p:nvSpPr>
        <p:spPr>
          <a:xfrm>
            <a:off x="3111480" y="2751120"/>
            <a:ext cx="3439440" cy="47160"/>
          </a:xfrm>
          <a:prstGeom prst="rect">
            <a:avLst/>
          </a:prstGeom>
          <a:solidFill>
            <a:srgbClr val="ff6b35"/>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292" name="Shape 13"/>
          <p:cNvSpPr/>
          <p:nvPr/>
        </p:nvSpPr>
        <p:spPr>
          <a:xfrm>
            <a:off x="1334160" y="4277160"/>
            <a:ext cx="145800" cy="145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93" name="Shape 14"/>
          <p:cNvSpPr/>
          <p:nvPr/>
        </p:nvSpPr>
        <p:spPr>
          <a:xfrm>
            <a:off x="1767960" y="4142160"/>
            <a:ext cx="145800" cy="145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94" name="Shape 15"/>
          <p:cNvSpPr/>
          <p:nvPr/>
        </p:nvSpPr>
        <p:spPr>
          <a:xfrm>
            <a:off x="2108880" y="3849480"/>
            <a:ext cx="145800" cy="145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95" name="Shape 16"/>
          <p:cNvSpPr/>
          <p:nvPr/>
        </p:nvSpPr>
        <p:spPr>
          <a:xfrm>
            <a:off x="2449440" y="3962160"/>
            <a:ext cx="145800" cy="145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96" name="Shape 17"/>
          <p:cNvSpPr/>
          <p:nvPr/>
        </p:nvSpPr>
        <p:spPr>
          <a:xfrm>
            <a:off x="2666520" y="3545640"/>
            <a:ext cx="145800" cy="145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97" name="Shape 18"/>
          <p:cNvSpPr/>
          <p:nvPr/>
        </p:nvSpPr>
        <p:spPr>
          <a:xfrm>
            <a:off x="2883240" y="3714480"/>
            <a:ext cx="145800" cy="145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98" name="Shape 19"/>
          <p:cNvSpPr/>
          <p:nvPr/>
        </p:nvSpPr>
        <p:spPr>
          <a:xfrm>
            <a:off x="3193200" y="3241800"/>
            <a:ext cx="145800" cy="145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99" name="Shape 20"/>
          <p:cNvSpPr/>
          <p:nvPr/>
        </p:nvSpPr>
        <p:spPr>
          <a:xfrm>
            <a:off x="3534120" y="3174480"/>
            <a:ext cx="145800" cy="145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00" name="Shape 21"/>
          <p:cNvSpPr/>
          <p:nvPr/>
        </p:nvSpPr>
        <p:spPr>
          <a:xfrm>
            <a:off x="3967920" y="3095640"/>
            <a:ext cx="145800" cy="145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01" name="Shape 22"/>
          <p:cNvSpPr/>
          <p:nvPr/>
        </p:nvSpPr>
        <p:spPr>
          <a:xfrm>
            <a:off x="4432680" y="2904120"/>
            <a:ext cx="145800" cy="145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02" name="Shape 23"/>
          <p:cNvSpPr/>
          <p:nvPr/>
        </p:nvSpPr>
        <p:spPr>
          <a:xfrm>
            <a:off x="4897800" y="2251440"/>
            <a:ext cx="145800" cy="145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03" name="Shape 24"/>
          <p:cNvSpPr/>
          <p:nvPr/>
        </p:nvSpPr>
        <p:spPr>
          <a:xfrm>
            <a:off x="5362560" y="2499120"/>
            <a:ext cx="145800" cy="145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04" name="Shape 25"/>
          <p:cNvSpPr/>
          <p:nvPr/>
        </p:nvSpPr>
        <p:spPr>
          <a:xfrm>
            <a:off x="5982120" y="2420280"/>
            <a:ext cx="145800" cy="145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05" name="Shape 26"/>
          <p:cNvSpPr/>
          <p:nvPr/>
        </p:nvSpPr>
        <p:spPr>
          <a:xfrm>
            <a:off x="6354000" y="2026440"/>
            <a:ext cx="145800" cy="145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06" name="Text 27"/>
          <p:cNvSpPr/>
          <p:nvPr/>
        </p:nvSpPr>
        <p:spPr>
          <a:xfrm>
            <a:off x="2105640" y="1572840"/>
            <a:ext cx="201132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300" strike="noStrike" u="none">
                <a:solidFill>
                  <a:srgbClr val="25323d"/>
                </a:solidFill>
                <a:effectLst/>
                <a:uFillTx/>
                <a:latin typeface="Courier New"/>
                <a:ea typeface="Courier New"/>
              </a:rPr>
              <a:t>sqft &lt; 1,450 ?</a:t>
            </a:r>
            <a:endParaRPr b="0" lang="en-US" sz="1300" strike="noStrike" u="none">
              <a:solidFill>
                <a:srgbClr val="000000"/>
              </a:solidFill>
              <a:effectLst/>
              <a:uFillTx/>
              <a:latin typeface="Arial"/>
            </a:endParaRPr>
          </a:p>
        </p:txBody>
      </p:sp>
      <p:sp>
        <p:nvSpPr>
          <p:cNvPr id="307" name="Text 28"/>
          <p:cNvSpPr/>
          <p:nvPr/>
        </p:nvSpPr>
        <p:spPr>
          <a:xfrm>
            <a:off x="694800" y="1572840"/>
            <a:ext cx="127980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price ($k)</a:t>
            </a:r>
            <a:endParaRPr b="0" lang="en-US" sz="1300" strike="noStrike" u="none">
              <a:solidFill>
                <a:srgbClr val="000000"/>
              </a:solidFill>
              <a:effectLst/>
              <a:uFillTx/>
              <a:latin typeface="Arial"/>
            </a:endParaRPr>
          </a:p>
        </p:txBody>
      </p:sp>
      <p:sp>
        <p:nvSpPr>
          <p:cNvPr id="308" name="Text 29"/>
          <p:cNvSpPr/>
          <p:nvPr/>
        </p:nvSpPr>
        <p:spPr>
          <a:xfrm>
            <a:off x="4846320" y="4846320"/>
            <a:ext cx="182844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300" strike="noStrike" u="none">
                <a:solidFill>
                  <a:srgbClr val="5d6e7c"/>
                </a:solidFill>
                <a:effectLst/>
                <a:uFillTx/>
                <a:latin typeface="Calibri"/>
                <a:ea typeface="Calibri"/>
              </a:rPr>
              <a:t>square feet</a:t>
            </a:r>
            <a:endParaRPr b="0" lang="en-US" sz="1300" strike="noStrike" u="none">
              <a:solidFill>
                <a:srgbClr val="000000"/>
              </a:solidFill>
              <a:effectLst/>
              <a:uFillTx/>
              <a:latin typeface="Arial"/>
            </a:endParaRPr>
          </a:p>
        </p:txBody>
      </p:sp>
      <p:sp>
        <p:nvSpPr>
          <p:cNvPr id="309" name="Shape 30"/>
          <p:cNvSpPr/>
          <p:nvPr/>
        </p:nvSpPr>
        <p:spPr>
          <a:xfrm>
            <a:off x="1097280" y="5294520"/>
            <a:ext cx="310680" cy="62640"/>
          </a:xfrm>
          <a:prstGeom prst="rect">
            <a:avLst/>
          </a:prstGeom>
          <a:solidFill>
            <a:srgbClr val="0e7c86"/>
          </a:solidFill>
          <a:ln w="0">
            <a:noFill/>
          </a:ln>
        </p:spPr>
        <p:style>
          <a:lnRef idx="0"/>
          <a:fillRef idx="0"/>
          <a:effectRef idx="0"/>
          <a:fontRef idx="minor"/>
        </p:style>
        <p:txBody>
          <a:bodyPr lIns="90000" rIns="90000" tIns="18000" bIns="18000" anchor="t">
            <a:noAutofit/>
          </a:bodyPr>
          <a:p>
            <a:endParaRPr b="0" lang="en-US" sz="1800" strike="noStrike" u="none">
              <a:solidFill>
                <a:srgbClr val="ffffff"/>
              </a:solidFill>
              <a:effectLst/>
              <a:uFillTx/>
              <a:latin typeface="Arial"/>
            </a:endParaRPr>
          </a:p>
        </p:txBody>
      </p:sp>
      <p:sp>
        <p:nvSpPr>
          <p:cNvPr id="310" name="Text 31"/>
          <p:cNvSpPr/>
          <p:nvPr/>
        </p:nvSpPr>
        <p:spPr>
          <a:xfrm>
            <a:off x="1517760" y="5157360"/>
            <a:ext cx="210276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25323d"/>
                </a:solidFill>
                <a:effectLst/>
                <a:uFillTx/>
                <a:latin typeface="Calibri"/>
                <a:ea typeface="Calibri"/>
              </a:rPr>
              <a:t>left group: $172k</a:t>
            </a:r>
            <a:endParaRPr b="0" lang="en-US" sz="1400" strike="noStrike" u="none">
              <a:solidFill>
                <a:srgbClr val="000000"/>
              </a:solidFill>
              <a:effectLst/>
              <a:uFillTx/>
              <a:latin typeface="Arial"/>
            </a:endParaRPr>
          </a:p>
        </p:txBody>
      </p:sp>
      <p:sp>
        <p:nvSpPr>
          <p:cNvPr id="311" name="Shape 32"/>
          <p:cNvSpPr/>
          <p:nvPr/>
        </p:nvSpPr>
        <p:spPr>
          <a:xfrm>
            <a:off x="3703320" y="5294520"/>
            <a:ext cx="310680" cy="62640"/>
          </a:xfrm>
          <a:prstGeom prst="rect">
            <a:avLst/>
          </a:prstGeom>
          <a:solidFill>
            <a:srgbClr val="ff6b35"/>
          </a:solidFill>
          <a:ln w="0">
            <a:noFill/>
          </a:ln>
        </p:spPr>
        <p:style>
          <a:lnRef idx="0"/>
          <a:fillRef idx="0"/>
          <a:effectRef idx="0"/>
          <a:fontRef idx="minor"/>
        </p:style>
        <p:txBody>
          <a:bodyPr lIns="90000" rIns="90000" tIns="18000" bIns="18000" anchor="t">
            <a:noAutofit/>
          </a:bodyPr>
          <a:p>
            <a:endParaRPr b="0" lang="en-US" sz="1800" strike="noStrike" u="none">
              <a:solidFill>
                <a:srgbClr val="ffffff"/>
              </a:solidFill>
              <a:effectLst/>
              <a:uFillTx/>
              <a:latin typeface="Arial"/>
            </a:endParaRPr>
          </a:p>
        </p:txBody>
      </p:sp>
      <p:sp>
        <p:nvSpPr>
          <p:cNvPr id="312" name="Text 33"/>
          <p:cNvSpPr/>
          <p:nvPr/>
        </p:nvSpPr>
        <p:spPr>
          <a:xfrm>
            <a:off x="4123800" y="5157360"/>
            <a:ext cx="210276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25323d"/>
                </a:solidFill>
                <a:effectLst/>
                <a:uFillTx/>
                <a:latin typeface="Calibri"/>
                <a:ea typeface="Calibri"/>
              </a:rPr>
              <a:t>right group: $280k</a:t>
            </a:r>
            <a:endParaRPr b="0" lang="en-US" sz="1400" strike="noStrike" u="none">
              <a:solidFill>
                <a:srgbClr val="000000"/>
              </a:solidFill>
              <a:effectLst/>
              <a:uFillTx/>
              <a:latin typeface="Arial"/>
            </a:endParaRPr>
          </a:p>
        </p:txBody>
      </p:sp>
      <p:sp>
        <p:nvSpPr>
          <p:cNvPr id="313" name="Shape 34"/>
          <p:cNvSpPr/>
          <p:nvPr/>
        </p:nvSpPr>
        <p:spPr>
          <a:xfrm>
            <a:off x="7269480" y="1965960"/>
            <a:ext cx="420120" cy="420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14" name="Text 35"/>
          <p:cNvSpPr/>
          <p:nvPr/>
        </p:nvSpPr>
        <p:spPr>
          <a:xfrm>
            <a:off x="7269480" y="1965960"/>
            <a:ext cx="420120" cy="420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1</a:t>
            </a:r>
            <a:endParaRPr b="0" lang="en-US" sz="1600" strike="noStrike" u="none">
              <a:solidFill>
                <a:srgbClr val="000000"/>
              </a:solidFill>
              <a:effectLst/>
              <a:uFillTx/>
              <a:latin typeface="Arial"/>
            </a:endParaRPr>
          </a:p>
        </p:txBody>
      </p:sp>
      <p:sp>
        <p:nvSpPr>
          <p:cNvPr id="315" name="Text 36"/>
          <p:cNvSpPr/>
          <p:nvPr/>
        </p:nvSpPr>
        <p:spPr>
          <a:xfrm>
            <a:off x="7863840" y="1984320"/>
            <a:ext cx="36846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Try everything</a:t>
            </a:r>
            <a:endParaRPr b="0" lang="en-US" sz="1800" strike="noStrike" u="none">
              <a:solidFill>
                <a:srgbClr val="000000"/>
              </a:solidFill>
              <a:effectLst/>
              <a:uFillTx/>
              <a:latin typeface="Arial"/>
            </a:endParaRPr>
          </a:p>
        </p:txBody>
      </p:sp>
      <p:sp>
        <p:nvSpPr>
          <p:cNvPr id="316" name="Text 37"/>
          <p:cNvSpPr/>
          <p:nvPr/>
        </p:nvSpPr>
        <p:spPr>
          <a:xfrm>
            <a:off x="7863840" y="2350080"/>
            <a:ext cx="368460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50" strike="noStrike" u="none">
                <a:solidFill>
                  <a:srgbClr val="5d6e7c"/>
                </a:solidFill>
                <a:effectLst/>
                <a:uFillTx/>
                <a:latin typeface="Calibri"/>
                <a:ea typeface="Calibri"/>
              </a:rPr>
              <a:t>Every feature, and every threshold sitting between two observed values.</a:t>
            </a:r>
            <a:endParaRPr b="0" lang="en-US" sz="1450" strike="noStrike" u="none">
              <a:solidFill>
                <a:srgbClr val="000000"/>
              </a:solidFill>
              <a:effectLst/>
              <a:uFillTx/>
              <a:latin typeface="Arial"/>
            </a:endParaRPr>
          </a:p>
        </p:txBody>
      </p:sp>
      <p:sp>
        <p:nvSpPr>
          <p:cNvPr id="317" name="Shape 38"/>
          <p:cNvSpPr/>
          <p:nvPr/>
        </p:nvSpPr>
        <p:spPr>
          <a:xfrm>
            <a:off x="7269480" y="3154680"/>
            <a:ext cx="420120" cy="420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18" name="Text 39"/>
          <p:cNvSpPr/>
          <p:nvPr/>
        </p:nvSpPr>
        <p:spPr>
          <a:xfrm>
            <a:off x="7269480" y="3154680"/>
            <a:ext cx="420120" cy="420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2</a:t>
            </a:r>
            <a:endParaRPr b="0" lang="en-US" sz="1600" strike="noStrike" u="none">
              <a:solidFill>
                <a:srgbClr val="000000"/>
              </a:solidFill>
              <a:effectLst/>
              <a:uFillTx/>
              <a:latin typeface="Arial"/>
            </a:endParaRPr>
          </a:p>
        </p:txBody>
      </p:sp>
      <p:sp>
        <p:nvSpPr>
          <p:cNvPr id="319" name="Text 40"/>
          <p:cNvSpPr/>
          <p:nvPr/>
        </p:nvSpPr>
        <p:spPr>
          <a:xfrm>
            <a:off x="7863840" y="3173040"/>
            <a:ext cx="36846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Score each one</a:t>
            </a:r>
            <a:endParaRPr b="0" lang="en-US" sz="1800" strike="noStrike" u="none">
              <a:solidFill>
                <a:srgbClr val="000000"/>
              </a:solidFill>
              <a:effectLst/>
              <a:uFillTx/>
              <a:latin typeface="Arial"/>
            </a:endParaRPr>
          </a:p>
        </p:txBody>
      </p:sp>
      <p:sp>
        <p:nvSpPr>
          <p:cNvPr id="320" name="Text 41"/>
          <p:cNvSpPr/>
          <p:nvPr/>
        </p:nvSpPr>
        <p:spPr>
          <a:xfrm>
            <a:off x="7863840" y="3538800"/>
            <a:ext cx="368460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50" strike="noStrike" u="none">
                <a:solidFill>
                  <a:srgbClr val="5d6e7c"/>
                </a:solidFill>
                <a:effectLst/>
                <a:uFillTx/>
                <a:latin typeface="Calibri"/>
                <a:ea typeface="Calibri"/>
              </a:rPr>
              <a:t>How much does the split shrink the spread of prices inside each group?</a:t>
            </a:r>
            <a:endParaRPr b="0" lang="en-US" sz="1450" strike="noStrike" u="none">
              <a:solidFill>
                <a:srgbClr val="000000"/>
              </a:solidFill>
              <a:effectLst/>
              <a:uFillTx/>
              <a:latin typeface="Arial"/>
            </a:endParaRPr>
          </a:p>
        </p:txBody>
      </p:sp>
      <p:sp>
        <p:nvSpPr>
          <p:cNvPr id="321" name="Shape 42"/>
          <p:cNvSpPr/>
          <p:nvPr/>
        </p:nvSpPr>
        <p:spPr>
          <a:xfrm>
            <a:off x="7269480" y="4343400"/>
            <a:ext cx="420120" cy="420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22" name="Text 43"/>
          <p:cNvSpPr/>
          <p:nvPr/>
        </p:nvSpPr>
        <p:spPr>
          <a:xfrm>
            <a:off x="7269480" y="4343400"/>
            <a:ext cx="420120" cy="420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3</a:t>
            </a:r>
            <a:endParaRPr b="0" lang="en-US" sz="1600" strike="noStrike" u="none">
              <a:solidFill>
                <a:srgbClr val="000000"/>
              </a:solidFill>
              <a:effectLst/>
              <a:uFillTx/>
              <a:latin typeface="Arial"/>
            </a:endParaRPr>
          </a:p>
        </p:txBody>
      </p:sp>
      <p:sp>
        <p:nvSpPr>
          <p:cNvPr id="323" name="Text 44"/>
          <p:cNvSpPr/>
          <p:nvPr/>
        </p:nvSpPr>
        <p:spPr>
          <a:xfrm>
            <a:off x="7863840" y="4361760"/>
            <a:ext cx="36846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Keep the winner, recurse</a:t>
            </a:r>
            <a:endParaRPr b="0" lang="en-US" sz="1800" strike="noStrike" u="none">
              <a:solidFill>
                <a:srgbClr val="000000"/>
              </a:solidFill>
              <a:effectLst/>
              <a:uFillTx/>
              <a:latin typeface="Arial"/>
            </a:endParaRPr>
          </a:p>
        </p:txBody>
      </p:sp>
      <p:sp>
        <p:nvSpPr>
          <p:cNvPr id="324" name="Text 45"/>
          <p:cNvSpPr/>
          <p:nvPr/>
        </p:nvSpPr>
        <p:spPr>
          <a:xfrm>
            <a:off x="7863840" y="4727520"/>
            <a:ext cx="368460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50" strike="noStrike" u="none">
                <a:solidFill>
                  <a:srgbClr val="5d6e7c"/>
                </a:solidFill>
                <a:effectLst/>
                <a:uFillTx/>
                <a:latin typeface="Calibri"/>
                <a:ea typeface="Calibri"/>
              </a:rPr>
              <a:t>Then run the same search again inside each group.</a:t>
            </a:r>
            <a:endParaRPr b="0" lang="en-US" sz="1450" strike="noStrike" u="none">
              <a:solidFill>
                <a:srgbClr val="000000"/>
              </a:solidFill>
              <a:effectLst/>
              <a:uFillTx/>
              <a:latin typeface="Arial"/>
            </a:endParaRPr>
          </a:p>
        </p:txBody>
      </p:sp>
      <p:sp>
        <p:nvSpPr>
          <p:cNvPr id="325" name="Shape 46"/>
          <p:cNvSpPr/>
          <p:nvPr/>
        </p:nvSpPr>
        <p:spPr>
          <a:xfrm>
            <a:off x="640080" y="5623560"/>
            <a:ext cx="10911240" cy="776880"/>
          </a:xfrm>
          <a:prstGeom prst="roundRect">
            <a:avLst>
              <a:gd name="adj" fmla="val 9412"/>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26" name="Text 47"/>
          <p:cNvSpPr/>
          <p:nvPr/>
        </p:nvSpPr>
        <p:spPr>
          <a:xfrm>
            <a:off x="960120" y="5623560"/>
            <a:ext cx="1027116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ff6b35"/>
                </a:solidFill>
                <a:effectLst/>
                <a:uFillTx/>
                <a:latin typeface="Calibri"/>
                <a:ea typeface="Calibri"/>
              </a:rPr>
              <a:t>Greedy. </a:t>
            </a:r>
            <a:r>
              <a:rPr b="0" lang="en-US" sz="1600" strike="noStrike" u="none">
                <a:solidFill>
                  <a:srgbClr val="d6e0e8"/>
                </a:solidFill>
                <a:effectLst/>
                <a:uFillTx/>
                <a:latin typeface="Calibri"/>
                <a:ea typeface="Calibri"/>
              </a:rPr>
              <a:t>It takes the best split available right now and never goes back to revise an earlier question.</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7"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MEASURING ERROR</a:t>
            </a:r>
            <a:endParaRPr b="0" lang="en-US" sz="1200" strike="noStrike" u="none">
              <a:solidFill>
                <a:srgbClr val="000000"/>
              </a:solidFill>
              <a:effectLst/>
              <a:uFillTx/>
              <a:latin typeface="Arial"/>
            </a:endParaRPr>
          </a:p>
        </p:txBody>
      </p:sp>
      <p:sp>
        <p:nvSpPr>
          <p:cNvPr id="328"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Two different jobs for the word "error"</a:t>
            </a:r>
            <a:endParaRPr b="0" lang="en-US" sz="3200" strike="noStrike" u="none">
              <a:solidFill>
                <a:srgbClr val="000000"/>
              </a:solidFill>
              <a:effectLst/>
              <a:uFillTx/>
              <a:latin typeface="Arial"/>
            </a:endParaRPr>
          </a:p>
        </p:txBody>
      </p:sp>
      <p:sp>
        <p:nvSpPr>
          <p:cNvPr id="329" name="Shape 2"/>
          <p:cNvSpPr/>
          <p:nvPr/>
        </p:nvSpPr>
        <p:spPr>
          <a:xfrm>
            <a:off x="640080" y="1783080"/>
            <a:ext cx="5266440" cy="3611520"/>
          </a:xfrm>
          <a:prstGeom prst="roundRect">
            <a:avLst>
              <a:gd name="adj" fmla="val 2025"/>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0" name="Text 3"/>
          <p:cNvSpPr/>
          <p:nvPr/>
        </p:nvSpPr>
        <p:spPr>
          <a:xfrm>
            <a:off x="960120" y="1965960"/>
            <a:ext cx="457164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trike="noStrike" u="none">
                <a:solidFill>
                  <a:srgbClr val="14202b"/>
                </a:solidFill>
                <a:effectLst/>
                <a:uFillTx/>
                <a:latin typeface="Cambria"/>
                <a:ea typeface="Cambria"/>
              </a:rPr>
              <a:t>Inside the tree</a:t>
            </a:r>
            <a:endParaRPr b="0" lang="en-US" sz="2200" strike="noStrike" u="none">
              <a:solidFill>
                <a:srgbClr val="000000"/>
              </a:solidFill>
              <a:effectLst/>
              <a:uFillTx/>
              <a:latin typeface="Arial"/>
            </a:endParaRPr>
          </a:p>
        </p:txBody>
      </p:sp>
      <p:sp>
        <p:nvSpPr>
          <p:cNvPr id="331" name="Text 4"/>
          <p:cNvSpPr/>
          <p:nvPr/>
        </p:nvSpPr>
        <p:spPr>
          <a:xfrm>
            <a:off x="960120" y="2377440"/>
            <a:ext cx="45716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scoring one candidate split</a:t>
            </a:r>
            <a:endParaRPr b="0" lang="en-US" sz="1400" strike="noStrike" u="none">
              <a:solidFill>
                <a:srgbClr val="000000"/>
              </a:solidFill>
              <a:effectLst/>
              <a:uFillTx/>
              <a:latin typeface="Arial"/>
            </a:endParaRPr>
          </a:p>
        </p:txBody>
      </p:sp>
      <p:sp>
        <p:nvSpPr>
          <p:cNvPr id="332" name="Shape 5"/>
          <p:cNvSpPr/>
          <p:nvPr/>
        </p:nvSpPr>
        <p:spPr>
          <a:xfrm>
            <a:off x="960120" y="2834640"/>
            <a:ext cx="1965600" cy="1462680"/>
          </a:xfrm>
          <a:prstGeom prst="roundRect">
            <a:avLst>
              <a:gd name="adj" fmla="val 4375"/>
            </a:avLst>
          </a:prstGeom>
          <a:solidFill>
            <a:srgbClr val="ffffff"/>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3" name="Text 6"/>
          <p:cNvSpPr/>
          <p:nvPr/>
        </p:nvSpPr>
        <p:spPr>
          <a:xfrm>
            <a:off x="960120" y="2962800"/>
            <a:ext cx="19656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5d6e7c"/>
                </a:solidFill>
                <a:effectLst/>
                <a:uFillTx/>
                <a:latin typeface="Calibri"/>
                <a:ea typeface="Calibri"/>
              </a:rPr>
              <a:t>BEFORE</a:t>
            </a:r>
            <a:endParaRPr b="0" lang="en-US" sz="1300" strike="noStrike" u="none">
              <a:solidFill>
                <a:srgbClr val="000000"/>
              </a:solidFill>
              <a:effectLst/>
              <a:uFillTx/>
              <a:latin typeface="Arial"/>
            </a:endParaRPr>
          </a:p>
        </p:txBody>
      </p:sp>
      <p:sp>
        <p:nvSpPr>
          <p:cNvPr id="334" name="Text 7"/>
          <p:cNvSpPr/>
          <p:nvPr/>
        </p:nvSpPr>
        <p:spPr>
          <a:xfrm>
            <a:off x="960120" y="3246120"/>
            <a:ext cx="196560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800" strike="noStrike" u="none">
                <a:solidFill>
                  <a:srgbClr val="14202b"/>
                </a:solidFill>
                <a:effectLst/>
                <a:uFillTx/>
                <a:latin typeface="Cambria"/>
                <a:ea typeface="Cambria"/>
              </a:rPr>
              <a:t>$62k</a:t>
            </a:r>
            <a:endParaRPr b="0" lang="en-US" sz="2800" strike="noStrike" u="none">
              <a:solidFill>
                <a:srgbClr val="000000"/>
              </a:solidFill>
              <a:effectLst/>
              <a:uFillTx/>
              <a:latin typeface="Arial"/>
            </a:endParaRPr>
          </a:p>
        </p:txBody>
      </p:sp>
      <p:sp>
        <p:nvSpPr>
          <p:cNvPr id="335" name="Text 8"/>
          <p:cNvSpPr/>
          <p:nvPr/>
        </p:nvSpPr>
        <p:spPr>
          <a:xfrm>
            <a:off x="960120" y="3749040"/>
            <a:ext cx="196560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200" strike="noStrike" u="none">
                <a:solidFill>
                  <a:srgbClr val="5d6e7c"/>
                </a:solidFill>
                <a:effectLst/>
                <a:uFillTx/>
                <a:latin typeface="Calibri"/>
                <a:ea typeface="Calibri"/>
              </a:rPr>
              <a:t>one average for</a:t>
            </a:r>
            <a:endParaRPr b="0" lang="en-US" sz="1200" strike="noStrike" u="none">
              <a:solidFill>
                <a:srgbClr val="000000"/>
              </a:solidFill>
              <a:effectLst/>
              <a:uFillTx/>
              <a:latin typeface="Arial"/>
            </a:endParaRPr>
          </a:p>
          <a:p>
            <a:pPr algn="ctr" defTabSz="914400">
              <a:lnSpc>
                <a:spcPct val="100000"/>
              </a:lnSpc>
              <a:tabLst>
                <a:tab algn="l" pos="0"/>
              </a:tabLst>
            </a:pPr>
            <a:r>
              <a:rPr b="0" lang="en-US" sz="1200" strike="noStrike" u="none">
                <a:solidFill>
                  <a:srgbClr val="5d6e7c"/>
                </a:solidFill>
                <a:effectLst/>
                <a:uFillTx/>
                <a:latin typeface="Calibri"/>
                <a:ea typeface="Calibri"/>
              </a:rPr>
              <a:t>all 14 houses</a:t>
            </a:r>
            <a:endParaRPr b="0" lang="en-US" sz="1200" strike="noStrike" u="none">
              <a:solidFill>
                <a:srgbClr val="000000"/>
              </a:solidFill>
              <a:effectLst/>
              <a:uFillTx/>
              <a:latin typeface="Arial"/>
            </a:endParaRPr>
          </a:p>
        </p:txBody>
      </p:sp>
      <p:sp>
        <p:nvSpPr>
          <p:cNvPr id="336" name="Shape 9"/>
          <p:cNvSpPr/>
          <p:nvPr/>
        </p:nvSpPr>
        <p:spPr>
          <a:xfrm>
            <a:off x="3090600" y="3410640"/>
            <a:ext cx="456840" cy="310680"/>
          </a:xfrm>
          <a:prstGeom prst="rightArrow">
            <a:avLst>
              <a:gd name="adj1" fmla="val 50000"/>
              <a:gd name="adj2" fmla="val 50000"/>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37" name="Shape 10"/>
          <p:cNvSpPr/>
          <p:nvPr/>
        </p:nvSpPr>
        <p:spPr>
          <a:xfrm>
            <a:off x="3566160" y="2834640"/>
            <a:ext cx="1965600" cy="1462680"/>
          </a:xfrm>
          <a:prstGeom prst="roundRect">
            <a:avLst>
              <a:gd name="adj" fmla="val 4375"/>
            </a:avLst>
          </a:prstGeom>
          <a:solidFill>
            <a:srgbClr val="ffffff"/>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8" name="Text 11"/>
          <p:cNvSpPr/>
          <p:nvPr/>
        </p:nvSpPr>
        <p:spPr>
          <a:xfrm>
            <a:off x="3566160" y="2962800"/>
            <a:ext cx="19656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5d6e7c"/>
                </a:solidFill>
                <a:effectLst/>
                <a:uFillTx/>
                <a:latin typeface="Calibri"/>
                <a:ea typeface="Calibri"/>
              </a:rPr>
              <a:t>AFTER</a:t>
            </a:r>
            <a:endParaRPr b="0" lang="en-US" sz="1300" strike="noStrike" u="none">
              <a:solidFill>
                <a:srgbClr val="000000"/>
              </a:solidFill>
              <a:effectLst/>
              <a:uFillTx/>
              <a:latin typeface="Arial"/>
            </a:endParaRPr>
          </a:p>
        </p:txBody>
      </p:sp>
      <p:sp>
        <p:nvSpPr>
          <p:cNvPr id="339" name="Text 12"/>
          <p:cNvSpPr/>
          <p:nvPr/>
        </p:nvSpPr>
        <p:spPr>
          <a:xfrm>
            <a:off x="3566160" y="3246120"/>
            <a:ext cx="196560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800" strike="noStrike" u="none">
                <a:solidFill>
                  <a:srgbClr val="ff6b35"/>
                </a:solidFill>
                <a:effectLst/>
                <a:uFillTx/>
                <a:latin typeface="Cambria"/>
                <a:ea typeface="Cambria"/>
              </a:rPr>
              <a:t>$32k</a:t>
            </a:r>
            <a:endParaRPr b="0" lang="en-US" sz="2800" strike="noStrike" u="none">
              <a:solidFill>
                <a:srgbClr val="000000"/>
              </a:solidFill>
              <a:effectLst/>
              <a:uFillTx/>
              <a:latin typeface="Arial"/>
            </a:endParaRPr>
          </a:p>
        </p:txBody>
      </p:sp>
      <p:sp>
        <p:nvSpPr>
          <p:cNvPr id="340" name="Text 13"/>
          <p:cNvSpPr/>
          <p:nvPr/>
        </p:nvSpPr>
        <p:spPr>
          <a:xfrm>
            <a:off x="3566160" y="3749040"/>
            <a:ext cx="196560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200" strike="noStrike" u="none">
                <a:solidFill>
                  <a:srgbClr val="5d6e7c"/>
                </a:solidFill>
                <a:effectLst/>
                <a:uFillTx/>
                <a:latin typeface="Calibri"/>
                <a:ea typeface="Calibri"/>
              </a:rPr>
              <a:t>two groups,</a:t>
            </a:r>
            <a:endParaRPr b="0" lang="en-US" sz="1200" strike="noStrike" u="none">
              <a:solidFill>
                <a:srgbClr val="000000"/>
              </a:solidFill>
              <a:effectLst/>
              <a:uFillTx/>
              <a:latin typeface="Arial"/>
            </a:endParaRPr>
          </a:p>
          <a:p>
            <a:pPr algn="ctr" defTabSz="914400">
              <a:lnSpc>
                <a:spcPct val="100000"/>
              </a:lnSpc>
              <a:tabLst>
                <a:tab algn="l" pos="0"/>
              </a:tabLst>
            </a:pPr>
            <a:r>
              <a:rPr b="0" lang="en-US" sz="1200" strike="noStrike" u="none">
                <a:solidFill>
                  <a:srgbClr val="5d6e7c"/>
                </a:solidFill>
                <a:effectLst/>
                <a:uFillTx/>
                <a:latin typeface="Calibri"/>
                <a:ea typeface="Calibri"/>
              </a:rPr>
              <a:t>two averages</a:t>
            </a:r>
            <a:endParaRPr b="0" lang="en-US" sz="1200" strike="noStrike" u="none">
              <a:solidFill>
                <a:srgbClr val="000000"/>
              </a:solidFill>
              <a:effectLst/>
              <a:uFillTx/>
              <a:latin typeface="Arial"/>
            </a:endParaRPr>
          </a:p>
        </p:txBody>
      </p:sp>
      <p:sp>
        <p:nvSpPr>
          <p:cNvPr id="341" name="Text 14"/>
          <p:cNvSpPr/>
          <p:nvPr/>
        </p:nvSpPr>
        <p:spPr>
          <a:xfrm>
            <a:off x="960120" y="4434840"/>
            <a:ext cx="45716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50" strike="noStrike" u="none">
                <a:solidFill>
                  <a:srgbClr val="25323d"/>
                </a:solidFill>
                <a:effectLst/>
                <a:uFillTx/>
                <a:latin typeface="Calibri"/>
                <a:ea typeface="Calibri"/>
              </a:rPr>
              <a:t>That drop is the split's score. The tree tries every possible cut and keeps whichever one drops it the most.</a:t>
            </a:r>
            <a:endParaRPr b="0" lang="en-US" sz="1450" strike="noStrike" u="none">
              <a:solidFill>
                <a:srgbClr val="000000"/>
              </a:solidFill>
              <a:effectLst/>
              <a:uFillTx/>
              <a:latin typeface="Arial"/>
            </a:endParaRPr>
          </a:p>
        </p:txBody>
      </p:sp>
      <p:sp>
        <p:nvSpPr>
          <p:cNvPr id="342" name="Shape 15"/>
          <p:cNvSpPr/>
          <p:nvPr/>
        </p:nvSpPr>
        <p:spPr>
          <a:xfrm>
            <a:off x="6282000" y="1783080"/>
            <a:ext cx="5266440" cy="3611520"/>
          </a:xfrm>
          <a:prstGeom prst="roundRect">
            <a:avLst>
              <a:gd name="adj" fmla="val 2025"/>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3" name="Text 16"/>
          <p:cNvSpPr/>
          <p:nvPr/>
        </p:nvSpPr>
        <p:spPr>
          <a:xfrm>
            <a:off x="6602040" y="1965960"/>
            <a:ext cx="457164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trike="noStrike" u="none">
                <a:solidFill>
                  <a:srgbClr val="14202b"/>
                </a:solidFill>
                <a:effectLst/>
                <a:uFillTx/>
                <a:latin typeface="Cambria"/>
                <a:ea typeface="Cambria"/>
              </a:rPr>
              <a:t>Outside the tree</a:t>
            </a:r>
            <a:endParaRPr b="0" lang="en-US" sz="2200" strike="noStrike" u="none">
              <a:solidFill>
                <a:srgbClr val="000000"/>
              </a:solidFill>
              <a:effectLst/>
              <a:uFillTx/>
              <a:latin typeface="Arial"/>
            </a:endParaRPr>
          </a:p>
        </p:txBody>
      </p:sp>
      <p:sp>
        <p:nvSpPr>
          <p:cNvPr id="344" name="Text 17"/>
          <p:cNvSpPr/>
          <p:nvPr/>
        </p:nvSpPr>
        <p:spPr>
          <a:xfrm>
            <a:off x="6602040" y="2377440"/>
            <a:ext cx="45716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judging the finished model</a:t>
            </a:r>
            <a:endParaRPr b="0" lang="en-US" sz="1400" strike="noStrike" u="none">
              <a:solidFill>
                <a:srgbClr val="000000"/>
              </a:solidFill>
              <a:effectLst/>
              <a:uFillTx/>
              <a:latin typeface="Arial"/>
            </a:endParaRPr>
          </a:p>
        </p:txBody>
      </p:sp>
      <p:sp>
        <p:nvSpPr>
          <p:cNvPr id="345" name="Shape 18"/>
          <p:cNvSpPr/>
          <p:nvPr/>
        </p:nvSpPr>
        <p:spPr>
          <a:xfrm>
            <a:off x="6602040" y="291708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46" name="Text 19"/>
          <p:cNvSpPr/>
          <p:nvPr/>
        </p:nvSpPr>
        <p:spPr>
          <a:xfrm>
            <a:off x="6967800" y="2834640"/>
            <a:ext cx="429732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RMSE and MAE</a:t>
            </a:r>
            <a:endParaRPr b="0" lang="en-US" sz="1650" strike="noStrike" u="none">
              <a:solidFill>
                <a:srgbClr val="000000"/>
              </a:solidFill>
              <a:effectLst/>
              <a:uFillTx/>
              <a:latin typeface="Arial"/>
            </a:endParaRPr>
          </a:p>
        </p:txBody>
      </p:sp>
      <p:sp>
        <p:nvSpPr>
          <p:cNvPr id="347" name="Text 20"/>
          <p:cNvSpPr/>
          <p:nvPr/>
        </p:nvSpPr>
        <p:spPr>
          <a:xfrm>
            <a:off x="6967800" y="3136320"/>
            <a:ext cx="429732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Average miss in dollars, on houses the tree never trained on.</a:t>
            </a:r>
            <a:endParaRPr b="0" lang="en-US" sz="1400" strike="noStrike" u="none">
              <a:solidFill>
                <a:srgbClr val="000000"/>
              </a:solidFill>
              <a:effectLst/>
              <a:uFillTx/>
              <a:latin typeface="Arial"/>
            </a:endParaRPr>
          </a:p>
        </p:txBody>
      </p:sp>
      <p:sp>
        <p:nvSpPr>
          <p:cNvPr id="348" name="Shape 21"/>
          <p:cNvSpPr/>
          <p:nvPr/>
        </p:nvSpPr>
        <p:spPr>
          <a:xfrm>
            <a:off x="6602040" y="374004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49" name="Text 22"/>
          <p:cNvSpPr/>
          <p:nvPr/>
        </p:nvSpPr>
        <p:spPr>
          <a:xfrm>
            <a:off x="6967800" y="3657600"/>
            <a:ext cx="429732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Accuracy, precision, recall</a:t>
            </a:r>
            <a:endParaRPr b="0" lang="en-US" sz="1650" strike="noStrike" u="none">
              <a:solidFill>
                <a:srgbClr val="000000"/>
              </a:solidFill>
              <a:effectLst/>
              <a:uFillTx/>
              <a:latin typeface="Arial"/>
            </a:endParaRPr>
          </a:p>
        </p:txBody>
      </p:sp>
      <p:sp>
        <p:nvSpPr>
          <p:cNvPr id="350" name="Text 23"/>
          <p:cNvSpPr/>
          <p:nvPr/>
        </p:nvSpPr>
        <p:spPr>
          <a:xfrm>
            <a:off x="6967800" y="3959280"/>
            <a:ext cx="429732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If the leaves hold a class label instead of a price.</a:t>
            </a:r>
            <a:endParaRPr b="0" lang="en-US" sz="1400" strike="noStrike" u="none">
              <a:solidFill>
                <a:srgbClr val="000000"/>
              </a:solidFill>
              <a:effectLst/>
              <a:uFillTx/>
              <a:latin typeface="Arial"/>
            </a:endParaRPr>
          </a:p>
        </p:txBody>
      </p:sp>
      <p:sp>
        <p:nvSpPr>
          <p:cNvPr id="351" name="Shape 24"/>
          <p:cNvSpPr/>
          <p:nvPr/>
        </p:nvSpPr>
        <p:spPr>
          <a:xfrm>
            <a:off x="6602040" y="456300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52" name="Text 25"/>
          <p:cNvSpPr/>
          <p:nvPr/>
        </p:nvSpPr>
        <p:spPr>
          <a:xfrm>
            <a:off x="6967800" y="4480560"/>
            <a:ext cx="429732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A dumb baseline</a:t>
            </a:r>
            <a:endParaRPr b="0" lang="en-US" sz="1650" strike="noStrike" u="none">
              <a:solidFill>
                <a:srgbClr val="000000"/>
              </a:solidFill>
              <a:effectLst/>
              <a:uFillTx/>
              <a:latin typeface="Arial"/>
            </a:endParaRPr>
          </a:p>
        </p:txBody>
      </p:sp>
      <p:sp>
        <p:nvSpPr>
          <p:cNvPr id="353" name="Text 26"/>
          <p:cNvSpPr/>
          <p:nvPr/>
        </p:nvSpPr>
        <p:spPr>
          <a:xfrm>
            <a:off x="6967800" y="4782240"/>
            <a:ext cx="429732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Always predict the overall average price. Beat that, or the tree earns nothing.</a:t>
            </a:r>
            <a:endParaRPr b="0" lang="en-US" sz="1400" strike="noStrike" u="none">
              <a:solidFill>
                <a:srgbClr val="000000"/>
              </a:solidFill>
              <a:effectLst/>
              <a:uFillTx/>
              <a:latin typeface="Arial"/>
            </a:endParaRPr>
          </a:p>
        </p:txBody>
      </p:sp>
      <p:sp>
        <p:nvSpPr>
          <p:cNvPr id="354" name="Shape 27"/>
          <p:cNvSpPr/>
          <p:nvPr/>
        </p:nvSpPr>
        <p:spPr>
          <a:xfrm>
            <a:off x="640080" y="5532120"/>
            <a:ext cx="10911240" cy="822600"/>
          </a:xfrm>
          <a:prstGeom prst="roundRect">
            <a:avLst>
              <a:gd name="adj" fmla="val 8889"/>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55" name="Text 28"/>
          <p:cNvSpPr/>
          <p:nvPr/>
        </p:nvSpPr>
        <p:spPr>
          <a:xfrm>
            <a:off x="960120" y="5532120"/>
            <a:ext cx="1027116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ff6b35"/>
                </a:solidFill>
                <a:effectLst/>
                <a:uFillTx/>
                <a:latin typeface="Calibri"/>
                <a:ea typeface="Calibri"/>
              </a:rPr>
              <a:t>Two criteria families. </a:t>
            </a:r>
            <a:r>
              <a:rPr b="0" lang="en-US" sz="1550" strike="noStrike" u="none">
                <a:solidFill>
                  <a:srgbClr val="d6e0e8"/>
                </a:solidFill>
                <a:effectLst/>
                <a:uFillTx/>
                <a:latin typeface="Calibri"/>
                <a:ea typeface="Calibri"/>
              </a:rPr>
              <a:t>Regression trees score splits with variance, which is just MSE inside a node. Classification trees use Gini impurity or entropy. Same question either way: did this cut make each group more alike?</a:t>
            </a:r>
            <a:endParaRPr b="0" lang="en-US" sz="15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6"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TREES OVERFIT TOO</a:t>
            </a:r>
            <a:endParaRPr b="0" lang="en-US" sz="1200" strike="noStrike" u="none">
              <a:solidFill>
                <a:srgbClr val="000000"/>
              </a:solidFill>
              <a:effectLst/>
              <a:uFillTx/>
              <a:latin typeface="Arial"/>
            </a:endParaRPr>
          </a:p>
        </p:txBody>
      </p:sp>
      <p:sp>
        <p:nvSpPr>
          <p:cNvPr id="357"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A tree will memorize if you let it</a:t>
            </a:r>
            <a:endParaRPr b="0" lang="en-US" sz="3200" strike="noStrike" u="none">
              <a:solidFill>
                <a:srgbClr val="000000"/>
              </a:solidFill>
              <a:effectLst/>
              <a:uFillTx/>
              <a:latin typeface="Arial"/>
            </a:endParaRPr>
          </a:p>
        </p:txBody>
      </p:sp>
      <p:sp>
        <p:nvSpPr>
          <p:cNvPr id="358" name="Text 2"/>
          <p:cNvSpPr/>
          <p:nvPr/>
        </p:nvSpPr>
        <p:spPr>
          <a:xfrm>
            <a:off x="640080" y="1874520"/>
            <a:ext cx="52664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200" strike="noStrike" u="none">
                <a:solidFill>
                  <a:srgbClr val="0e7c86"/>
                </a:solidFill>
                <a:effectLst/>
                <a:uFillTx/>
                <a:latin typeface="Cambria"/>
                <a:ea typeface="Cambria"/>
              </a:rPr>
              <a:t>Depth 2</a:t>
            </a:r>
            <a:endParaRPr b="0" lang="en-US" sz="2200" strike="noStrike" u="none">
              <a:solidFill>
                <a:srgbClr val="000000"/>
              </a:solidFill>
              <a:effectLst/>
              <a:uFillTx/>
              <a:latin typeface="Arial"/>
            </a:endParaRPr>
          </a:p>
        </p:txBody>
      </p:sp>
      <p:sp>
        <p:nvSpPr>
          <p:cNvPr id="359" name="Shape 3"/>
          <p:cNvSpPr/>
          <p:nvPr/>
        </p:nvSpPr>
        <p:spPr>
          <a:xfrm>
            <a:off x="1005840" y="4802400"/>
            <a:ext cx="457164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360" name="Shape 4"/>
          <p:cNvSpPr/>
          <p:nvPr/>
        </p:nvSpPr>
        <p:spPr>
          <a:xfrm rot="5400000">
            <a:off x="-205200" y="3591000"/>
            <a:ext cx="242280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361" name="Shape 5"/>
          <p:cNvSpPr/>
          <p:nvPr/>
        </p:nvSpPr>
        <p:spPr>
          <a:xfrm>
            <a:off x="1005840" y="4368240"/>
            <a:ext cx="88848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62" name="Shape 6"/>
          <p:cNvSpPr/>
          <p:nvPr/>
        </p:nvSpPr>
        <p:spPr>
          <a:xfrm rot="16200000">
            <a:off x="1713240" y="4186800"/>
            <a:ext cx="36324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63" name="Shape 7"/>
          <p:cNvSpPr/>
          <p:nvPr/>
        </p:nvSpPr>
        <p:spPr>
          <a:xfrm>
            <a:off x="1894680" y="4004640"/>
            <a:ext cx="76176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64" name="Shape 8"/>
          <p:cNvSpPr/>
          <p:nvPr/>
        </p:nvSpPr>
        <p:spPr>
          <a:xfrm rot="16200000">
            <a:off x="2381760" y="3729960"/>
            <a:ext cx="54936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65" name="Shape 9"/>
          <p:cNvSpPr/>
          <p:nvPr/>
        </p:nvSpPr>
        <p:spPr>
          <a:xfrm>
            <a:off x="2656800" y="3454920"/>
            <a:ext cx="152352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66" name="Shape 10"/>
          <p:cNvSpPr/>
          <p:nvPr/>
        </p:nvSpPr>
        <p:spPr>
          <a:xfrm rot="16200000">
            <a:off x="3845520" y="3119760"/>
            <a:ext cx="67068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67" name="Shape 11"/>
          <p:cNvSpPr/>
          <p:nvPr/>
        </p:nvSpPr>
        <p:spPr>
          <a:xfrm>
            <a:off x="4180680" y="2783880"/>
            <a:ext cx="139680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68" name="Shape 12"/>
          <p:cNvSpPr/>
          <p:nvPr/>
        </p:nvSpPr>
        <p:spPr>
          <a:xfrm>
            <a:off x="1191240" y="43776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9" name="Shape 13"/>
          <p:cNvSpPr/>
          <p:nvPr/>
        </p:nvSpPr>
        <p:spPr>
          <a:xfrm>
            <a:off x="1546920" y="426564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0" name="Shape 14"/>
          <p:cNvSpPr/>
          <p:nvPr/>
        </p:nvSpPr>
        <p:spPr>
          <a:xfrm>
            <a:off x="1826280" y="402336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1" name="Shape 15"/>
          <p:cNvSpPr/>
          <p:nvPr/>
        </p:nvSpPr>
        <p:spPr>
          <a:xfrm>
            <a:off x="2105640" y="41166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2" name="Shape 16"/>
          <p:cNvSpPr/>
          <p:nvPr/>
        </p:nvSpPr>
        <p:spPr>
          <a:xfrm>
            <a:off x="2283480" y="37717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3" name="Shape 17"/>
          <p:cNvSpPr/>
          <p:nvPr/>
        </p:nvSpPr>
        <p:spPr>
          <a:xfrm>
            <a:off x="2461320" y="39114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4" name="Shape 18"/>
          <p:cNvSpPr/>
          <p:nvPr/>
        </p:nvSpPr>
        <p:spPr>
          <a:xfrm>
            <a:off x="2715120" y="352008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5" name="Shape 19"/>
          <p:cNvSpPr/>
          <p:nvPr/>
        </p:nvSpPr>
        <p:spPr>
          <a:xfrm>
            <a:off x="2994840" y="346428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6" name="Shape 20"/>
          <p:cNvSpPr/>
          <p:nvPr/>
        </p:nvSpPr>
        <p:spPr>
          <a:xfrm>
            <a:off x="3350160" y="339876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7" name="Shape 21"/>
          <p:cNvSpPr/>
          <p:nvPr/>
        </p:nvSpPr>
        <p:spPr>
          <a:xfrm>
            <a:off x="3731400" y="324036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8" name="Shape 22"/>
          <p:cNvSpPr/>
          <p:nvPr/>
        </p:nvSpPr>
        <p:spPr>
          <a:xfrm>
            <a:off x="4112280" y="27000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9" name="Shape 23"/>
          <p:cNvSpPr/>
          <p:nvPr/>
        </p:nvSpPr>
        <p:spPr>
          <a:xfrm>
            <a:off x="4493160" y="290484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80" name="Shape 24"/>
          <p:cNvSpPr/>
          <p:nvPr/>
        </p:nvSpPr>
        <p:spPr>
          <a:xfrm>
            <a:off x="5001120" y="283968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81" name="Shape 25"/>
          <p:cNvSpPr/>
          <p:nvPr/>
        </p:nvSpPr>
        <p:spPr>
          <a:xfrm>
            <a:off x="5306040" y="25135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82" name="Text 26"/>
          <p:cNvSpPr/>
          <p:nvPr/>
        </p:nvSpPr>
        <p:spPr>
          <a:xfrm>
            <a:off x="640080" y="4937760"/>
            <a:ext cx="526644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450" strike="noStrike" u="none">
                <a:solidFill>
                  <a:srgbClr val="5d6e7c"/>
                </a:solidFill>
                <a:effectLst/>
                <a:uFillTx/>
                <a:latin typeface="Calibri"/>
                <a:ea typeface="Calibri"/>
              </a:rPr>
              <a:t>Four leaves, four prices. Coarse, but it generalizes.</a:t>
            </a:r>
            <a:endParaRPr b="0" lang="en-US" sz="1450" strike="noStrike" u="none">
              <a:solidFill>
                <a:srgbClr val="000000"/>
              </a:solidFill>
              <a:effectLst/>
              <a:uFillTx/>
              <a:latin typeface="Arial"/>
            </a:endParaRPr>
          </a:p>
        </p:txBody>
      </p:sp>
      <p:sp>
        <p:nvSpPr>
          <p:cNvPr id="383" name="Text 27"/>
          <p:cNvSpPr/>
          <p:nvPr/>
        </p:nvSpPr>
        <p:spPr>
          <a:xfrm>
            <a:off x="6282000" y="1874520"/>
            <a:ext cx="52664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200" strike="noStrike" u="none">
                <a:solidFill>
                  <a:srgbClr val="ff6b35"/>
                </a:solidFill>
                <a:effectLst/>
                <a:uFillTx/>
                <a:latin typeface="Cambria"/>
                <a:ea typeface="Cambria"/>
              </a:rPr>
              <a:t>Depth 10</a:t>
            </a:r>
            <a:endParaRPr b="0" lang="en-US" sz="2200" strike="noStrike" u="none">
              <a:solidFill>
                <a:srgbClr val="000000"/>
              </a:solidFill>
              <a:effectLst/>
              <a:uFillTx/>
              <a:latin typeface="Arial"/>
            </a:endParaRPr>
          </a:p>
        </p:txBody>
      </p:sp>
      <p:sp>
        <p:nvSpPr>
          <p:cNvPr id="384" name="Shape 28"/>
          <p:cNvSpPr/>
          <p:nvPr/>
        </p:nvSpPr>
        <p:spPr>
          <a:xfrm>
            <a:off x="6647760" y="4802400"/>
            <a:ext cx="457164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385" name="Shape 29"/>
          <p:cNvSpPr/>
          <p:nvPr/>
        </p:nvSpPr>
        <p:spPr>
          <a:xfrm rot="5400000">
            <a:off x="5436360" y="3591000"/>
            <a:ext cx="242280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386" name="Shape 30"/>
          <p:cNvSpPr/>
          <p:nvPr/>
        </p:nvSpPr>
        <p:spPr>
          <a:xfrm>
            <a:off x="6647760" y="4424040"/>
            <a:ext cx="43128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87" name="Shape 31"/>
          <p:cNvSpPr/>
          <p:nvPr/>
        </p:nvSpPr>
        <p:spPr>
          <a:xfrm rot="16200000">
            <a:off x="7023240" y="4368240"/>
            <a:ext cx="11160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88" name="Shape 32"/>
          <p:cNvSpPr/>
          <p:nvPr/>
        </p:nvSpPr>
        <p:spPr>
          <a:xfrm>
            <a:off x="7079400" y="4312440"/>
            <a:ext cx="31716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89" name="Shape 33"/>
          <p:cNvSpPr/>
          <p:nvPr/>
        </p:nvSpPr>
        <p:spPr>
          <a:xfrm rot="16200000">
            <a:off x="7275600" y="4191480"/>
            <a:ext cx="24192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90" name="Shape 34"/>
          <p:cNvSpPr/>
          <p:nvPr/>
        </p:nvSpPr>
        <p:spPr>
          <a:xfrm>
            <a:off x="7396920" y="4070160"/>
            <a:ext cx="27900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91" name="Shape 35"/>
          <p:cNvSpPr/>
          <p:nvPr/>
        </p:nvSpPr>
        <p:spPr>
          <a:xfrm rot="5400000">
            <a:off x="7629840" y="4116600"/>
            <a:ext cx="9288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92" name="Shape 36"/>
          <p:cNvSpPr/>
          <p:nvPr/>
        </p:nvSpPr>
        <p:spPr>
          <a:xfrm>
            <a:off x="7676280" y="4163400"/>
            <a:ext cx="22824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93" name="Shape 37"/>
          <p:cNvSpPr/>
          <p:nvPr/>
        </p:nvSpPr>
        <p:spPr>
          <a:xfrm rot="16200000">
            <a:off x="7732440" y="3990960"/>
            <a:ext cx="34452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94" name="Shape 38"/>
          <p:cNvSpPr/>
          <p:nvPr/>
        </p:nvSpPr>
        <p:spPr>
          <a:xfrm>
            <a:off x="7904880" y="3818520"/>
            <a:ext cx="17748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95" name="Shape 39"/>
          <p:cNvSpPr/>
          <p:nvPr/>
        </p:nvSpPr>
        <p:spPr>
          <a:xfrm rot="5400000">
            <a:off x="8013240" y="3888360"/>
            <a:ext cx="13932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96" name="Shape 40"/>
          <p:cNvSpPr/>
          <p:nvPr/>
        </p:nvSpPr>
        <p:spPr>
          <a:xfrm>
            <a:off x="8082720" y="3958200"/>
            <a:ext cx="21564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97" name="Shape 41"/>
          <p:cNvSpPr/>
          <p:nvPr/>
        </p:nvSpPr>
        <p:spPr>
          <a:xfrm rot="16200000">
            <a:off x="8102880" y="3762720"/>
            <a:ext cx="39096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98" name="Shape 42"/>
          <p:cNvSpPr/>
          <p:nvPr/>
        </p:nvSpPr>
        <p:spPr>
          <a:xfrm>
            <a:off x="8298720" y="3566880"/>
            <a:ext cx="26640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399" name="Shape 43"/>
          <p:cNvSpPr/>
          <p:nvPr/>
        </p:nvSpPr>
        <p:spPr>
          <a:xfrm rot="16200000">
            <a:off x="8537400" y="3539160"/>
            <a:ext cx="5544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400" name="Shape 44"/>
          <p:cNvSpPr/>
          <p:nvPr/>
        </p:nvSpPr>
        <p:spPr>
          <a:xfrm>
            <a:off x="8565480" y="3510720"/>
            <a:ext cx="31716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401" name="Shape 45"/>
          <p:cNvSpPr/>
          <p:nvPr/>
        </p:nvSpPr>
        <p:spPr>
          <a:xfrm rot="16200000">
            <a:off x="8850240" y="3478320"/>
            <a:ext cx="6480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402" name="Shape 46"/>
          <p:cNvSpPr/>
          <p:nvPr/>
        </p:nvSpPr>
        <p:spPr>
          <a:xfrm>
            <a:off x="8883000" y="3445560"/>
            <a:ext cx="36792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403" name="Shape 47"/>
          <p:cNvSpPr/>
          <p:nvPr/>
        </p:nvSpPr>
        <p:spPr>
          <a:xfrm rot="16200000">
            <a:off x="9172080" y="3366720"/>
            <a:ext cx="15804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404" name="Shape 48"/>
          <p:cNvSpPr/>
          <p:nvPr/>
        </p:nvSpPr>
        <p:spPr>
          <a:xfrm>
            <a:off x="9251280" y="3287160"/>
            <a:ext cx="38052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405" name="Shape 49"/>
          <p:cNvSpPr/>
          <p:nvPr/>
        </p:nvSpPr>
        <p:spPr>
          <a:xfrm rot="16200000">
            <a:off x="9361800" y="3017160"/>
            <a:ext cx="54036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406" name="Shape 50"/>
          <p:cNvSpPr/>
          <p:nvPr/>
        </p:nvSpPr>
        <p:spPr>
          <a:xfrm>
            <a:off x="9632160" y="2746800"/>
            <a:ext cx="38052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407" name="Shape 51"/>
          <p:cNvSpPr/>
          <p:nvPr/>
        </p:nvSpPr>
        <p:spPr>
          <a:xfrm rot="5400000">
            <a:off x="9910800" y="2849040"/>
            <a:ext cx="20484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408" name="Shape 52"/>
          <p:cNvSpPr/>
          <p:nvPr/>
        </p:nvSpPr>
        <p:spPr>
          <a:xfrm>
            <a:off x="10013040" y="2951640"/>
            <a:ext cx="44424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409" name="Shape 53"/>
          <p:cNvSpPr/>
          <p:nvPr/>
        </p:nvSpPr>
        <p:spPr>
          <a:xfrm rot="16200000">
            <a:off x="10424880" y="2919240"/>
            <a:ext cx="6480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410" name="Shape 54"/>
          <p:cNvSpPr/>
          <p:nvPr/>
        </p:nvSpPr>
        <p:spPr>
          <a:xfrm>
            <a:off x="10457640" y="2886480"/>
            <a:ext cx="40608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411" name="Shape 55"/>
          <p:cNvSpPr/>
          <p:nvPr/>
        </p:nvSpPr>
        <p:spPr>
          <a:xfrm rot="16200000">
            <a:off x="10701000" y="2723760"/>
            <a:ext cx="32580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412" name="Shape 56"/>
          <p:cNvSpPr/>
          <p:nvPr/>
        </p:nvSpPr>
        <p:spPr>
          <a:xfrm>
            <a:off x="10864080" y="2560320"/>
            <a:ext cx="355320" cy="43560"/>
          </a:xfrm>
          <a:prstGeom prst="rect">
            <a:avLst/>
          </a:prstGeom>
          <a:solidFill>
            <a:srgbClr val="ff6b35"/>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413" name="Shape 57"/>
          <p:cNvSpPr/>
          <p:nvPr/>
        </p:nvSpPr>
        <p:spPr>
          <a:xfrm>
            <a:off x="6833160" y="43776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14" name="Shape 58"/>
          <p:cNvSpPr/>
          <p:nvPr/>
        </p:nvSpPr>
        <p:spPr>
          <a:xfrm>
            <a:off x="7188840" y="426564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15" name="Shape 59"/>
          <p:cNvSpPr/>
          <p:nvPr/>
        </p:nvSpPr>
        <p:spPr>
          <a:xfrm>
            <a:off x="7468200" y="402336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16" name="Shape 60"/>
          <p:cNvSpPr/>
          <p:nvPr/>
        </p:nvSpPr>
        <p:spPr>
          <a:xfrm>
            <a:off x="7747560" y="41166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17" name="Shape 61"/>
          <p:cNvSpPr/>
          <p:nvPr/>
        </p:nvSpPr>
        <p:spPr>
          <a:xfrm>
            <a:off x="7925400" y="37717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18" name="Shape 62"/>
          <p:cNvSpPr/>
          <p:nvPr/>
        </p:nvSpPr>
        <p:spPr>
          <a:xfrm>
            <a:off x="8103240" y="39114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19" name="Shape 63"/>
          <p:cNvSpPr/>
          <p:nvPr/>
        </p:nvSpPr>
        <p:spPr>
          <a:xfrm>
            <a:off x="8357040" y="352008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0" name="Shape 64"/>
          <p:cNvSpPr/>
          <p:nvPr/>
        </p:nvSpPr>
        <p:spPr>
          <a:xfrm>
            <a:off x="8636400" y="346428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1" name="Shape 65"/>
          <p:cNvSpPr/>
          <p:nvPr/>
        </p:nvSpPr>
        <p:spPr>
          <a:xfrm>
            <a:off x="8992080" y="339876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2" name="Shape 66"/>
          <p:cNvSpPr/>
          <p:nvPr/>
        </p:nvSpPr>
        <p:spPr>
          <a:xfrm>
            <a:off x="9372960" y="324036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3" name="Shape 67"/>
          <p:cNvSpPr/>
          <p:nvPr/>
        </p:nvSpPr>
        <p:spPr>
          <a:xfrm>
            <a:off x="9754200" y="27000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4" name="Shape 68"/>
          <p:cNvSpPr/>
          <p:nvPr/>
        </p:nvSpPr>
        <p:spPr>
          <a:xfrm>
            <a:off x="10135080" y="290484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5" name="Shape 69"/>
          <p:cNvSpPr/>
          <p:nvPr/>
        </p:nvSpPr>
        <p:spPr>
          <a:xfrm>
            <a:off x="10643040" y="283968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6" name="Shape 70"/>
          <p:cNvSpPr/>
          <p:nvPr/>
        </p:nvSpPr>
        <p:spPr>
          <a:xfrm>
            <a:off x="10947960" y="25135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7" name="Text 71"/>
          <p:cNvSpPr/>
          <p:nvPr/>
        </p:nvSpPr>
        <p:spPr>
          <a:xfrm>
            <a:off x="6282000" y="4937760"/>
            <a:ext cx="526644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450" strike="noStrike" u="none">
                <a:solidFill>
                  <a:srgbClr val="5d6e7c"/>
                </a:solidFill>
                <a:effectLst/>
                <a:uFillTx/>
                <a:latin typeface="Calibri"/>
                <a:ea typeface="Calibri"/>
              </a:rPr>
              <a:t>One leaf per house. Zero training error, useless on a new house.</a:t>
            </a:r>
            <a:endParaRPr b="0" lang="en-US" sz="1450" strike="noStrike" u="none">
              <a:solidFill>
                <a:srgbClr val="000000"/>
              </a:solidFill>
              <a:effectLst/>
              <a:uFillTx/>
              <a:latin typeface="Arial"/>
            </a:endParaRPr>
          </a:p>
        </p:txBody>
      </p:sp>
      <p:sp>
        <p:nvSpPr>
          <p:cNvPr id="428" name="Shape 72"/>
          <p:cNvSpPr/>
          <p:nvPr/>
        </p:nvSpPr>
        <p:spPr>
          <a:xfrm>
            <a:off x="640080" y="5623560"/>
            <a:ext cx="10911240" cy="776880"/>
          </a:xfrm>
          <a:prstGeom prst="roundRect">
            <a:avLst>
              <a:gd name="adj" fmla="val 9412"/>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9" name="Text 73"/>
          <p:cNvSpPr/>
          <p:nvPr/>
        </p:nvSpPr>
        <p:spPr>
          <a:xfrm>
            <a:off x="960120" y="5623560"/>
            <a:ext cx="1027116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14202b"/>
                </a:solidFill>
                <a:effectLst/>
                <a:uFillTx/>
                <a:latin typeface="Calibri"/>
                <a:ea typeface="Calibri"/>
              </a:rPr>
              <a:t>The controls: </a:t>
            </a:r>
            <a:r>
              <a:rPr b="0" lang="en-US" sz="1600" strike="noStrike" u="none">
                <a:solidFill>
                  <a:srgbClr val="25323d"/>
                </a:solidFill>
                <a:effectLst/>
                <a:uFillTx/>
                <a:latin typeface="Calibri"/>
                <a:ea typeface="Calibri"/>
              </a:rPr>
              <a:t>max_depth, min_samples_leaf, pruning. Every one of them is just a way to stop the tree before it memorizes.</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0"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LINE OR TREE</a:t>
            </a:r>
            <a:endParaRPr b="0" lang="en-US" sz="1200" strike="noStrike" u="none">
              <a:solidFill>
                <a:srgbClr val="000000"/>
              </a:solidFill>
              <a:effectLst/>
              <a:uFillTx/>
              <a:latin typeface="Arial"/>
            </a:endParaRPr>
          </a:p>
        </p:txBody>
      </p:sp>
      <p:sp>
        <p:nvSpPr>
          <p:cNvPr id="431"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Pick the model that matches your data</a:t>
            </a:r>
            <a:endParaRPr b="0" lang="en-US" sz="3200" strike="noStrike" u="none">
              <a:solidFill>
                <a:srgbClr val="000000"/>
              </a:solidFill>
              <a:effectLst/>
              <a:uFillTx/>
              <a:latin typeface="Arial"/>
            </a:endParaRPr>
          </a:p>
        </p:txBody>
      </p:sp>
      <p:graphicFrame>
        <p:nvGraphicFramePr>
          <p:cNvPr id="432" name="Table 0"/>
          <p:cNvGraphicFramePr/>
          <p:nvPr/>
        </p:nvGraphicFramePr>
        <p:xfrm>
          <a:off x="640080" y="1783080"/>
          <a:ext cx="10911240" cy="3715560"/>
        </p:xfrm>
        <a:graphic>
          <a:graphicData uri="http://schemas.openxmlformats.org/drawingml/2006/table">
            <a:tbl>
              <a:tblPr/>
              <a:tblGrid>
                <a:gridCol w="2834640"/>
                <a:gridCol w="4023360"/>
                <a:gridCol w="4053240"/>
              </a:tblGrid>
              <a:tr h="502920">
                <a:tc>
                  <a:txBody>
                    <a:bodyPr lIns="127800" rIns="127800" tIns="127800" bIns="127800" anchor="ctr">
                      <a:noAutofit/>
                    </a:bodyPr>
                    <a:p>
                      <a:pPr defTabSz="914400">
                        <a:lnSpc>
                          <a:spcPct val="100000"/>
                        </a:lnSpc>
                        <a:tabLst>
                          <a:tab algn="l" pos="0"/>
                        </a:tabLst>
                      </a:pPr>
                      <a:endParaRPr b="0" lang="en-US" sz="1500" strike="noStrike" u="none">
                        <a:solidFill>
                          <a:schemeClr val="dk1"/>
                        </a:solidFill>
                        <a:effectLst/>
                        <a:uFillTx/>
                        <a:latin typeface="Calibri"/>
                        <a:ea typeface="Calibri"/>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solidFill>
                      <a:srgbClr val="14202b"/>
                    </a:solidFill>
                  </a:tcPr>
                </a:tc>
                <a:tc>
                  <a:txBody>
                    <a:bodyPr lIns="127800" rIns="127800" tIns="127800" bIns="127800" anchor="ctr">
                      <a:noAutofit/>
                    </a:bodyPr>
                    <a:p>
                      <a:pPr defTabSz="914400">
                        <a:lnSpc>
                          <a:spcPct val="100000"/>
                        </a:lnSpc>
                        <a:tabLst>
                          <a:tab algn="l" pos="0"/>
                        </a:tabLst>
                      </a:pPr>
                      <a:r>
                        <a:rPr b="1" lang="en-US" sz="1500" strike="noStrike" u="none">
                          <a:solidFill>
                            <a:srgbClr val="ffffff"/>
                          </a:solidFill>
                          <a:effectLst/>
                          <a:uFillTx/>
                          <a:latin typeface="Calibri"/>
                          <a:ea typeface="Calibri"/>
                        </a:rPr>
                        <a:t>Linear regression</a:t>
                      </a:r>
                      <a:endParaRPr b="0" lang="en-US" sz="1500" strike="noStrike" u="none">
                        <a:solidFill>
                          <a:srgbClr val="ffffff"/>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solidFill>
                      <a:srgbClr val="14202b"/>
                    </a:solidFill>
                  </a:tcPr>
                </a:tc>
                <a:tc>
                  <a:txBody>
                    <a:bodyPr lIns="127800" rIns="127800" tIns="127800" bIns="127800" anchor="ctr">
                      <a:noAutofit/>
                    </a:bodyPr>
                    <a:p>
                      <a:pPr defTabSz="914400">
                        <a:lnSpc>
                          <a:spcPct val="100000"/>
                        </a:lnSpc>
                        <a:tabLst>
                          <a:tab algn="l" pos="0"/>
                        </a:tabLst>
                      </a:pPr>
                      <a:r>
                        <a:rPr b="1" lang="en-US" sz="1500" strike="noStrike" u="none">
                          <a:solidFill>
                            <a:srgbClr val="ffffff"/>
                          </a:solidFill>
                          <a:effectLst/>
                          <a:uFillTx/>
                          <a:latin typeface="Calibri"/>
                          <a:ea typeface="Calibri"/>
                        </a:rPr>
                        <a:t>Decision tree</a:t>
                      </a:r>
                      <a:endParaRPr b="0" lang="en-US" sz="1500" strike="noStrike" u="none">
                        <a:solidFill>
                          <a:srgbClr val="ffffff"/>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solidFill>
                      <a:srgbClr val="14202b"/>
                    </a:solidFill>
                  </a:tcPr>
                </a:tc>
              </a:tr>
              <a:tr h="502920">
                <a:tc>
                  <a:txBody>
                    <a:bodyPr lIns="127800" rIns="127800" tIns="127800" bIns="127800" anchor="ctr">
                      <a:noAutofit/>
                    </a:bodyPr>
                    <a:p>
                      <a:pPr defTabSz="914400">
                        <a:lnSpc>
                          <a:spcPct val="100000"/>
                        </a:lnSpc>
                        <a:tabLst>
                          <a:tab algn="l" pos="0"/>
                        </a:tabLst>
                      </a:pPr>
                      <a:r>
                        <a:rPr b="1" lang="en-US" sz="1500" strike="noStrike" u="none">
                          <a:solidFill>
                            <a:srgbClr val="25323d"/>
                          </a:solidFill>
                          <a:effectLst/>
                          <a:uFillTx/>
                          <a:latin typeface="Calibri"/>
                          <a:ea typeface="Calibri"/>
                        </a:rPr>
                        <a:t>What it learns</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One weight per feature, plus a bias</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A sequence of yes/no questions</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502920">
                <a:tc>
                  <a:txBody>
                    <a:bodyPr lIns="127800" rIns="127800" tIns="127800" bIns="127800" anchor="ctr">
                      <a:noAutofit/>
                    </a:bodyPr>
                    <a:p>
                      <a:pPr defTabSz="914400">
                        <a:lnSpc>
                          <a:spcPct val="100000"/>
                        </a:lnSpc>
                        <a:tabLst>
                          <a:tab algn="l" pos="0"/>
                        </a:tabLst>
                      </a:pPr>
                      <a:r>
                        <a:rPr b="1" lang="en-US" sz="1500" strike="noStrike" u="none">
                          <a:solidFill>
                            <a:srgbClr val="25323d"/>
                          </a:solidFill>
                          <a:effectLst/>
                          <a:uFillTx/>
                          <a:latin typeface="Calibri"/>
                          <a:ea typeface="Calibri"/>
                        </a:rPr>
                        <a:t>Prediction shape</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A smooth line or plane</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Flat steps</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502920">
                <a:tc>
                  <a:txBody>
                    <a:bodyPr lIns="127800" rIns="127800" tIns="127800" bIns="127800" anchor="ctr">
                      <a:noAutofit/>
                    </a:bodyPr>
                    <a:p>
                      <a:pPr defTabSz="914400">
                        <a:lnSpc>
                          <a:spcPct val="100000"/>
                        </a:lnSpc>
                        <a:tabLst>
                          <a:tab algn="l" pos="0"/>
                        </a:tabLst>
                      </a:pPr>
                      <a:r>
                        <a:rPr b="1" lang="en-US" sz="1500" strike="noStrike" u="none">
                          <a:solidFill>
                            <a:srgbClr val="25323d"/>
                          </a:solidFill>
                          <a:effectLst/>
                          <a:uFillTx/>
                          <a:latin typeface="Calibri"/>
                          <a:ea typeface="Calibri"/>
                        </a:rPr>
                        <a:t>Curves and interactions</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You have to build them in by hand</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Picked up automatically</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502920">
                <a:tc>
                  <a:txBody>
                    <a:bodyPr lIns="127800" rIns="127800" tIns="127800" bIns="127800" anchor="ctr">
                      <a:noAutofit/>
                    </a:bodyPr>
                    <a:p>
                      <a:pPr defTabSz="914400">
                        <a:lnSpc>
                          <a:spcPct val="100000"/>
                        </a:lnSpc>
                        <a:tabLst>
                          <a:tab algn="l" pos="0"/>
                        </a:tabLst>
                      </a:pPr>
                      <a:r>
                        <a:rPr b="1" lang="en-US" sz="1500" strike="noStrike" u="none">
                          <a:solidFill>
                            <a:srgbClr val="25323d"/>
                          </a:solidFill>
                          <a:effectLst/>
                          <a:uFillTx/>
                          <a:latin typeface="Calibri"/>
                          <a:ea typeface="Calibri"/>
                        </a:rPr>
                        <a:t>Feature scaling</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Required</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Irrelevant</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502920">
                <a:tc>
                  <a:txBody>
                    <a:bodyPr lIns="127800" rIns="127800" tIns="127800" bIns="127800" anchor="ctr">
                      <a:noAutofit/>
                    </a:bodyPr>
                    <a:p>
                      <a:pPr defTabSz="914400">
                        <a:lnSpc>
                          <a:spcPct val="100000"/>
                        </a:lnSpc>
                        <a:tabLst>
                          <a:tab algn="l" pos="0"/>
                        </a:tabLst>
                      </a:pPr>
                      <a:r>
                        <a:rPr b="1" lang="en-US" sz="1500" strike="noStrike" u="none">
                          <a:solidFill>
                            <a:srgbClr val="25323d"/>
                          </a:solidFill>
                          <a:effectLst/>
                          <a:uFillTx/>
                          <a:latin typeface="Calibri"/>
                          <a:ea typeface="Calibri"/>
                        </a:rPr>
                        <a:t>Values it never saw</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Extrapolates, sometimes into nonsense</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Flatlines at the edge of the data</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502920">
                <a:tc>
                  <a:txBody>
                    <a:bodyPr lIns="127800" rIns="127800" tIns="127800" bIns="127800" anchor="ctr">
                      <a:noAutofit/>
                    </a:bodyPr>
                    <a:p>
                      <a:pPr defTabSz="914400">
                        <a:lnSpc>
                          <a:spcPct val="100000"/>
                        </a:lnSpc>
                        <a:tabLst>
                          <a:tab algn="l" pos="0"/>
                        </a:tabLst>
                      </a:pPr>
                      <a:r>
                        <a:rPr b="1" lang="en-US" sz="1500" strike="noStrike" u="none">
                          <a:solidFill>
                            <a:srgbClr val="25323d"/>
                          </a:solidFill>
                          <a:effectLst/>
                          <a:uFillTx/>
                          <a:latin typeface="Calibri"/>
                          <a:ea typeface="Calibri"/>
                        </a:rPr>
                        <a:t>Reading the model</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"+$118 per square foot"</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27800" rIns="127800" tIns="127800" bIns="127800" anchor="ctr">
                      <a:noAutofit/>
                    </a:bodyPr>
                    <a:p>
                      <a:pPr defTabSz="914400">
                        <a:lnSpc>
                          <a:spcPct val="100000"/>
                        </a:lnSpc>
                        <a:tabLst>
                          <a:tab algn="l" pos="0"/>
                        </a:tabLst>
                      </a:pPr>
                      <a:r>
                        <a:rPr b="0" lang="en-US" sz="1500" strike="noStrike" u="none">
                          <a:solidFill>
                            <a:srgbClr val="25323d"/>
                          </a:solidFill>
                          <a:effectLst/>
                          <a:uFillTx/>
                          <a:latin typeface="Calibri"/>
                          <a:ea typeface="Calibri"/>
                        </a:rPr>
                        <a:t>"Follow this path to the answer"</a:t>
                      </a:r>
                      <a:endParaRPr b="0" lang="en-US" sz="1500" strike="noStrike" u="none">
                        <a:solidFill>
                          <a:srgbClr val="000000"/>
                        </a:solidFill>
                        <a:effectLst/>
                        <a:uFillTx/>
                        <a:latin typeface="Arial"/>
                      </a:endParaRPr>
                    </a:p>
                  </a:txBody>
                  <a:tcPr anchor="ctr" marL="127800" marR="12780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bl>
          </a:graphicData>
        </a:graphic>
      </p:graphicFrame>
      <p:sp>
        <p:nvSpPr>
          <p:cNvPr id="433" name="Shape 2"/>
          <p:cNvSpPr/>
          <p:nvPr/>
        </p:nvSpPr>
        <p:spPr>
          <a:xfrm>
            <a:off x="640080" y="5486400"/>
            <a:ext cx="10911240" cy="822600"/>
          </a:xfrm>
          <a:prstGeom prst="roundRect">
            <a:avLst>
              <a:gd name="adj" fmla="val 8889"/>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34" name="Text 3"/>
          <p:cNvSpPr/>
          <p:nvPr/>
        </p:nvSpPr>
        <p:spPr>
          <a:xfrm>
            <a:off x="960120" y="5486400"/>
            <a:ext cx="1027116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ff6b35"/>
                </a:solidFill>
                <a:effectLst/>
                <a:uFillTx/>
                <a:latin typeface="Calibri"/>
                <a:ea typeface="Calibri"/>
              </a:rPr>
              <a:t>Neither one wins. </a:t>
            </a:r>
            <a:r>
              <a:rPr b="0" lang="en-US" sz="1600" strike="noStrike" u="none">
                <a:solidFill>
                  <a:srgbClr val="d6e0e8"/>
                </a:solidFill>
                <a:effectLst/>
                <a:uFillTx/>
                <a:latin typeface="Calibri"/>
                <a:ea typeface="Calibri"/>
              </a:rPr>
              <a:t>Trees usually beat linear models on messy tabular data. Linear models win when the relationship really is close to a line and you need the coefficients.</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5"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WHAT ACTUALLY WINS</a:t>
            </a:r>
            <a:endParaRPr b="0" lang="en-US" sz="1200" strike="noStrike" u="none">
              <a:solidFill>
                <a:srgbClr val="000000"/>
              </a:solidFill>
              <a:effectLst/>
              <a:uFillTx/>
              <a:latin typeface="Arial"/>
            </a:endParaRPr>
          </a:p>
        </p:txBody>
      </p:sp>
      <p:sp>
        <p:nvSpPr>
          <p:cNvPr id="436"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One tree is weak. A hundred are not.</a:t>
            </a:r>
            <a:endParaRPr b="0" lang="en-US" sz="3200" strike="noStrike" u="none">
              <a:solidFill>
                <a:srgbClr val="000000"/>
              </a:solidFill>
              <a:effectLst/>
              <a:uFillTx/>
              <a:latin typeface="Arial"/>
            </a:endParaRPr>
          </a:p>
        </p:txBody>
      </p:sp>
      <p:sp>
        <p:nvSpPr>
          <p:cNvPr id="437" name="Shape 2"/>
          <p:cNvSpPr/>
          <p:nvPr/>
        </p:nvSpPr>
        <p:spPr>
          <a:xfrm rot="7041000">
            <a:off x="890640" y="2263680"/>
            <a:ext cx="59688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38" name="Shape 3"/>
          <p:cNvSpPr/>
          <p:nvPr/>
        </p:nvSpPr>
        <p:spPr>
          <a:xfrm rot="3759000">
            <a:off x="1164600" y="2263320"/>
            <a:ext cx="59688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39" name="Shape 4"/>
          <p:cNvSpPr/>
          <p:nvPr/>
        </p:nvSpPr>
        <p:spPr>
          <a:xfrm rot="6270000">
            <a:off x="70956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40" name="Shape 5"/>
          <p:cNvSpPr/>
          <p:nvPr/>
        </p:nvSpPr>
        <p:spPr>
          <a:xfrm rot="4530000">
            <a:off x="84672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41" name="Shape 6"/>
          <p:cNvSpPr/>
          <p:nvPr/>
        </p:nvSpPr>
        <p:spPr>
          <a:xfrm rot="6270000">
            <a:off x="125820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42" name="Shape 7"/>
          <p:cNvSpPr/>
          <p:nvPr/>
        </p:nvSpPr>
        <p:spPr>
          <a:xfrm rot="4530000">
            <a:off x="139536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43" name="Shape 8"/>
          <p:cNvSpPr/>
          <p:nvPr/>
        </p:nvSpPr>
        <p:spPr>
          <a:xfrm>
            <a:off x="1248120" y="1933920"/>
            <a:ext cx="155160" cy="155160"/>
          </a:xfrm>
          <a:prstGeom prst="ellipse">
            <a:avLst/>
          </a:prstGeom>
          <a:solidFill>
            <a:srgbClr val="14202b"/>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44" name="Shape 9"/>
          <p:cNvSpPr/>
          <p:nvPr/>
        </p:nvSpPr>
        <p:spPr>
          <a:xfrm>
            <a:off x="983160" y="2473560"/>
            <a:ext cx="136800" cy="13680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45" name="Shape 10"/>
          <p:cNvSpPr/>
          <p:nvPr/>
        </p:nvSpPr>
        <p:spPr>
          <a:xfrm>
            <a:off x="1531800" y="2473560"/>
            <a:ext cx="136800" cy="13680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46" name="Shape 11"/>
          <p:cNvSpPr/>
          <p:nvPr/>
        </p:nvSpPr>
        <p:spPr>
          <a:xfrm>
            <a:off x="85500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47" name="Shape 12"/>
          <p:cNvSpPr/>
          <p:nvPr/>
        </p:nvSpPr>
        <p:spPr>
          <a:xfrm>
            <a:off x="112932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48" name="Shape 13"/>
          <p:cNvSpPr/>
          <p:nvPr/>
        </p:nvSpPr>
        <p:spPr>
          <a:xfrm>
            <a:off x="140364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49" name="Shape 14"/>
          <p:cNvSpPr/>
          <p:nvPr/>
        </p:nvSpPr>
        <p:spPr>
          <a:xfrm>
            <a:off x="167796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50" name="Shape 15"/>
          <p:cNvSpPr/>
          <p:nvPr/>
        </p:nvSpPr>
        <p:spPr>
          <a:xfrm rot="7041000">
            <a:off x="2445120" y="2263680"/>
            <a:ext cx="59688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51" name="Shape 16"/>
          <p:cNvSpPr/>
          <p:nvPr/>
        </p:nvSpPr>
        <p:spPr>
          <a:xfrm rot="3759000">
            <a:off x="2719080" y="2263320"/>
            <a:ext cx="59688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52" name="Shape 17"/>
          <p:cNvSpPr/>
          <p:nvPr/>
        </p:nvSpPr>
        <p:spPr>
          <a:xfrm rot="6270000">
            <a:off x="226404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53" name="Shape 18"/>
          <p:cNvSpPr/>
          <p:nvPr/>
        </p:nvSpPr>
        <p:spPr>
          <a:xfrm rot="4530000">
            <a:off x="240120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54" name="Shape 19"/>
          <p:cNvSpPr/>
          <p:nvPr/>
        </p:nvSpPr>
        <p:spPr>
          <a:xfrm rot="6270000">
            <a:off x="281268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55" name="Shape 20"/>
          <p:cNvSpPr/>
          <p:nvPr/>
        </p:nvSpPr>
        <p:spPr>
          <a:xfrm rot="4530000">
            <a:off x="294984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56" name="Shape 21"/>
          <p:cNvSpPr/>
          <p:nvPr/>
        </p:nvSpPr>
        <p:spPr>
          <a:xfrm>
            <a:off x="2802600" y="1933920"/>
            <a:ext cx="155160" cy="155160"/>
          </a:xfrm>
          <a:prstGeom prst="ellipse">
            <a:avLst/>
          </a:prstGeom>
          <a:solidFill>
            <a:srgbClr val="14202b"/>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7" name="Shape 22"/>
          <p:cNvSpPr/>
          <p:nvPr/>
        </p:nvSpPr>
        <p:spPr>
          <a:xfrm>
            <a:off x="2537640" y="2473560"/>
            <a:ext cx="136800" cy="13680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8" name="Shape 23"/>
          <p:cNvSpPr/>
          <p:nvPr/>
        </p:nvSpPr>
        <p:spPr>
          <a:xfrm>
            <a:off x="3086280" y="2473560"/>
            <a:ext cx="136800" cy="13680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9" name="Shape 24"/>
          <p:cNvSpPr/>
          <p:nvPr/>
        </p:nvSpPr>
        <p:spPr>
          <a:xfrm>
            <a:off x="240948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60" name="Shape 25"/>
          <p:cNvSpPr/>
          <p:nvPr/>
        </p:nvSpPr>
        <p:spPr>
          <a:xfrm>
            <a:off x="268380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61" name="Shape 26"/>
          <p:cNvSpPr/>
          <p:nvPr/>
        </p:nvSpPr>
        <p:spPr>
          <a:xfrm>
            <a:off x="295812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62" name="Shape 27"/>
          <p:cNvSpPr/>
          <p:nvPr/>
        </p:nvSpPr>
        <p:spPr>
          <a:xfrm>
            <a:off x="323244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63" name="Shape 28"/>
          <p:cNvSpPr/>
          <p:nvPr/>
        </p:nvSpPr>
        <p:spPr>
          <a:xfrm rot="7041000">
            <a:off x="3999600" y="2263680"/>
            <a:ext cx="59688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64" name="Shape 29"/>
          <p:cNvSpPr/>
          <p:nvPr/>
        </p:nvSpPr>
        <p:spPr>
          <a:xfrm rot="3759000">
            <a:off x="4273560" y="2263320"/>
            <a:ext cx="59688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65" name="Shape 30"/>
          <p:cNvSpPr/>
          <p:nvPr/>
        </p:nvSpPr>
        <p:spPr>
          <a:xfrm rot="6270000">
            <a:off x="381852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66" name="Shape 31"/>
          <p:cNvSpPr/>
          <p:nvPr/>
        </p:nvSpPr>
        <p:spPr>
          <a:xfrm rot="4530000">
            <a:off x="395568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67" name="Shape 32"/>
          <p:cNvSpPr/>
          <p:nvPr/>
        </p:nvSpPr>
        <p:spPr>
          <a:xfrm rot="6270000">
            <a:off x="436716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68" name="Shape 33"/>
          <p:cNvSpPr/>
          <p:nvPr/>
        </p:nvSpPr>
        <p:spPr>
          <a:xfrm rot="4530000">
            <a:off x="450432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69" name="Shape 34"/>
          <p:cNvSpPr/>
          <p:nvPr/>
        </p:nvSpPr>
        <p:spPr>
          <a:xfrm>
            <a:off x="4357080" y="1933920"/>
            <a:ext cx="155160" cy="155160"/>
          </a:xfrm>
          <a:prstGeom prst="ellipse">
            <a:avLst/>
          </a:prstGeom>
          <a:solidFill>
            <a:srgbClr val="14202b"/>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70" name="Shape 35"/>
          <p:cNvSpPr/>
          <p:nvPr/>
        </p:nvSpPr>
        <p:spPr>
          <a:xfrm>
            <a:off x="4092120" y="2473560"/>
            <a:ext cx="136800" cy="13680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71" name="Shape 36"/>
          <p:cNvSpPr/>
          <p:nvPr/>
        </p:nvSpPr>
        <p:spPr>
          <a:xfrm>
            <a:off x="4640760" y="2473560"/>
            <a:ext cx="136800" cy="13680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72" name="Shape 37"/>
          <p:cNvSpPr/>
          <p:nvPr/>
        </p:nvSpPr>
        <p:spPr>
          <a:xfrm>
            <a:off x="396396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73" name="Shape 38"/>
          <p:cNvSpPr/>
          <p:nvPr/>
        </p:nvSpPr>
        <p:spPr>
          <a:xfrm>
            <a:off x="423828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74" name="Shape 39"/>
          <p:cNvSpPr/>
          <p:nvPr/>
        </p:nvSpPr>
        <p:spPr>
          <a:xfrm>
            <a:off x="451260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75" name="Shape 40"/>
          <p:cNvSpPr/>
          <p:nvPr/>
        </p:nvSpPr>
        <p:spPr>
          <a:xfrm>
            <a:off x="478692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76" name="Shape 41"/>
          <p:cNvSpPr/>
          <p:nvPr/>
        </p:nvSpPr>
        <p:spPr>
          <a:xfrm rot="7041000">
            <a:off x="5554080" y="2263680"/>
            <a:ext cx="59688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77" name="Shape 42"/>
          <p:cNvSpPr/>
          <p:nvPr/>
        </p:nvSpPr>
        <p:spPr>
          <a:xfrm rot="3759000">
            <a:off x="5828040" y="2263320"/>
            <a:ext cx="59688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78" name="Shape 43"/>
          <p:cNvSpPr/>
          <p:nvPr/>
        </p:nvSpPr>
        <p:spPr>
          <a:xfrm rot="6270000">
            <a:off x="537300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79" name="Shape 44"/>
          <p:cNvSpPr/>
          <p:nvPr/>
        </p:nvSpPr>
        <p:spPr>
          <a:xfrm rot="4530000">
            <a:off x="551016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80" name="Shape 45"/>
          <p:cNvSpPr/>
          <p:nvPr/>
        </p:nvSpPr>
        <p:spPr>
          <a:xfrm rot="6270000">
            <a:off x="592164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81" name="Shape 46"/>
          <p:cNvSpPr/>
          <p:nvPr/>
        </p:nvSpPr>
        <p:spPr>
          <a:xfrm rot="4530000">
            <a:off x="6058800" y="2793960"/>
            <a:ext cx="547560" cy="25920"/>
          </a:xfrm>
          <a:prstGeom prst="rect">
            <a:avLst/>
          </a:prstGeom>
          <a:solidFill>
            <a:srgbClr val="c9d2d9"/>
          </a:solidFill>
          <a:ln w="0">
            <a:noFill/>
          </a:ln>
        </p:spPr>
        <p:style>
          <a:lnRef idx="0"/>
          <a:fillRef idx="0"/>
          <a:effectRef idx="0"/>
          <a:fontRef idx="minor"/>
        </p:style>
        <p:txBody>
          <a:bodyPr lIns="90000" rIns="90000" tIns="-18720" bIns="-18720" anchor="t">
            <a:noAutofit/>
          </a:bodyPr>
          <a:p>
            <a:endParaRPr b="0" lang="en-US" sz="1800" strike="noStrike" u="none">
              <a:solidFill>
                <a:srgbClr val="000000"/>
              </a:solidFill>
              <a:effectLst/>
              <a:uFillTx/>
              <a:latin typeface="Arial"/>
            </a:endParaRPr>
          </a:p>
        </p:txBody>
      </p:sp>
      <p:sp>
        <p:nvSpPr>
          <p:cNvPr id="482" name="Shape 47"/>
          <p:cNvSpPr/>
          <p:nvPr/>
        </p:nvSpPr>
        <p:spPr>
          <a:xfrm>
            <a:off x="5911560" y="1933920"/>
            <a:ext cx="155160" cy="155160"/>
          </a:xfrm>
          <a:prstGeom prst="ellipse">
            <a:avLst/>
          </a:prstGeom>
          <a:solidFill>
            <a:srgbClr val="14202b"/>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83" name="Shape 48"/>
          <p:cNvSpPr/>
          <p:nvPr/>
        </p:nvSpPr>
        <p:spPr>
          <a:xfrm>
            <a:off x="5646600" y="2473560"/>
            <a:ext cx="136800" cy="13680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84" name="Shape 49"/>
          <p:cNvSpPr/>
          <p:nvPr/>
        </p:nvSpPr>
        <p:spPr>
          <a:xfrm>
            <a:off x="6195240" y="2473560"/>
            <a:ext cx="136800" cy="13680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85" name="Shape 50"/>
          <p:cNvSpPr/>
          <p:nvPr/>
        </p:nvSpPr>
        <p:spPr>
          <a:xfrm>
            <a:off x="551844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86" name="Shape 51"/>
          <p:cNvSpPr/>
          <p:nvPr/>
        </p:nvSpPr>
        <p:spPr>
          <a:xfrm>
            <a:off x="579276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87" name="Shape 52"/>
          <p:cNvSpPr/>
          <p:nvPr/>
        </p:nvSpPr>
        <p:spPr>
          <a:xfrm>
            <a:off x="606708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88" name="Shape 53"/>
          <p:cNvSpPr/>
          <p:nvPr/>
        </p:nvSpPr>
        <p:spPr>
          <a:xfrm>
            <a:off x="6341400" y="301284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489" name="Text 54"/>
          <p:cNvSpPr/>
          <p:nvPr/>
        </p:nvSpPr>
        <p:spPr>
          <a:xfrm>
            <a:off x="6629400" y="2423160"/>
            <a:ext cx="13712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5d6e7c"/>
                </a:solidFill>
                <a:effectLst/>
                <a:uFillTx/>
                <a:latin typeface="Calibri"/>
                <a:ea typeface="Calibri"/>
              </a:rPr>
              <a:t>× 100 trees</a:t>
            </a:r>
            <a:endParaRPr b="0" lang="en-US" sz="1500" strike="noStrike" u="none">
              <a:solidFill>
                <a:srgbClr val="000000"/>
              </a:solidFill>
              <a:effectLst/>
              <a:uFillTx/>
              <a:latin typeface="Arial"/>
            </a:endParaRPr>
          </a:p>
        </p:txBody>
      </p:sp>
      <p:sp>
        <p:nvSpPr>
          <p:cNvPr id="490" name="Shape 55"/>
          <p:cNvSpPr/>
          <p:nvPr/>
        </p:nvSpPr>
        <p:spPr>
          <a:xfrm>
            <a:off x="7818120" y="2423160"/>
            <a:ext cx="502560" cy="328680"/>
          </a:xfrm>
          <a:prstGeom prst="rightArrow">
            <a:avLst>
              <a:gd name="adj1" fmla="val 50000"/>
              <a:gd name="adj2" fmla="val 50000"/>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91" name="Shape 56"/>
          <p:cNvSpPr/>
          <p:nvPr/>
        </p:nvSpPr>
        <p:spPr>
          <a:xfrm>
            <a:off x="8458200" y="1828800"/>
            <a:ext cx="3090240" cy="1599840"/>
          </a:xfrm>
          <a:prstGeom prst="roundRect">
            <a:avLst>
              <a:gd name="adj" fmla="val 4571"/>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92" name="Text 57"/>
          <p:cNvSpPr/>
          <p:nvPr/>
        </p:nvSpPr>
        <p:spPr>
          <a:xfrm>
            <a:off x="8732520" y="2057400"/>
            <a:ext cx="2559960" cy="1188360"/>
          </a:xfrm>
          <a:prstGeom prst="rect">
            <a:avLst/>
          </a:prstGeom>
          <a:noFill/>
          <a:ln w="0">
            <a:noFill/>
          </a:ln>
        </p:spPr>
        <p:style>
          <a:lnRef idx="0"/>
          <a:fillRef idx="0"/>
          <a:effectRef idx="0"/>
          <a:fontRef idx="minor"/>
        </p:style>
        <p:txBody>
          <a:bodyPr lIns="0" rIns="0" tIns="0" bIns="0" anchor="ctr">
            <a:noAutofit/>
          </a:bodyPr>
          <a:p>
            <a:r>
              <a:rPr b="0" lang="en-US" sz="1400" strike="noStrike" u="none">
                <a:solidFill>
                  <a:srgbClr val="ffffff"/>
                </a:solidFill>
                <a:effectLst/>
                <a:uFillTx/>
                <a:latin typeface="Calibri"/>
                <a:ea typeface="Calibri"/>
              </a:rPr>
              <a:t>Average their answers</a:t>
            </a:r>
            <a:endParaRPr b="0" lang="en-US" sz="1400" strike="noStrike" u="none">
              <a:solidFill>
                <a:srgbClr val="000000"/>
              </a:solidFill>
              <a:effectLst/>
              <a:uFillTx/>
              <a:latin typeface="Arial"/>
            </a:endParaRPr>
          </a:p>
          <a:p>
            <a:pPr defTabSz="914400">
              <a:lnSpc>
                <a:spcPct val="100000"/>
              </a:lnSpc>
              <a:tabLst>
                <a:tab algn="l" pos="0"/>
              </a:tabLst>
            </a:pPr>
            <a:endParaRPr b="0" lang="en-US" sz="1400" strike="noStrike" u="none">
              <a:solidFill>
                <a:srgbClr val="000000"/>
              </a:solidFill>
              <a:effectLst/>
              <a:uFillTx/>
              <a:latin typeface="Arial"/>
            </a:endParaRPr>
          </a:p>
          <a:p>
            <a:pPr defTabSz="914400">
              <a:lnSpc>
                <a:spcPct val="100000"/>
              </a:lnSpc>
              <a:tabLst>
                <a:tab algn="l" pos="0"/>
              </a:tabLst>
            </a:pPr>
            <a:r>
              <a:rPr b="1" lang="en-US" sz="3000" strike="noStrike" u="none">
                <a:solidFill>
                  <a:srgbClr val="ffffff"/>
                </a:solidFill>
                <a:effectLst/>
                <a:uFillTx/>
                <a:latin typeface="Cambria"/>
                <a:ea typeface="Cambria"/>
              </a:rPr>
              <a:t>$241,300</a:t>
            </a:r>
            <a:endParaRPr b="0" lang="en-US" sz="3000" strike="noStrike" u="none">
              <a:solidFill>
                <a:srgbClr val="000000"/>
              </a:solidFill>
              <a:effectLst/>
              <a:uFillTx/>
              <a:latin typeface="Arial"/>
            </a:endParaRPr>
          </a:p>
        </p:txBody>
      </p:sp>
      <p:sp>
        <p:nvSpPr>
          <p:cNvPr id="493" name="Shape 58"/>
          <p:cNvSpPr/>
          <p:nvPr/>
        </p:nvSpPr>
        <p:spPr>
          <a:xfrm>
            <a:off x="640080" y="3749040"/>
            <a:ext cx="5266440" cy="2057040"/>
          </a:xfrm>
          <a:prstGeom prst="roundRect">
            <a:avLst>
              <a:gd name="adj" fmla="val 3556"/>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94" name="Text 59"/>
          <p:cNvSpPr/>
          <p:nvPr/>
        </p:nvSpPr>
        <p:spPr>
          <a:xfrm>
            <a:off x="987480" y="3977640"/>
            <a:ext cx="45716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trike="noStrike" u="none">
                <a:solidFill>
                  <a:srgbClr val="14202b"/>
                </a:solidFill>
                <a:effectLst/>
                <a:uFillTx/>
                <a:latin typeface="Cambria"/>
                <a:ea typeface="Cambria"/>
              </a:rPr>
              <a:t>Random forest</a:t>
            </a:r>
            <a:endParaRPr b="0" lang="en-US" sz="2200" strike="noStrike" u="none">
              <a:solidFill>
                <a:srgbClr val="000000"/>
              </a:solidFill>
              <a:effectLst/>
              <a:uFillTx/>
              <a:latin typeface="Arial"/>
            </a:endParaRPr>
          </a:p>
        </p:txBody>
      </p:sp>
      <p:sp>
        <p:nvSpPr>
          <p:cNvPr id="495" name="Text 60"/>
          <p:cNvSpPr/>
          <p:nvPr/>
        </p:nvSpPr>
        <p:spPr>
          <a:xfrm>
            <a:off x="987480" y="4480560"/>
            <a:ext cx="4571640" cy="11883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trike="noStrike" u="none">
                <a:solidFill>
                  <a:srgbClr val="5d6e7c"/>
                </a:solidFill>
                <a:effectLst/>
                <a:uFillTx/>
                <a:latin typeface="Calibri"/>
                <a:ea typeface="Calibri"/>
              </a:rPr>
              <a:t>Train many trees, each on a random subset of the rows and a random subset of the features. Average the predictions. Individual mistakes cancel out.</a:t>
            </a:r>
            <a:endParaRPr b="0" lang="en-US" sz="1500" strike="noStrike" u="none">
              <a:solidFill>
                <a:srgbClr val="000000"/>
              </a:solidFill>
              <a:effectLst/>
              <a:uFillTx/>
              <a:latin typeface="Arial"/>
            </a:endParaRPr>
          </a:p>
        </p:txBody>
      </p:sp>
      <p:sp>
        <p:nvSpPr>
          <p:cNvPr id="496" name="Shape 61"/>
          <p:cNvSpPr/>
          <p:nvPr/>
        </p:nvSpPr>
        <p:spPr>
          <a:xfrm>
            <a:off x="6282000" y="3749040"/>
            <a:ext cx="5266440" cy="2057040"/>
          </a:xfrm>
          <a:prstGeom prst="roundRect">
            <a:avLst>
              <a:gd name="adj" fmla="val 3556"/>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97" name="Text 62"/>
          <p:cNvSpPr/>
          <p:nvPr/>
        </p:nvSpPr>
        <p:spPr>
          <a:xfrm>
            <a:off x="6629400" y="3977640"/>
            <a:ext cx="45716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trike="noStrike" u="none">
                <a:solidFill>
                  <a:srgbClr val="14202b"/>
                </a:solidFill>
                <a:effectLst/>
                <a:uFillTx/>
                <a:latin typeface="Cambria"/>
                <a:ea typeface="Cambria"/>
              </a:rPr>
              <a:t>Gradient boosting</a:t>
            </a:r>
            <a:endParaRPr b="0" lang="en-US" sz="2200" strike="noStrike" u="none">
              <a:solidFill>
                <a:srgbClr val="000000"/>
              </a:solidFill>
              <a:effectLst/>
              <a:uFillTx/>
              <a:latin typeface="Arial"/>
            </a:endParaRPr>
          </a:p>
        </p:txBody>
      </p:sp>
      <p:sp>
        <p:nvSpPr>
          <p:cNvPr id="498" name="Text 63"/>
          <p:cNvSpPr/>
          <p:nvPr/>
        </p:nvSpPr>
        <p:spPr>
          <a:xfrm>
            <a:off x="6629400" y="4480560"/>
            <a:ext cx="4571640" cy="11883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trike="noStrike" u="none">
                <a:solidFill>
                  <a:srgbClr val="5d6e7c"/>
                </a:solidFill>
                <a:effectLst/>
                <a:uFillTx/>
                <a:latin typeface="Calibri"/>
                <a:ea typeface="Calibri"/>
              </a:rPr>
              <a:t>Train trees in sequence. Each new tree predicts the errors the previous ones left behind. XGBoost and LightGBM do this, and they still win most tabular competitions.</a:t>
            </a:r>
            <a:endParaRPr b="0" lang="en-US" sz="1500" strike="noStrike" u="none">
              <a:solidFill>
                <a:srgbClr val="000000"/>
              </a:solidFill>
              <a:effectLst/>
              <a:uFillTx/>
              <a:latin typeface="Arial"/>
            </a:endParaRPr>
          </a:p>
        </p:txBody>
      </p:sp>
      <p:sp>
        <p:nvSpPr>
          <p:cNvPr id="499" name="Text 64"/>
          <p:cNvSpPr/>
          <p:nvPr/>
        </p:nvSpPr>
        <p:spPr>
          <a:xfrm>
            <a:off x="640080" y="5943600"/>
            <a:ext cx="1091124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25323d"/>
                </a:solidFill>
                <a:effectLst/>
                <a:uFillTx/>
                <a:latin typeface="Calibri"/>
                <a:ea typeface="Calibri"/>
              </a:rPr>
              <a:t>Same pipeline. Same evaluation. Still nothing but questions with learned thresholds.</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4202b"/>
        </a:solidFill>
      </p:bgPr>
    </p:bg>
    <p:spTree>
      <p:nvGrpSpPr>
        <p:cNvPr id="1" name=""/>
        <p:cNvGrpSpPr/>
        <p:nvPr/>
      </p:nvGrpSpPr>
      <p:grpSpPr>
        <a:xfrm>
          <a:off x="0" y="0"/>
          <a:ext cx="0" cy="0"/>
          <a:chOff x="0" y="0"/>
          <a:chExt cx="0" cy="0"/>
        </a:xfrm>
      </p:grpSpPr>
      <p:sp>
        <p:nvSpPr>
          <p:cNvPr id="500" name="Text 0"/>
          <p:cNvSpPr/>
          <p:nvPr/>
        </p:nvSpPr>
        <p:spPr>
          <a:xfrm>
            <a:off x="640080" y="1600200"/>
            <a:ext cx="10881000" cy="868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4600" strike="noStrike" u="none">
                <a:solidFill>
                  <a:srgbClr val="ffffff"/>
                </a:solidFill>
                <a:effectLst/>
                <a:uFillTx/>
                <a:latin typeface="Cambria"/>
                <a:ea typeface="Cambria"/>
              </a:rPr>
              <a:t>y = mx + b</a:t>
            </a:r>
            <a:endParaRPr b="0" lang="en-US" sz="4600" strike="noStrike" u="none">
              <a:solidFill>
                <a:srgbClr val="ffffff"/>
              </a:solidFill>
              <a:effectLst/>
              <a:uFillTx/>
              <a:latin typeface="Arial"/>
            </a:endParaRPr>
          </a:p>
        </p:txBody>
      </p:sp>
      <p:sp>
        <p:nvSpPr>
          <p:cNvPr id="501" name="Text 1"/>
          <p:cNvSpPr/>
          <p:nvPr/>
        </p:nvSpPr>
        <p:spPr>
          <a:xfrm>
            <a:off x="640080" y="2468880"/>
            <a:ext cx="1088100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400" strike="noStrike" u="none">
                <a:solidFill>
                  <a:srgbClr val="ff6b35"/>
                </a:solidFill>
                <a:effectLst/>
                <a:uFillTx/>
                <a:latin typeface="Cambria"/>
                <a:ea typeface="Cambria"/>
              </a:rPr>
              <a:t>was a perceptron all along.</a:t>
            </a:r>
            <a:endParaRPr b="0" lang="en-US" sz="4400" strike="noStrike" u="none">
              <a:solidFill>
                <a:srgbClr val="ffffff"/>
              </a:solidFill>
              <a:effectLst/>
              <a:uFillTx/>
              <a:latin typeface="Arial"/>
            </a:endParaRPr>
          </a:p>
        </p:txBody>
      </p:sp>
      <p:sp>
        <p:nvSpPr>
          <p:cNvPr id="502" name="Text 2"/>
          <p:cNvSpPr/>
          <p:nvPr/>
        </p:nvSpPr>
        <p:spPr>
          <a:xfrm>
            <a:off x="640080" y="3703320"/>
            <a:ext cx="10881000" cy="10969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900" strike="noStrike" u="none">
                <a:solidFill>
                  <a:srgbClr val="aebecb"/>
                </a:solidFill>
                <a:effectLst/>
                <a:uFillTx/>
                <a:latin typeface="Calibri"/>
                <a:ea typeface="Calibri"/>
              </a:rPr>
              <a:t>Put a switch on the output. Then let x be any function of the inputs — a square, a product of two columns, or the output of another unit. That last one is the entire idea of a network.</a:t>
            </a:r>
            <a:endParaRPr b="0" lang="en-US" sz="1900" strike="noStrike" u="none">
              <a:solidFill>
                <a:srgbClr val="ffffff"/>
              </a:solidFill>
              <a:effectLst/>
              <a:uFillTx/>
              <a:latin typeface="Arial"/>
            </a:endParaRPr>
          </a:p>
        </p:txBody>
      </p:sp>
      <p:sp>
        <p:nvSpPr>
          <p:cNvPr id="503" name="Shape 3"/>
          <p:cNvSpPr/>
          <p:nvPr/>
        </p:nvSpPr>
        <p:spPr>
          <a:xfrm>
            <a:off x="640080" y="498348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04" name="Text 4"/>
          <p:cNvSpPr/>
          <p:nvPr/>
        </p:nvSpPr>
        <p:spPr>
          <a:xfrm>
            <a:off x="640080" y="498348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ff6b35"/>
                </a:solidFill>
                <a:effectLst/>
                <a:uFillTx/>
                <a:latin typeface="Calibri"/>
                <a:ea typeface="Calibri"/>
              </a:rPr>
              <a:t>Perceptron</a:t>
            </a:r>
            <a:endParaRPr b="0" lang="en-US" sz="1800" strike="noStrike" u="none">
              <a:solidFill>
                <a:srgbClr val="ffffff"/>
              </a:solidFill>
              <a:effectLst/>
              <a:uFillTx/>
              <a:latin typeface="Arial"/>
            </a:endParaRPr>
          </a:p>
        </p:txBody>
      </p:sp>
      <p:sp>
        <p:nvSpPr>
          <p:cNvPr id="505" name="Shape 5"/>
          <p:cNvSpPr/>
          <p:nvPr/>
        </p:nvSpPr>
        <p:spPr>
          <a:xfrm>
            <a:off x="4370760" y="498348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06" name="Text 6"/>
          <p:cNvSpPr/>
          <p:nvPr/>
        </p:nvSpPr>
        <p:spPr>
          <a:xfrm>
            <a:off x="4370760" y="498348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d6e0e8"/>
                </a:solidFill>
                <a:effectLst/>
                <a:uFillTx/>
                <a:latin typeface="Calibri"/>
                <a:ea typeface="Calibri"/>
              </a:rPr>
              <a:t>Activation</a:t>
            </a:r>
            <a:endParaRPr b="0" lang="en-US" sz="1800" strike="noStrike" u="none">
              <a:solidFill>
                <a:srgbClr val="ffffff"/>
              </a:solidFill>
              <a:effectLst/>
              <a:uFillTx/>
              <a:latin typeface="Arial"/>
            </a:endParaRPr>
          </a:p>
        </p:txBody>
      </p:sp>
      <p:sp>
        <p:nvSpPr>
          <p:cNvPr id="507" name="Shape 7"/>
          <p:cNvSpPr/>
          <p:nvPr/>
        </p:nvSpPr>
        <p:spPr>
          <a:xfrm>
            <a:off x="8101440" y="498348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08" name="Text 8"/>
          <p:cNvSpPr/>
          <p:nvPr/>
        </p:nvSpPr>
        <p:spPr>
          <a:xfrm>
            <a:off x="8101440" y="498348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d6e0e8"/>
                </a:solidFill>
                <a:effectLst/>
                <a:uFillTx/>
                <a:latin typeface="Calibri"/>
                <a:ea typeface="Calibri"/>
              </a:rPr>
              <a:t>Backpropagation</a:t>
            </a:r>
            <a:endParaRPr b="0" lang="en-US" sz="18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9"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THE UNIT</a:t>
            </a:r>
            <a:endParaRPr b="0" lang="en-US" sz="1200" strike="noStrike" u="none">
              <a:solidFill>
                <a:srgbClr val="000000"/>
              </a:solidFill>
              <a:effectLst/>
              <a:uFillTx/>
              <a:latin typeface="Arial"/>
            </a:endParaRPr>
          </a:p>
        </p:txBody>
      </p:sp>
      <p:sp>
        <p:nvSpPr>
          <p:cNvPr id="510"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A perceptron is your line with a switch on the end</a:t>
            </a:r>
            <a:endParaRPr b="0" lang="en-US" sz="3200" strike="noStrike" u="none">
              <a:solidFill>
                <a:srgbClr val="000000"/>
              </a:solidFill>
              <a:effectLst/>
              <a:uFillTx/>
              <a:latin typeface="Arial"/>
            </a:endParaRPr>
          </a:p>
        </p:txBody>
      </p:sp>
      <p:sp>
        <p:nvSpPr>
          <p:cNvPr id="511" name="Shape 2"/>
          <p:cNvSpPr/>
          <p:nvPr/>
        </p:nvSpPr>
        <p:spPr>
          <a:xfrm rot="1542000">
            <a:off x="1533600" y="2819520"/>
            <a:ext cx="1897200" cy="28800"/>
          </a:xfrm>
          <a:prstGeom prst="rect">
            <a:avLst/>
          </a:prstGeom>
          <a:solidFill>
            <a:srgbClr val="c9d2d9"/>
          </a:solidFill>
          <a:ln w="0">
            <a:noFill/>
          </a:ln>
        </p:spPr>
        <p:style>
          <a:lnRef idx="0"/>
          <a:fillRef idx="0"/>
          <a:effectRef idx="0"/>
          <a:fontRef idx="minor"/>
        </p:style>
        <p:txBody>
          <a:bodyPr lIns="90000" rIns="90000" tIns="-15840" bIns="-15840" anchor="t">
            <a:noAutofit/>
          </a:bodyPr>
          <a:p>
            <a:endParaRPr b="0" lang="en-US" sz="1800" strike="noStrike" u="none">
              <a:solidFill>
                <a:srgbClr val="000000"/>
              </a:solidFill>
              <a:effectLst/>
              <a:uFillTx/>
              <a:latin typeface="Arial"/>
            </a:endParaRPr>
          </a:p>
        </p:txBody>
      </p:sp>
      <p:sp>
        <p:nvSpPr>
          <p:cNvPr id="512" name="Shape 3"/>
          <p:cNvSpPr/>
          <p:nvPr/>
        </p:nvSpPr>
        <p:spPr>
          <a:xfrm>
            <a:off x="1216080" y="2221920"/>
            <a:ext cx="402120" cy="4021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13" name="Text 4"/>
          <p:cNvSpPr/>
          <p:nvPr/>
        </p:nvSpPr>
        <p:spPr>
          <a:xfrm>
            <a:off x="548640" y="2267640"/>
            <a:ext cx="594000" cy="3106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600" strike="noStrike" u="none">
                <a:solidFill>
                  <a:srgbClr val="5d6e7c"/>
                </a:solidFill>
                <a:effectLst/>
                <a:uFillTx/>
                <a:latin typeface="Cambria"/>
                <a:ea typeface="Cambria"/>
              </a:rPr>
              <a:t>x1</a:t>
            </a:r>
            <a:endParaRPr b="0" lang="en-US" sz="1600" strike="noStrike" u="none">
              <a:solidFill>
                <a:srgbClr val="000000"/>
              </a:solidFill>
              <a:effectLst/>
              <a:uFillTx/>
              <a:latin typeface="Arial"/>
            </a:endParaRPr>
          </a:p>
        </p:txBody>
      </p:sp>
      <p:sp>
        <p:nvSpPr>
          <p:cNvPr id="514" name="Shape 5"/>
          <p:cNvSpPr/>
          <p:nvPr/>
        </p:nvSpPr>
        <p:spPr>
          <a:xfrm>
            <a:off x="1627560" y="3231360"/>
            <a:ext cx="1709640" cy="28800"/>
          </a:xfrm>
          <a:prstGeom prst="rect">
            <a:avLst/>
          </a:prstGeom>
          <a:solidFill>
            <a:srgbClr val="c9d2d9"/>
          </a:solidFill>
          <a:ln w="0">
            <a:noFill/>
          </a:ln>
        </p:spPr>
        <p:style>
          <a:lnRef idx="0"/>
          <a:fillRef idx="0"/>
          <a:effectRef idx="0"/>
          <a:fontRef idx="minor"/>
        </p:style>
        <p:txBody>
          <a:bodyPr lIns="90000" rIns="90000" tIns="-15840" bIns="-15840" anchor="t">
            <a:noAutofit/>
          </a:bodyPr>
          <a:p>
            <a:endParaRPr b="0" lang="en-US" sz="1800" strike="noStrike" u="none">
              <a:solidFill>
                <a:srgbClr val="000000"/>
              </a:solidFill>
              <a:effectLst/>
              <a:uFillTx/>
              <a:latin typeface="Arial"/>
            </a:endParaRPr>
          </a:p>
        </p:txBody>
      </p:sp>
      <p:sp>
        <p:nvSpPr>
          <p:cNvPr id="515" name="Shape 6"/>
          <p:cNvSpPr/>
          <p:nvPr/>
        </p:nvSpPr>
        <p:spPr>
          <a:xfrm>
            <a:off x="1216080" y="3044880"/>
            <a:ext cx="402120" cy="4021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16" name="Text 7"/>
          <p:cNvSpPr/>
          <p:nvPr/>
        </p:nvSpPr>
        <p:spPr>
          <a:xfrm>
            <a:off x="548640" y="3090600"/>
            <a:ext cx="594000" cy="3106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600" strike="noStrike" u="none">
                <a:solidFill>
                  <a:srgbClr val="5d6e7c"/>
                </a:solidFill>
                <a:effectLst/>
                <a:uFillTx/>
                <a:latin typeface="Cambria"/>
                <a:ea typeface="Cambria"/>
              </a:rPr>
              <a:t>x2</a:t>
            </a:r>
            <a:endParaRPr b="0" lang="en-US" sz="1600" strike="noStrike" u="none">
              <a:solidFill>
                <a:srgbClr val="000000"/>
              </a:solidFill>
              <a:effectLst/>
              <a:uFillTx/>
              <a:latin typeface="Arial"/>
            </a:endParaRPr>
          </a:p>
        </p:txBody>
      </p:sp>
      <p:sp>
        <p:nvSpPr>
          <p:cNvPr id="517" name="Shape 8"/>
          <p:cNvSpPr/>
          <p:nvPr/>
        </p:nvSpPr>
        <p:spPr>
          <a:xfrm rot="20058000">
            <a:off x="1533600" y="3642840"/>
            <a:ext cx="1897200" cy="28800"/>
          </a:xfrm>
          <a:prstGeom prst="rect">
            <a:avLst/>
          </a:prstGeom>
          <a:solidFill>
            <a:srgbClr val="c9d2d9"/>
          </a:solidFill>
          <a:ln w="0">
            <a:noFill/>
          </a:ln>
        </p:spPr>
        <p:style>
          <a:lnRef idx="0"/>
          <a:fillRef idx="0"/>
          <a:effectRef idx="0"/>
          <a:fontRef idx="minor"/>
        </p:style>
        <p:txBody>
          <a:bodyPr lIns="90000" rIns="90000" tIns="-15840" bIns="-15840" anchor="t">
            <a:noAutofit/>
          </a:bodyPr>
          <a:p>
            <a:endParaRPr b="0" lang="en-US" sz="1800" strike="noStrike" u="none">
              <a:solidFill>
                <a:srgbClr val="000000"/>
              </a:solidFill>
              <a:effectLst/>
              <a:uFillTx/>
              <a:latin typeface="Arial"/>
            </a:endParaRPr>
          </a:p>
        </p:txBody>
      </p:sp>
      <p:sp>
        <p:nvSpPr>
          <p:cNvPr id="518" name="Shape 9"/>
          <p:cNvSpPr/>
          <p:nvPr/>
        </p:nvSpPr>
        <p:spPr>
          <a:xfrm>
            <a:off x="1216080" y="3867840"/>
            <a:ext cx="402120" cy="4021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19" name="Text 10"/>
          <p:cNvSpPr/>
          <p:nvPr/>
        </p:nvSpPr>
        <p:spPr>
          <a:xfrm>
            <a:off x="548640" y="3913560"/>
            <a:ext cx="594000" cy="3106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600" strike="noStrike" u="none">
                <a:solidFill>
                  <a:srgbClr val="5d6e7c"/>
                </a:solidFill>
                <a:effectLst/>
                <a:uFillTx/>
                <a:latin typeface="Cambria"/>
                <a:ea typeface="Cambria"/>
              </a:rPr>
              <a:t>x3</a:t>
            </a:r>
            <a:endParaRPr b="0" lang="en-US" sz="1600" strike="noStrike" u="none">
              <a:solidFill>
                <a:srgbClr val="000000"/>
              </a:solidFill>
              <a:effectLst/>
              <a:uFillTx/>
              <a:latin typeface="Arial"/>
            </a:endParaRPr>
          </a:p>
        </p:txBody>
      </p:sp>
      <p:sp>
        <p:nvSpPr>
          <p:cNvPr id="520" name="Shape 11"/>
          <p:cNvSpPr/>
          <p:nvPr/>
        </p:nvSpPr>
        <p:spPr>
          <a:xfrm>
            <a:off x="4160520" y="3231360"/>
            <a:ext cx="1005480" cy="28800"/>
          </a:xfrm>
          <a:prstGeom prst="rect">
            <a:avLst/>
          </a:prstGeom>
          <a:solidFill>
            <a:srgbClr val="c9d2d9"/>
          </a:solidFill>
          <a:ln w="0">
            <a:noFill/>
          </a:ln>
        </p:spPr>
        <p:style>
          <a:lnRef idx="0"/>
          <a:fillRef idx="0"/>
          <a:effectRef idx="0"/>
          <a:fontRef idx="minor"/>
        </p:style>
        <p:txBody>
          <a:bodyPr lIns="90000" rIns="90000" tIns="-15840" bIns="-15840" anchor="t">
            <a:noAutofit/>
          </a:bodyPr>
          <a:p>
            <a:endParaRPr b="0" lang="en-US" sz="1800" strike="noStrike" u="none">
              <a:solidFill>
                <a:srgbClr val="000000"/>
              </a:solidFill>
              <a:effectLst/>
              <a:uFillTx/>
              <a:latin typeface="Arial"/>
            </a:endParaRPr>
          </a:p>
        </p:txBody>
      </p:sp>
      <p:sp>
        <p:nvSpPr>
          <p:cNvPr id="521" name="Shape 12"/>
          <p:cNvSpPr/>
          <p:nvPr/>
        </p:nvSpPr>
        <p:spPr>
          <a:xfrm>
            <a:off x="5989320" y="3231360"/>
            <a:ext cx="1096920" cy="28800"/>
          </a:xfrm>
          <a:prstGeom prst="rect">
            <a:avLst/>
          </a:prstGeom>
          <a:solidFill>
            <a:srgbClr val="c9d2d9"/>
          </a:solidFill>
          <a:ln w="0">
            <a:noFill/>
          </a:ln>
        </p:spPr>
        <p:style>
          <a:lnRef idx="0"/>
          <a:fillRef idx="0"/>
          <a:effectRef idx="0"/>
          <a:fontRef idx="minor"/>
        </p:style>
        <p:txBody>
          <a:bodyPr lIns="90000" rIns="90000" tIns="-15840" bIns="-15840" anchor="t">
            <a:noAutofit/>
          </a:bodyPr>
          <a:p>
            <a:endParaRPr b="0" lang="en-US" sz="1800" strike="noStrike" u="none">
              <a:solidFill>
                <a:srgbClr val="000000"/>
              </a:solidFill>
              <a:effectLst/>
              <a:uFillTx/>
              <a:latin typeface="Arial"/>
            </a:endParaRPr>
          </a:p>
        </p:txBody>
      </p:sp>
      <p:sp>
        <p:nvSpPr>
          <p:cNvPr id="522" name="Shape 13"/>
          <p:cNvSpPr/>
          <p:nvPr/>
        </p:nvSpPr>
        <p:spPr>
          <a:xfrm>
            <a:off x="3337560" y="2834640"/>
            <a:ext cx="822600" cy="822600"/>
          </a:xfrm>
          <a:prstGeom prst="ellipse">
            <a:avLst/>
          </a:prstGeom>
          <a:solidFill>
            <a:srgbClr val="14202b"/>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23" name="Text 14"/>
          <p:cNvSpPr/>
          <p:nvPr/>
        </p:nvSpPr>
        <p:spPr>
          <a:xfrm>
            <a:off x="3337560" y="2834640"/>
            <a:ext cx="822600" cy="822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600" strike="noStrike" u="none">
                <a:solidFill>
                  <a:srgbClr val="ffffff"/>
                </a:solidFill>
                <a:effectLst/>
                <a:uFillTx/>
                <a:latin typeface="Cambria"/>
                <a:ea typeface="Cambria"/>
              </a:rPr>
              <a:t>Σ</a:t>
            </a:r>
            <a:endParaRPr b="0" lang="en-US" sz="2600" strike="noStrike" u="none">
              <a:solidFill>
                <a:srgbClr val="000000"/>
              </a:solidFill>
              <a:effectLst/>
              <a:uFillTx/>
              <a:latin typeface="Arial"/>
            </a:endParaRPr>
          </a:p>
        </p:txBody>
      </p:sp>
      <p:sp>
        <p:nvSpPr>
          <p:cNvPr id="524" name="Shape 15"/>
          <p:cNvSpPr/>
          <p:nvPr/>
        </p:nvSpPr>
        <p:spPr>
          <a:xfrm>
            <a:off x="5166360" y="2834640"/>
            <a:ext cx="822600" cy="82260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25" name="Text 16"/>
          <p:cNvSpPr/>
          <p:nvPr/>
        </p:nvSpPr>
        <p:spPr>
          <a:xfrm>
            <a:off x="5166360" y="2834640"/>
            <a:ext cx="822600" cy="822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i="1" lang="en-US" sz="2600" strike="noStrike" u="none">
                <a:solidFill>
                  <a:srgbClr val="ffffff"/>
                </a:solidFill>
                <a:effectLst/>
                <a:uFillTx/>
                <a:latin typeface="Cambria"/>
                <a:ea typeface="Cambria"/>
              </a:rPr>
              <a:t>f</a:t>
            </a:r>
            <a:endParaRPr b="0" lang="en-US" sz="2600" strike="noStrike" u="none">
              <a:solidFill>
                <a:srgbClr val="000000"/>
              </a:solidFill>
              <a:effectLst/>
              <a:uFillTx/>
              <a:latin typeface="Arial"/>
            </a:endParaRPr>
          </a:p>
        </p:txBody>
      </p:sp>
      <p:sp>
        <p:nvSpPr>
          <p:cNvPr id="526" name="Shape 17"/>
          <p:cNvSpPr/>
          <p:nvPr/>
        </p:nvSpPr>
        <p:spPr>
          <a:xfrm>
            <a:off x="6949440" y="3017520"/>
            <a:ext cx="456840" cy="45684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27" name="Text 18"/>
          <p:cNvSpPr/>
          <p:nvPr/>
        </p:nvSpPr>
        <p:spPr>
          <a:xfrm>
            <a:off x="7498080" y="3090600"/>
            <a:ext cx="54828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mbria"/>
                <a:ea typeface="Cambria"/>
              </a:rPr>
              <a:t>a</a:t>
            </a:r>
            <a:endParaRPr b="0" lang="en-US" sz="1800" strike="noStrike" u="none">
              <a:solidFill>
                <a:srgbClr val="000000"/>
              </a:solidFill>
              <a:effectLst/>
              <a:uFillTx/>
              <a:latin typeface="Arial"/>
            </a:endParaRPr>
          </a:p>
        </p:txBody>
      </p:sp>
      <p:sp>
        <p:nvSpPr>
          <p:cNvPr id="528" name="Text 19"/>
          <p:cNvSpPr/>
          <p:nvPr/>
        </p:nvSpPr>
        <p:spPr>
          <a:xfrm>
            <a:off x="1965960" y="4343400"/>
            <a:ext cx="164556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300" strike="noStrike" u="none">
                <a:solidFill>
                  <a:srgbClr val="5d6e7c"/>
                </a:solidFill>
                <a:effectLst/>
                <a:uFillTx/>
                <a:latin typeface="Calibri"/>
                <a:ea typeface="Calibri"/>
              </a:rPr>
              <a:t>weights</a:t>
            </a:r>
            <a:endParaRPr b="0" lang="en-US" sz="1300" strike="noStrike" u="none">
              <a:solidFill>
                <a:srgbClr val="000000"/>
              </a:solidFill>
              <a:effectLst/>
              <a:uFillTx/>
              <a:latin typeface="Arial"/>
            </a:endParaRPr>
          </a:p>
        </p:txBody>
      </p:sp>
      <p:sp>
        <p:nvSpPr>
          <p:cNvPr id="529" name="Text 20"/>
          <p:cNvSpPr/>
          <p:nvPr/>
        </p:nvSpPr>
        <p:spPr>
          <a:xfrm>
            <a:off x="2880360" y="4343400"/>
            <a:ext cx="17370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300" strike="noStrike" u="none">
                <a:solidFill>
                  <a:srgbClr val="5d6e7c"/>
                </a:solidFill>
                <a:effectLst/>
                <a:uFillTx/>
                <a:latin typeface="Calibri"/>
                <a:ea typeface="Calibri"/>
              </a:rPr>
              <a:t>sum + bias</a:t>
            </a:r>
            <a:endParaRPr b="0" lang="en-US" sz="1300" strike="noStrike" u="none">
              <a:solidFill>
                <a:srgbClr val="000000"/>
              </a:solidFill>
              <a:effectLst/>
              <a:uFillTx/>
              <a:latin typeface="Arial"/>
            </a:endParaRPr>
          </a:p>
        </p:txBody>
      </p:sp>
      <p:sp>
        <p:nvSpPr>
          <p:cNvPr id="530" name="Text 21"/>
          <p:cNvSpPr/>
          <p:nvPr/>
        </p:nvSpPr>
        <p:spPr>
          <a:xfrm>
            <a:off x="4709160" y="4343400"/>
            <a:ext cx="17370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300" strike="noStrike" u="none">
                <a:solidFill>
                  <a:srgbClr val="5d6e7c"/>
                </a:solidFill>
                <a:effectLst/>
                <a:uFillTx/>
                <a:latin typeface="Calibri"/>
                <a:ea typeface="Calibri"/>
              </a:rPr>
              <a:t>activation</a:t>
            </a:r>
            <a:endParaRPr b="0" lang="en-US" sz="1300" strike="noStrike" u="none">
              <a:solidFill>
                <a:srgbClr val="000000"/>
              </a:solidFill>
              <a:effectLst/>
              <a:uFillTx/>
              <a:latin typeface="Arial"/>
            </a:endParaRPr>
          </a:p>
        </p:txBody>
      </p:sp>
      <p:sp>
        <p:nvSpPr>
          <p:cNvPr id="531" name="Text 22"/>
          <p:cNvSpPr/>
          <p:nvPr/>
        </p:nvSpPr>
        <p:spPr>
          <a:xfrm>
            <a:off x="822960" y="4892040"/>
            <a:ext cx="676620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400" strike="noStrike" u="none">
                <a:solidFill>
                  <a:srgbClr val="14202b"/>
                </a:solidFill>
                <a:effectLst/>
                <a:uFillTx/>
                <a:latin typeface="Cambria"/>
                <a:ea typeface="Cambria"/>
              </a:rPr>
              <a:t>z  =  w · x + b          a  =  f(z)</a:t>
            </a:r>
            <a:endParaRPr b="0" lang="en-US" sz="2400" strike="noStrike" u="none">
              <a:solidFill>
                <a:srgbClr val="000000"/>
              </a:solidFill>
              <a:effectLst/>
              <a:uFillTx/>
              <a:latin typeface="Arial"/>
            </a:endParaRPr>
          </a:p>
        </p:txBody>
      </p:sp>
      <p:sp>
        <p:nvSpPr>
          <p:cNvPr id="532" name="Shape 23"/>
          <p:cNvSpPr/>
          <p:nvPr/>
        </p:nvSpPr>
        <p:spPr>
          <a:xfrm>
            <a:off x="7955280" y="1783080"/>
            <a:ext cx="402120" cy="402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33" name="Text 24"/>
          <p:cNvSpPr/>
          <p:nvPr/>
        </p:nvSpPr>
        <p:spPr>
          <a:xfrm>
            <a:off x="7955280" y="1783080"/>
            <a:ext cx="402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1</a:t>
            </a:r>
            <a:endParaRPr b="0" lang="en-US" sz="1600" strike="noStrike" u="none">
              <a:solidFill>
                <a:srgbClr val="000000"/>
              </a:solidFill>
              <a:effectLst/>
              <a:uFillTx/>
              <a:latin typeface="Arial"/>
            </a:endParaRPr>
          </a:p>
        </p:txBody>
      </p:sp>
      <p:sp>
        <p:nvSpPr>
          <p:cNvPr id="534" name="Text 25"/>
          <p:cNvSpPr/>
          <p:nvPr/>
        </p:nvSpPr>
        <p:spPr>
          <a:xfrm>
            <a:off x="8522280" y="1792080"/>
            <a:ext cx="3026160" cy="347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The sum is what you built</a:t>
            </a:r>
            <a:endParaRPr b="0" lang="en-US" sz="1650" strike="noStrike" u="none">
              <a:solidFill>
                <a:srgbClr val="000000"/>
              </a:solidFill>
              <a:effectLst/>
              <a:uFillTx/>
              <a:latin typeface="Arial"/>
            </a:endParaRPr>
          </a:p>
        </p:txBody>
      </p:sp>
      <p:sp>
        <p:nvSpPr>
          <p:cNvPr id="535" name="Text 26"/>
          <p:cNvSpPr/>
          <p:nvPr/>
        </p:nvSpPr>
        <p:spPr>
          <a:xfrm>
            <a:off x="8522280" y="2148840"/>
            <a:ext cx="302616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z = w · x + b, character for character the linear model from earlier.</a:t>
            </a:r>
            <a:endParaRPr b="0" lang="en-US" sz="1350" strike="noStrike" u="none">
              <a:solidFill>
                <a:srgbClr val="000000"/>
              </a:solidFill>
              <a:effectLst/>
              <a:uFillTx/>
              <a:latin typeface="Arial"/>
            </a:endParaRPr>
          </a:p>
        </p:txBody>
      </p:sp>
      <p:sp>
        <p:nvSpPr>
          <p:cNvPr id="536" name="Shape 27"/>
          <p:cNvSpPr/>
          <p:nvPr/>
        </p:nvSpPr>
        <p:spPr>
          <a:xfrm>
            <a:off x="7955280" y="3081600"/>
            <a:ext cx="402120" cy="402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37" name="Text 28"/>
          <p:cNvSpPr/>
          <p:nvPr/>
        </p:nvSpPr>
        <p:spPr>
          <a:xfrm>
            <a:off x="7955280" y="3081600"/>
            <a:ext cx="402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2</a:t>
            </a:r>
            <a:endParaRPr b="0" lang="en-US" sz="1600" strike="noStrike" u="none">
              <a:solidFill>
                <a:srgbClr val="000000"/>
              </a:solidFill>
              <a:effectLst/>
              <a:uFillTx/>
              <a:latin typeface="Arial"/>
            </a:endParaRPr>
          </a:p>
        </p:txBody>
      </p:sp>
      <p:sp>
        <p:nvSpPr>
          <p:cNvPr id="538" name="Text 29"/>
          <p:cNvSpPr/>
          <p:nvPr/>
        </p:nvSpPr>
        <p:spPr>
          <a:xfrm>
            <a:off x="8522280" y="3090600"/>
            <a:ext cx="3026160" cy="347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f is the activation</a:t>
            </a:r>
            <a:endParaRPr b="0" lang="en-US" sz="1650" strike="noStrike" u="none">
              <a:solidFill>
                <a:srgbClr val="000000"/>
              </a:solidFill>
              <a:effectLst/>
              <a:uFillTx/>
              <a:latin typeface="Arial"/>
            </a:endParaRPr>
          </a:p>
        </p:txBody>
      </p:sp>
      <p:sp>
        <p:nvSpPr>
          <p:cNvPr id="539" name="Text 30"/>
          <p:cNvSpPr/>
          <p:nvPr/>
        </p:nvSpPr>
        <p:spPr>
          <a:xfrm>
            <a:off x="8522280" y="3447360"/>
            <a:ext cx="302616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ReLU, sigmoid, tanh. It decides whether the unit fires and how hard.</a:t>
            </a:r>
            <a:endParaRPr b="0" lang="en-US" sz="1350" strike="noStrike" u="none">
              <a:solidFill>
                <a:srgbClr val="000000"/>
              </a:solidFill>
              <a:effectLst/>
              <a:uFillTx/>
              <a:latin typeface="Arial"/>
            </a:endParaRPr>
          </a:p>
        </p:txBody>
      </p:sp>
      <p:sp>
        <p:nvSpPr>
          <p:cNvPr id="540" name="Shape 31"/>
          <p:cNvSpPr/>
          <p:nvPr/>
        </p:nvSpPr>
        <p:spPr>
          <a:xfrm>
            <a:off x="7955280" y="4380120"/>
            <a:ext cx="402120" cy="402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41" name="Text 32"/>
          <p:cNvSpPr/>
          <p:nvPr/>
        </p:nvSpPr>
        <p:spPr>
          <a:xfrm>
            <a:off x="7955280" y="4380120"/>
            <a:ext cx="402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3</a:t>
            </a:r>
            <a:endParaRPr b="0" lang="en-US" sz="1600" strike="noStrike" u="none">
              <a:solidFill>
                <a:srgbClr val="000000"/>
              </a:solidFill>
              <a:effectLst/>
              <a:uFillTx/>
              <a:latin typeface="Arial"/>
            </a:endParaRPr>
          </a:p>
        </p:txBody>
      </p:sp>
      <p:sp>
        <p:nvSpPr>
          <p:cNvPr id="542" name="Text 33"/>
          <p:cNvSpPr/>
          <p:nvPr/>
        </p:nvSpPr>
        <p:spPr>
          <a:xfrm>
            <a:off x="8522280" y="4389120"/>
            <a:ext cx="3026160" cy="347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x can be anything</a:t>
            </a:r>
            <a:endParaRPr b="0" lang="en-US" sz="1650" strike="noStrike" u="none">
              <a:solidFill>
                <a:srgbClr val="000000"/>
              </a:solidFill>
              <a:effectLst/>
              <a:uFillTx/>
              <a:latin typeface="Arial"/>
            </a:endParaRPr>
          </a:p>
        </p:txBody>
      </p:sp>
      <p:sp>
        <p:nvSpPr>
          <p:cNvPr id="543" name="Text 34"/>
          <p:cNvSpPr/>
          <p:nvPr/>
        </p:nvSpPr>
        <p:spPr>
          <a:xfrm>
            <a:off x="8522280" y="4745880"/>
            <a:ext cx="302616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A raw feature, a squared feature, a product of two columns — or the output of another unit.</a:t>
            </a:r>
            <a:endParaRPr b="0" lang="en-US" sz="1350" strike="noStrike" u="none">
              <a:solidFill>
                <a:srgbClr val="000000"/>
              </a:solidFill>
              <a:effectLst/>
              <a:uFillTx/>
              <a:latin typeface="Arial"/>
            </a:endParaRPr>
          </a:p>
        </p:txBody>
      </p:sp>
      <p:sp>
        <p:nvSpPr>
          <p:cNvPr id="544" name="Shape 35"/>
          <p:cNvSpPr/>
          <p:nvPr/>
        </p:nvSpPr>
        <p:spPr>
          <a:xfrm>
            <a:off x="640080" y="5623560"/>
            <a:ext cx="10911240" cy="776880"/>
          </a:xfrm>
          <a:prstGeom prst="roundRect">
            <a:avLst>
              <a:gd name="adj" fmla="val 9412"/>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5" name="Text 36"/>
          <p:cNvSpPr/>
          <p:nvPr/>
        </p:nvSpPr>
        <p:spPr>
          <a:xfrm>
            <a:off x="960120" y="5623560"/>
            <a:ext cx="1027116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14202b"/>
                </a:solidFill>
                <a:effectLst/>
                <a:uFillTx/>
                <a:latin typeface="Calibri"/>
                <a:ea typeface="Calibri"/>
              </a:rPr>
              <a:t>You have already trained two of these. </a:t>
            </a:r>
            <a:r>
              <a:rPr b="0" lang="en-US" sz="1600" strike="noStrike" u="none">
                <a:solidFill>
                  <a:srgbClr val="25323d"/>
                </a:solidFill>
                <a:effectLst/>
                <a:uFillTx/>
                <a:latin typeface="Calibri"/>
                <a:ea typeface="Calibri"/>
              </a:rPr>
              <a:t>One perceptron with no activation is linear regression. One with a sigmoid is logistic regression.</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6"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STACK IT</a:t>
            </a:r>
            <a:endParaRPr b="0" lang="en-US" sz="1200" strike="noStrike" u="none">
              <a:solidFill>
                <a:srgbClr val="000000"/>
              </a:solidFill>
              <a:effectLst/>
              <a:uFillTx/>
              <a:latin typeface="Arial"/>
            </a:endParaRPr>
          </a:p>
        </p:txBody>
      </p:sp>
      <p:sp>
        <p:nvSpPr>
          <p:cNvPr id="547"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Stack the unit and you get a network</a:t>
            </a:r>
            <a:endParaRPr b="0" lang="en-US" sz="3200" strike="noStrike" u="none">
              <a:solidFill>
                <a:srgbClr val="000000"/>
              </a:solidFill>
              <a:effectLst/>
              <a:uFillTx/>
              <a:latin typeface="Arial"/>
            </a:endParaRPr>
          </a:p>
        </p:txBody>
      </p:sp>
      <p:sp>
        <p:nvSpPr>
          <p:cNvPr id="548" name="Shape 2"/>
          <p:cNvSpPr/>
          <p:nvPr/>
        </p:nvSpPr>
        <p:spPr>
          <a:xfrm rot="21153000">
            <a:off x="1743840" y="2090880"/>
            <a:ext cx="282168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49" name="Shape 3"/>
          <p:cNvSpPr/>
          <p:nvPr/>
        </p:nvSpPr>
        <p:spPr>
          <a:xfrm rot="556800">
            <a:off x="1737000" y="2502720"/>
            <a:ext cx="283464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50" name="Shape 4"/>
          <p:cNvSpPr/>
          <p:nvPr/>
        </p:nvSpPr>
        <p:spPr>
          <a:xfrm rot="1474800">
            <a:off x="1616040" y="2913840"/>
            <a:ext cx="307656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51" name="Shape 5"/>
          <p:cNvSpPr/>
          <p:nvPr/>
        </p:nvSpPr>
        <p:spPr>
          <a:xfrm rot="2215800">
            <a:off x="1404720" y="3325680"/>
            <a:ext cx="349992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52" name="Shape 6"/>
          <p:cNvSpPr/>
          <p:nvPr/>
        </p:nvSpPr>
        <p:spPr>
          <a:xfrm rot="20125200">
            <a:off x="1616040" y="2548440"/>
            <a:ext cx="307656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53" name="Shape 7"/>
          <p:cNvSpPr/>
          <p:nvPr/>
        </p:nvSpPr>
        <p:spPr>
          <a:xfrm rot="21043800">
            <a:off x="1736640" y="2959920"/>
            <a:ext cx="283464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54" name="Shape 8"/>
          <p:cNvSpPr/>
          <p:nvPr/>
        </p:nvSpPr>
        <p:spPr>
          <a:xfrm rot="447000">
            <a:off x="1743480" y="3371040"/>
            <a:ext cx="282168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55" name="Shape 9"/>
          <p:cNvSpPr/>
          <p:nvPr/>
        </p:nvSpPr>
        <p:spPr>
          <a:xfrm rot="1381200">
            <a:off x="1634760" y="3782880"/>
            <a:ext cx="303984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56" name="Shape 10"/>
          <p:cNvSpPr/>
          <p:nvPr/>
        </p:nvSpPr>
        <p:spPr>
          <a:xfrm rot="19313400">
            <a:off x="1376640" y="3005640"/>
            <a:ext cx="355572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57" name="Shape 11"/>
          <p:cNvSpPr/>
          <p:nvPr/>
        </p:nvSpPr>
        <p:spPr>
          <a:xfrm rot="20033400">
            <a:off x="1596240" y="3417120"/>
            <a:ext cx="311580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58" name="Shape 12"/>
          <p:cNvSpPr/>
          <p:nvPr/>
        </p:nvSpPr>
        <p:spPr>
          <a:xfrm rot="20934600">
            <a:off x="1728720" y="3828600"/>
            <a:ext cx="285084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59" name="Shape 13"/>
          <p:cNvSpPr/>
          <p:nvPr/>
        </p:nvSpPr>
        <p:spPr>
          <a:xfrm rot="336000">
            <a:off x="1748880" y="4239720"/>
            <a:ext cx="281124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60" name="Shape 14"/>
          <p:cNvSpPr/>
          <p:nvPr/>
        </p:nvSpPr>
        <p:spPr>
          <a:xfrm rot="1428600">
            <a:off x="4825800" y="2525400"/>
            <a:ext cx="305784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61" name="Shape 15"/>
          <p:cNvSpPr/>
          <p:nvPr/>
        </p:nvSpPr>
        <p:spPr>
          <a:xfrm rot="502200">
            <a:off x="4941000" y="2936880"/>
            <a:ext cx="282780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62" name="Shape 16"/>
          <p:cNvSpPr/>
          <p:nvPr/>
        </p:nvSpPr>
        <p:spPr>
          <a:xfrm rot="21098400">
            <a:off x="4940640" y="3348000"/>
            <a:ext cx="282780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63" name="Shape 17"/>
          <p:cNvSpPr/>
          <p:nvPr/>
        </p:nvSpPr>
        <p:spPr>
          <a:xfrm rot="20171400">
            <a:off x="4825800" y="3759840"/>
            <a:ext cx="3057840" cy="23400"/>
          </a:xfrm>
          <a:prstGeom prst="rect">
            <a:avLst/>
          </a:prstGeom>
          <a:solidFill>
            <a:srgbClr val="d2dae1"/>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564" name="Shape 18"/>
          <p:cNvSpPr/>
          <p:nvPr/>
        </p:nvSpPr>
        <p:spPr>
          <a:xfrm>
            <a:off x="1353240" y="2084760"/>
            <a:ext cx="402120" cy="4021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65" name="Text 19"/>
          <p:cNvSpPr/>
          <p:nvPr/>
        </p:nvSpPr>
        <p:spPr>
          <a:xfrm>
            <a:off x="731520" y="2139840"/>
            <a:ext cx="566640" cy="3106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500" strike="noStrike" u="none">
                <a:solidFill>
                  <a:srgbClr val="5d6e7c"/>
                </a:solidFill>
                <a:effectLst/>
                <a:uFillTx/>
                <a:latin typeface="Cambria"/>
                <a:ea typeface="Cambria"/>
              </a:rPr>
              <a:t>x1</a:t>
            </a:r>
            <a:endParaRPr b="0" lang="en-US" sz="1500" strike="noStrike" u="none">
              <a:solidFill>
                <a:srgbClr val="000000"/>
              </a:solidFill>
              <a:effectLst/>
              <a:uFillTx/>
              <a:latin typeface="Arial"/>
            </a:endParaRPr>
          </a:p>
        </p:txBody>
      </p:sp>
      <p:sp>
        <p:nvSpPr>
          <p:cNvPr id="566" name="Shape 20"/>
          <p:cNvSpPr/>
          <p:nvPr/>
        </p:nvSpPr>
        <p:spPr>
          <a:xfrm>
            <a:off x="1353240" y="2999160"/>
            <a:ext cx="402120" cy="4021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67" name="Text 21"/>
          <p:cNvSpPr/>
          <p:nvPr/>
        </p:nvSpPr>
        <p:spPr>
          <a:xfrm>
            <a:off x="731520" y="3054240"/>
            <a:ext cx="566640" cy="3106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500" strike="noStrike" u="none">
                <a:solidFill>
                  <a:srgbClr val="5d6e7c"/>
                </a:solidFill>
                <a:effectLst/>
                <a:uFillTx/>
                <a:latin typeface="Cambria"/>
                <a:ea typeface="Cambria"/>
              </a:rPr>
              <a:t>x2</a:t>
            </a:r>
            <a:endParaRPr b="0" lang="en-US" sz="1500" strike="noStrike" u="none">
              <a:solidFill>
                <a:srgbClr val="000000"/>
              </a:solidFill>
              <a:effectLst/>
              <a:uFillTx/>
              <a:latin typeface="Arial"/>
            </a:endParaRPr>
          </a:p>
        </p:txBody>
      </p:sp>
      <p:sp>
        <p:nvSpPr>
          <p:cNvPr id="568" name="Shape 22"/>
          <p:cNvSpPr/>
          <p:nvPr/>
        </p:nvSpPr>
        <p:spPr>
          <a:xfrm>
            <a:off x="1353240" y="3913560"/>
            <a:ext cx="402120" cy="40212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69" name="Text 23"/>
          <p:cNvSpPr/>
          <p:nvPr/>
        </p:nvSpPr>
        <p:spPr>
          <a:xfrm>
            <a:off x="731520" y="3968640"/>
            <a:ext cx="566640" cy="3106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500" strike="noStrike" u="none">
                <a:solidFill>
                  <a:srgbClr val="5d6e7c"/>
                </a:solidFill>
                <a:effectLst/>
                <a:uFillTx/>
                <a:latin typeface="Cambria"/>
                <a:ea typeface="Cambria"/>
              </a:rPr>
              <a:t>x3</a:t>
            </a:r>
            <a:endParaRPr b="0" lang="en-US" sz="1500" strike="noStrike" u="none">
              <a:solidFill>
                <a:srgbClr val="000000"/>
              </a:solidFill>
              <a:effectLst/>
              <a:uFillTx/>
              <a:latin typeface="Arial"/>
            </a:endParaRPr>
          </a:p>
        </p:txBody>
      </p:sp>
      <p:sp>
        <p:nvSpPr>
          <p:cNvPr id="570" name="Shape 24"/>
          <p:cNvSpPr/>
          <p:nvPr/>
        </p:nvSpPr>
        <p:spPr>
          <a:xfrm>
            <a:off x="4553640" y="1719000"/>
            <a:ext cx="402120" cy="40212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71" name="Shape 25"/>
          <p:cNvSpPr/>
          <p:nvPr/>
        </p:nvSpPr>
        <p:spPr>
          <a:xfrm>
            <a:off x="4553640" y="2541960"/>
            <a:ext cx="402120" cy="40212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72" name="Shape 26"/>
          <p:cNvSpPr/>
          <p:nvPr/>
        </p:nvSpPr>
        <p:spPr>
          <a:xfrm>
            <a:off x="4553640" y="3364920"/>
            <a:ext cx="402120" cy="40212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73" name="Shape 27"/>
          <p:cNvSpPr/>
          <p:nvPr/>
        </p:nvSpPr>
        <p:spPr>
          <a:xfrm>
            <a:off x="4553640" y="4187880"/>
            <a:ext cx="402120" cy="40212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74" name="Shape 28"/>
          <p:cNvSpPr/>
          <p:nvPr/>
        </p:nvSpPr>
        <p:spPr>
          <a:xfrm>
            <a:off x="7726680" y="2926080"/>
            <a:ext cx="456840" cy="45684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75" name="Text 29"/>
          <p:cNvSpPr/>
          <p:nvPr/>
        </p:nvSpPr>
        <p:spPr>
          <a:xfrm>
            <a:off x="8321040" y="2971800"/>
            <a:ext cx="548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900" strike="noStrike" u="none">
                <a:solidFill>
                  <a:srgbClr val="14202b"/>
                </a:solidFill>
                <a:effectLst/>
                <a:uFillTx/>
                <a:latin typeface="Cambria"/>
                <a:ea typeface="Cambria"/>
              </a:rPr>
              <a:t>ŷ</a:t>
            </a:r>
            <a:endParaRPr b="0" lang="en-US" sz="1900" strike="noStrike" u="none">
              <a:solidFill>
                <a:srgbClr val="000000"/>
              </a:solidFill>
              <a:effectLst/>
              <a:uFillTx/>
              <a:latin typeface="Arial"/>
            </a:endParaRPr>
          </a:p>
        </p:txBody>
      </p:sp>
      <p:sp>
        <p:nvSpPr>
          <p:cNvPr id="576" name="Text 30"/>
          <p:cNvSpPr/>
          <p:nvPr/>
        </p:nvSpPr>
        <p:spPr>
          <a:xfrm>
            <a:off x="502920" y="4892040"/>
            <a:ext cx="2102760" cy="639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400" strike="noStrike" u="none">
                <a:solidFill>
                  <a:srgbClr val="5d6e7c"/>
                </a:solidFill>
                <a:effectLst/>
                <a:uFillTx/>
                <a:latin typeface="Calibri"/>
                <a:ea typeface="Calibri"/>
              </a:rPr>
              <a:t>inputs</a:t>
            </a:r>
            <a:endParaRPr b="0" lang="en-US" sz="1400" strike="noStrike" u="none">
              <a:solidFill>
                <a:srgbClr val="000000"/>
              </a:solidFill>
              <a:effectLst/>
              <a:uFillTx/>
              <a:latin typeface="Arial"/>
            </a:endParaRPr>
          </a:p>
        </p:txBody>
      </p:sp>
      <p:sp>
        <p:nvSpPr>
          <p:cNvPr id="577" name="Text 31"/>
          <p:cNvSpPr/>
          <p:nvPr/>
        </p:nvSpPr>
        <p:spPr>
          <a:xfrm>
            <a:off x="3703320" y="4892040"/>
            <a:ext cx="2102760" cy="639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400" strike="noStrike" u="none">
                <a:solidFill>
                  <a:srgbClr val="5d6e7c"/>
                </a:solidFill>
                <a:effectLst/>
                <a:uFillTx/>
                <a:latin typeface="Calibri"/>
                <a:ea typeface="Calibri"/>
              </a:rPr>
              <a:t>weighted sums</a:t>
            </a:r>
            <a:endParaRPr b="0" lang="en-US" sz="1400" strike="noStrike" u="none">
              <a:solidFill>
                <a:srgbClr val="000000"/>
              </a:solidFill>
              <a:effectLst/>
              <a:uFillTx/>
              <a:latin typeface="Arial"/>
            </a:endParaRPr>
          </a:p>
          <a:p>
            <a:pPr algn="ctr" defTabSz="914400">
              <a:lnSpc>
                <a:spcPct val="100000"/>
              </a:lnSpc>
              <a:tabLst>
                <a:tab algn="l" pos="0"/>
              </a:tabLst>
            </a:pPr>
            <a:r>
              <a:rPr b="0" lang="en-US" sz="1400" strike="noStrike" u="none">
                <a:solidFill>
                  <a:srgbClr val="5d6e7c"/>
                </a:solidFill>
                <a:effectLst/>
                <a:uFillTx/>
                <a:latin typeface="Calibri"/>
                <a:ea typeface="Calibri"/>
              </a:rPr>
              <a:t>+ activation</a:t>
            </a:r>
            <a:endParaRPr b="0" lang="en-US" sz="1400" strike="noStrike" u="none">
              <a:solidFill>
                <a:srgbClr val="000000"/>
              </a:solidFill>
              <a:effectLst/>
              <a:uFillTx/>
              <a:latin typeface="Arial"/>
            </a:endParaRPr>
          </a:p>
        </p:txBody>
      </p:sp>
      <p:sp>
        <p:nvSpPr>
          <p:cNvPr id="578" name="Text 32"/>
          <p:cNvSpPr/>
          <p:nvPr/>
        </p:nvSpPr>
        <p:spPr>
          <a:xfrm>
            <a:off x="6903720" y="4892040"/>
            <a:ext cx="2102760" cy="639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400" strike="noStrike" u="none">
                <a:solidFill>
                  <a:srgbClr val="5d6e7c"/>
                </a:solidFill>
                <a:effectLst/>
                <a:uFillTx/>
                <a:latin typeface="Calibri"/>
                <a:ea typeface="Calibri"/>
              </a:rPr>
              <a:t>output</a:t>
            </a:r>
            <a:endParaRPr b="0" lang="en-US" sz="1400" strike="noStrike" u="none">
              <a:solidFill>
                <a:srgbClr val="000000"/>
              </a:solidFill>
              <a:effectLst/>
              <a:uFillTx/>
              <a:latin typeface="Arial"/>
            </a:endParaRPr>
          </a:p>
        </p:txBody>
      </p:sp>
      <p:sp>
        <p:nvSpPr>
          <p:cNvPr id="579" name="Shape 33"/>
          <p:cNvSpPr/>
          <p:nvPr/>
        </p:nvSpPr>
        <p:spPr>
          <a:xfrm>
            <a:off x="9281160" y="188352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80" name="Text 34"/>
          <p:cNvSpPr/>
          <p:nvPr/>
        </p:nvSpPr>
        <p:spPr>
          <a:xfrm>
            <a:off x="9646920" y="1783080"/>
            <a:ext cx="210276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trike="noStrike" u="none">
                <a:solidFill>
                  <a:srgbClr val="14202b"/>
                </a:solidFill>
                <a:effectLst/>
                <a:uFillTx/>
                <a:latin typeface="Calibri"/>
                <a:ea typeface="Calibri"/>
              </a:rPr>
              <a:t>Every edge is a weight</a:t>
            </a:r>
            <a:endParaRPr b="0" lang="en-US" sz="1550" strike="noStrike" u="none">
              <a:solidFill>
                <a:srgbClr val="000000"/>
              </a:solidFill>
              <a:effectLst/>
              <a:uFillTx/>
              <a:latin typeface="Arial"/>
            </a:endParaRPr>
          </a:p>
        </p:txBody>
      </p:sp>
      <p:sp>
        <p:nvSpPr>
          <p:cNvPr id="581" name="Text 35"/>
          <p:cNvSpPr/>
          <p:nvPr/>
        </p:nvSpPr>
        <p:spPr>
          <a:xfrm>
            <a:off x="9646920" y="2130480"/>
            <a:ext cx="210276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Same w as before. There are just a lot more of them.</a:t>
            </a:r>
            <a:endParaRPr b="0" lang="en-US" sz="1300" strike="noStrike" u="none">
              <a:solidFill>
                <a:srgbClr val="000000"/>
              </a:solidFill>
              <a:effectLst/>
              <a:uFillTx/>
              <a:latin typeface="Arial"/>
            </a:endParaRPr>
          </a:p>
        </p:txBody>
      </p:sp>
      <p:sp>
        <p:nvSpPr>
          <p:cNvPr id="582" name="Shape 36"/>
          <p:cNvSpPr/>
          <p:nvPr/>
        </p:nvSpPr>
        <p:spPr>
          <a:xfrm>
            <a:off x="9281160" y="290772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83" name="Text 37"/>
          <p:cNvSpPr/>
          <p:nvPr/>
        </p:nvSpPr>
        <p:spPr>
          <a:xfrm>
            <a:off x="9646920" y="2807280"/>
            <a:ext cx="210276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trike="noStrike" u="none">
                <a:solidFill>
                  <a:srgbClr val="14202b"/>
                </a:solidFill>
                <a:effectLst/>
                <a:uFillTx/>
                <a:latin typeface="Calibri"/>
                <a:ea typeface="Calibri"/>
              </a:rPr>
              <a:t>Every node adds a bias</a:t>
            </a:r>
            <a:endParaRPr b="0" lang="en-US" sz="1550" strike="noStrike" u="none">
              <a:solidFill>
                <a:srgbClr val="000000"/>
              </a:solidFill>
              <a:effectLst/>
              <a:uFillTx/>
              <a:latin typeface="Arial"/>
            </a:endParaRPr>
          </a:p>
        </p:txBody>
      </p:sp>
      <p:sp>
        <p:nvSpPr>
          <p:cNvPr id="584" name="Text 38"/>
          <p:cNvSpPr/>
          <p:nvPr/>
        </p:nvSpPr>
        <p:spPr>
          <a:xfrm>
            <a:off x="9646920" y="3154680"/>
            <a:ext cx="210276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One bias per node, on top of everything arriving at it.</a:t>
            </a:r>
            <a:endParaRPr b="0" lang="en-US" sz="1300" strike="noStrike" u="none">
              <a:solidFill>
                <a:srgbClr val="000000"/>
              </a:solidFill>
              <a:effectLst/>
              <a:uFillTx/>
              <a:latin typeface="Arial"/>
            </a:endParaRPr>
          </a:p>
        </p:txBody>
      </p:sp>
      <p:sp>
        <p:nvSpPr>
          <p:cNvPr id="585" name="Shape 39"/>
          <p:cNvSpPr/>
          <p:nvPr/>
        </p:nvSpPr>
        <p:spPr>
          <a:xfrm>
            <a:off x="9281160" y="393192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86" name="Text 40"/>
          <p:cNvSpPr/>
          <p:nvPr/>
        </p:nvSpPr>
        <p:spPr>
          <a:xfrm>
            <a:off x="9646920" y="3831480"/>
            <a:ext cx="210276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trike="noStrike" u="none">
                <a:solidFill>
                  <a:srgbClr val="14202b"/>
                </a:solidFill>
                <a:effectLst/>
                <a:uFillTx/>
                <a:latin typeface="Calibri"/>
                <a:ea typeface="Calibri"/>
              </a:rPr>
              <a:t>Nobody picks them</a:t>
            </a:r>
            <a:endParaRPr b="0" lang="en-US" sz="1550" strike="noStrike" u="none">
              <a:solidFill>
                <a:srgbClr val="000000"/>
              </a:solidFill>
              <a:effectLst/>
              <a:uFillTx/>
              <a:latin typeface="Arial"/>
            </a:endParaRPr>
          </a:p>
        </p:txBody>
      </p:sp>
      <p:sp>
        <p:nvSpPr>
          <p:cNvPr id="587" name="Text 41"/>
          <p:cNvSpPr/>
          <p:nvPr/>
        </p:nvSpPr>
        <p:spPr>
          <a:xfrm>
            <a:off x="9646920" y="4178880"/>
            <a:ext cx="210276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Twenty-one numbers in this picture. Not one chosen by hand.</a:t>
            </a:r>
            <a:endParaRPr b="0" lang="en-US" sz="1300" strike="noStrike" u="none">
              <a:solidFill>
                <a:srgbClr val="000000"/>
              </a:solidFill>
              <a:effectLst/>
              <a:uFillTx/>
              <a:latin typeface="Arial"/>
            </a:endParaRPr>
          </a:p>
        </p:txBody>
      </p:sp>
      <p:sp>
        <p:nvSpPr>
          <p:cNvPr id="588" name="Text 42"/>
          <p:cNvSpPr/>
          <p:nvPr/>
        </p:nvSpPr>
        <p:spPr>
          <a:xfrm>
            <a:off x="640080" y="5806440"/>
            <a:ext cx="109112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25323d"/>
                </a:solidFill>
                <a:effectLst/>
                <a:uFillTx/>
                <a:latin typeface="Calibri"/>
                <a:ea typeface="Calibri"/>
              </a:rPr>
              <a:t>If you understood y = mx + b, you understood the unit. Everything past here is scale and plumbing.</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89"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THE ACTIVATION</a:t>
            </a:r>
            <a:endParaRPr b="0" lang="en-US" sz="1200" strike="noStrike" u="none">
              <a:solidFill>
                <a:srgbClr val="000000"/>
              </a:solidFill>
              <a:effectLst/>
              <a:uFillTx/>
              <a:latin typeface="Arial"/>
            </a:endParaRPr>
          </a:p>
        </p:txBody>
      </p:sp>
      <p:sp>
        <p:nvSpPr>
          <p:cNvPr id="590"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Why the switch is required</a:t>
            </a:r>
            <a:endParaRPr b="0" lang="en-US" sz="3200" strike="noStrike" u="none">
              <a:solidFill>
                <a:srgbClr val="000000"/>
              </a:solidFill>
              <a:effectLst/>
              <a:uFillTx/>
              <a:latin typeface="Arial"/>
            </a:endParaRPr>
          </a:p>
        </p:txBody>
      </p:sp>
      <p:sp>
        <p:nvSpPr>
          <p:cNvPr id="591" name="Shape 2"/>
          <p:cNvSpPr/>
          <p:nvPr/>
        </p:nvSpPr>
        <p:spPr>
          <a:xfrm>
            <a:off x="640080" y="1783080"/>
            <a:ext cx="5266440" cy="3748680"/>
          </a:xfrm>
          <a:prstGeom prst="roundRect">
            <a:avLst>
              <a:gd name="adj" fmla="val 1951"/>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92" name="Text 3"/>
          <p:cNvSpPr/>
          <p:nvPr/>
        </p:nvSpPr>
        <p:spPr>
          <a:xfrm>
            <a:off x="960120" y="1965960"/>
            <a:ext cx="45716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00" strike="noStrike" u="none">
                <a:solidFill>
                  <a:srgbClr val="14202b"/>
                </a:solidFill>
                <a:effectLst/>
                <a:uFillTx/>
                <a:latin typeface="Cambria"/>
                <a:ea typeface="Cambria"/>
              </a:rPr>
              <a:t>Stacking without it does nothing</a:t>
            </a:r>
            <a:endParaRPr b="0" lang="en-US" sz="2100" strike="noStrike" u="none">
              <a:solidFill>
                <a:srgbClr val="000000"/>
              </a:solidFill>
              <a:effectLst/>
              <a:uFillTx/>
              <a:latin typeface="Arial"/>
            </a:endParaRPr>
          </a:p>
        </p:txBody>
      </p:sp>
      <p:sp>
        <p:nvSpPr>
          <p:cNvPr id="593" name="Shape 4"/>
          <p:cNvSpPr/>
          <p:nvPr/>
        </p:nvSpPr>
        <p:spPr>
          <a:xfrm>
            <a:off x="960120" y="2651760"/>
            <a:ext cx="1188360" cy="566640"/>
          </a:xfrm>
          <a:prstGeom prst="roundRect">
            <a:avLst>
              <a:gd name="adj" fmla="val 11290"/>
            </a:avLst>
          </a:prstGeom>
          <a:solidFill>
            <a:srgbClr val="ffffff"/>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94" name="Text 5"/>
          <p:cNvSpPr/>
          <p:nvPr/>
        </p:nvSpPr>
        <p:spPr>
          <a:xfrm>
            <a:off x="960120" y="2651760"/>
            <a:ext cx="1188360" cy="5666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25323d"/>
                </a:solidFill>
                <a:effectLst/>
                <a:uFillTx/>
                <a:latin typeface="Calibri"/>
                <a:ea typeface="Calibri"/>
              </a:rPr>
              <a:t>linear</a:t>
            </a:r>
            <a:endParaRPr b="0" lang="en-US" sz="1400" strike="noStrike" u="none">
              <a:solidFill>
                <a:srgbClr val="000000"/>
              </a:solidFill>
              <a:effectLst/>
              <a:uFillTx/>
              <a:latin typeface="Arial"/>
            </a:endParaRPr>
          </a:p>
        </p:txBody>
      </p:sp>
      <p:sp>
        <p:nvSpPr>
          <p:cNvPr id="595" name="Shape 6"/>
          <p:cNvSpPr/>
          <p:nvPr/>
        </p:nvSpPr>
        <p:spPr>
          <a:xfrm>
            <a:off x="2240280" y="2825640"/>
            <a:ext cx="292320" cy="237240"/>
          </a:xfrm>
          <a:prstGeom prst="rightArrow">
            <a:avLst>
              <a:gd name="adj1" fmla="val 50000"/>
              <a:gd name="adj2" fmla="val 50000"/>
            </a:avLst>
          </a:prstGeom>
          <a:solidFill>
            <a:srgbClr val="b9c2cb"/>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96" name="Shape 7"/>
          <p:cNvSpPr/>
          <p:nvPr/>
        </p:nvSpPr>
        <p:spPr>
          <a:xfrm>
            <a:off x="2624400" y="2651760"/>
            <a:ext cx="1188360" cy="566640"/>
          </a:xfrm>
          <a:prstGeom prst="roundRect">
            <a:avLst>
              <a:gd name="adj" fmla="val 11290"/>
            </a:avLst>
          </a:prstGeom>
          <a:solidFill>
            <a:srgbClr val="ffffff"/>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97" name="Text 8"/>
          <p:cNvSpPr/>
          <p:nvPr/>
        </p:nvSpPr>
        <p:spPr>
          <a:xfrm>
            <a:off x="2624400" y="2651760"/>
            <a:ext cx="1188360" cy="5666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25323d"/>
                </a:solidFill>
                <a:effectLst/>
                <a:uFillTx/>
                <a:latin typeface="Calibri"/>
                <a:ea typeface="Calibri"/>
              </a:rPr>
              <a:t>linear</a:t>
            </a:r>
            <a:endParaRPr b="0" lang="en-US" sz="1400" strike="noStrike" u="none">
              <a:solidFill>
                <a:srgbClr val="000000"/>
              </a:solidFill>
              <a:effectLst/>
              <a:uFillTx/>
              <a:latin typeface="Arial"/>
            </a:endParaRPr>
          </a:p>
        </p:txBody>
      </p:sp>
      <p:sp>
        <p:nvSpPr>
          <p:cNvPr id="598" name="Text 9"/>
          <p:cNvSpPr/>
          <p:nvPr/>
        </p:nvSpPr>
        <p:spPr>
          <a:xfrm>
            <a:off x="3858840" y="2651760"/>
            <a:ext cx="319680" cy="5666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200" strike="noStrike" u="none">
                <a:solidFill>
                  <a:srgbClr val="5d6e7c"/>
                </a:solidFill>
                <a:effectLst/>
                <a:uFillTx/>
                <a:latin typeface="Cambria"/>
                <a:ea typeface="Cambria"/>
              </a:rPr>
              <a:t>=</a:t>
            </a:r>
            <a:endParaRPr b="0" lang="en-US" sz="2200" strike="noStrike" u="none">
              <a:solidFill>
                <a:srgbClr val="000000"/>
              </a:solidFill>
              <a:effectLst/>
              <a:uFillTx/>
              <a:latin typeface="Arial"/>
            </a:endParaRPr>
          </a:p>
        </p:txBody>
      </p:sp>
      <p:sp>
        <p:nvSpPr>
          <p:cNvPr id="599" name="Shape 10"/>
          <p:cNvSpPr/>
          <p:nvPr/>
        </p:nvSpPr>
        <p:spPr>
          <a:xfrm>
            <a:off x="4224600" y="2651760"/>
            <a:ext cx="1316520" cy="566640"/>
          </a:xfrm>
          <a:prstGeom prst="roundRect">
            <a:avLst>
              <a:gd name="adj" fmla="val 11290"/>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00" name="Text 11"/>
          <p:cNvSpPr/>
          <p:nvPr/>
        </p:nvSpPr>
        <p:spPr>
          <a:xfrm>
            <a:off x="4224600" y="2651760"/>
            <a:ext cx="1316520" cy="5666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ffffff"/>
                </a:solidFill>
                <a:effectLst/>
                <a:uFillTx/>
                <a:latin typeface="Calibri"/>
                <a:ea typeface="Calibri"/>
              </a:rPr>
              <a:t>still linear</a:t>
            </a:r>
            <a:endParaRPr b="0" lang="en-US" sz="1400" strike="noStrike" u="none">
              <a:solidFill>
                <a:srgbClr val="000000"/>
              </a:solidFill>
              <a:effectLst/>
              <a:uFillTx/>
              <a:latin typeface="Arial"/>
            </a:endParaRPr>
          </a:p>
        </p:txBody>
      </p:sp>
      <p:sp>
        <p:nvSpPr>
          <p:cNvPr id="601" name="Text 12"/>
          <p:cNvSpPr/>
          <p:nvPr/>
        </p:nvSpPr>
        <p:spPr>
          <a:xfrm>
            <a:off x="960120" y="3429000"/>
            <a:ext cx="4571640" cy="191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trike="noStrike" u="none">
                <a:solidFill>
                  <a:srgbClr val="5d6e7c"/>
                </a:solidFill>
                <a:effectLst/>
                <a:uFillTx/>
                <a:latin typeface="Calibri"/>
                <a:ea typeface="Calibri"/>
              </a:rPr>
              <a:t>Compose two linear functions and you get a linear function. Ten layers with no activation collapse into one straight line, and every extra unit buys you nothing at all. The switch on the end of each unit is the one thing that prevents the collapse.</a:t>
            </a:r>
            <a:endParaRPr b="0" lang="en-US" sz="1500" strike="noStrike" u="none">
              <a:solidFill>
                <a:srgbClr val="000000"/>
              </a:solidFill>
              <a:effectLst/>
              <a:uFillTx/>
              <a:latin typeface="Arial"/>
            </a:endParaRPr>
          </a:p>
        </p:txBody>
      </p:sp>
      <p:sp>
        <p:nvSpPr>
          <p:cNvPr id="602" name="Shape 13"/>
          <p:cNvSpPr/>
          <p:nvPr/>
        </p:nvSpPr>
        <p:spPr>
          <a:xfrm>
            <a:off x="6282000" y="1783080"/>
            <a:ext cx="5266440" cy="3748680"/>
          </a:xfrm>
          <a:prstGeom prst="roundRect">
            <a:avLst>
              <a:gd name="adj" fmla="val 1951"/>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03" name="Text 14"/>
          <p:cNvSpPr/>
          <p:nvPr/>
        </p:nvSpPr>
        <p:spPr>
          <a:xfrm>
            <a:off x="6602040" y="1965960"/>
            <a:ext cx="45716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00" strike="noStrike" u="none">
                <a:solidFill>
                  <a:srgbClr val="14202b"/>
                </a:solidFill>
                <a:effectLst/>
                <a:uFillTx/>
                <a:latin typeface="Cambria"/>
                <a:ea typeface="Cambria"/>
              </a:rPr>
              <a:t>ReLU is enough</a:t>
            </a:r>
            <a:endParaRPr b="0" lang="en-US" sz="2100" strike="noStrike" u="none">
              <a:solidFill>
                <a:srgbClr val="000000"/>
              </a:solidFill>
              <a:effectLst/>
              <a:uFillTx/>
              <a:latin typeface="Arial"/>
            </a:endParaRPr>
          </a:p>
        </p:txBody>
      </p:sp>
      <p:sp>
        <p:nvSpPr>
          <p:cNvPr id="604" name="Shape 15"/>
          <p:cNvSpPr/>
          <p:nvPr/>
        </p:nvSpPr>
        <p:spPr>
          <a:xfrm>
            <a:off x="6903720" y="4143960"/>
            <a:ext cx="201132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605" name="Shape 16"/>
          <p:cNvSpPr/>
          <p:nvPr/>
        </p:nvSpPr>
        <p:spPr>
          <a:xfrm rot="5400000">
            <a:off x="6126840" y="3366720"/>
            <a:ext cx="155412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606" name="Shape 17"/>
          <p:cNvSpPr/>
          <p:nvPr/>
        </p:nvSpPr>
        <p:spPr>
          <a:xfrm>
            <a:off x="6993000" y="4136760"/>
            <a:ext cx="893880" cy="47160"/>
          </a:xfrm>
          <a:prstGeom prst="rect">
            <a:avLst/>
          </a:prstGeom>
          <a:solidFill>
            <a:srgbClr val="ff6b35"/>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607" name="Shape 18"/>
          <p:cNvSpPr/>
          <p:nvPr/>
        </p:nvSpPr>
        <p:spPr>
          <a:xfrm rot="18208800">
            <a:off x="7523640" y="3461040"/>
            <a:ext cx="1620360" cy="47160"/>
          </a:xfrm>
          <a:prstGeom prst="rect">
            <a:avLst/>
          </a:prstGeom>
          <a:solidFill>
            <a:srgbClr val="ff6b35"/>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608" name="Text 19"/>
          <p:cNvSpPr/>
          <p:nvPr/>
        </p:nvSpPr>
        <p:spPr>
          <a:xfrm>
            <a:off x="6903720" y="4279320"/>
            <a:ext cx="201132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300" strike="noStrike" u="none">
                <a:solidFill>
                  <a:srgbClr val="25323d"/>
                </a:solidFill>
                <a:effectLst/>
                <a:uFillTx/>
                <a:latin typeface="Courier New"/>
                <a:ea typeface="Courier New"/>
              </a:rPr>
              <a:t>max(0, z)</a:t>
            </a:r>
            <a:endParaRPr b="0" lang="en-US" sz="1300" strike="noStrike" u="none">
              <a:solidFill>
                <a:srgbClr val="000000"/>
              </a:solidFill>
              <a:effectLst/>
              <a:uFillTx/>
              <a:latin typeface="Arial"/>
            </a:endParaRPr>
          </a:p>
        </p:txBody>
      </p:sp>
      <p:sp>
        <p:nvSpPr>
          <p:cNvPr id="609" name="Text 20"/>
          <p:cNvSpPr/>
          <p:nvPr/>
        </p:nvSpPr>
        <p:spPr>
          <a:xfrm>
            <a:off x="9189720" y="2606040"/>
            <a:ext cx="22856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14202b"/>
                </a:solidFill>
                <a:effectLst/>
                <a:uFillTx/>
                <a:latin typeface="Calibri"/>
                <a:ea typeface="Calibri"/>
              </a:rPr>
              <a:t>ReLU</a:t>
            </a:r>
            <a:endParaRPr b="0" lang="en-US" sz="1500" strike="noStrike" u="none">
              <a:solidFill>
                <a:srgbClr val="000000"/>
              </a:solidFill>
              <a:effectLst/>
              <a:uFillTx/>
              <a:latin typeface="Arial"/>
            </a:endParaRPr>
          </a:p>
        </p:txBody>
      </p:sp>
      <p:sp>
        <p:nvSpPr>
          <p:cNvPr id="610" name="Text 21"/>
          <p:cNvSpPr/>
          <p:nvPr/>
        </p:nvSpPr>
        <p:spPr>
          <a:xfrm>
            <a:off x="9189720" y="2853000"/>
            <a:ext cx="2285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zero below, identity above</a:t>
            </a:r>
            <a:endParaRPr b="0" lang="en-US" sz="1300" strike="noStrike" u="none">
              <a:solidFill>
                <a:srgbClr val="000000"/>
              </a:solidFill>
              <a:effectLst/>
              <a:uFillTx/>
              <a:latin typeface="Arial"/>
            </a:endParaRPr>
          </a:p>
        </p:txBody>
      </p:sp>
      <p:sp>
        <p:nvSpPr>
          <p:cNvPr id="611" name="Text 22"/>
          <p:cNvSpPr/>
          <p:nvPr/>
        </p:nvSpPr>
        <p:spPr>
          <a:xfrm>
            <a:off x="9189720" y="3173040"/>
            <a:ext cx="22856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14202b"/>
                </a:solidFill>
                <a:effectLst/>
                <a:uFillTx/>
                <a:latin typeface="Calibri"/>
                <a:ea typeface="Calibri"/>
              </a:rPr>
              <a:t>Sigmoid</a:t>
            </a:r>
            <a:endParaRPr b="0" lang="en-US" sz="1500" strike="noStrike" u="none">
              <a:solidFill>
                <a:srgbClr val="000000"/>
              </a:solidFill>
              <a:effectLst/>
              <a:uFillTx/>
              <a:latin typeface="Arial"/>
            </a:endParaRPr>
          </a:p>
        </p:txBody>
      </p:sp>
      <p:sp>
        <p:nvSpPr>
          <p:cNvPr id="612" name="Text 23"/>
          <p:cNvSpPr/>
          <p:nvPr/>
        </p:nvSpPr>
        <p:spPr>
          <a:xfrm>
            <a:off x="9189720" y="3420000"/>
            <a:ext cx="2285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squashes into 0 to 1</a:t>
            </a:r>
            <a:endParaRPr b="0" lang="en-US" sz="1300" strike="noStrike" u="none">
              <a:solidFill>
                <a:srgbClr val="000000"/>
              </a:solidFill>
              <a:effectLst/>
              <a:uFillTx/>
              <a:latin typeface="Arial"/>
            </a:endParaRPr>
          </a:p>
        </p:txBody>
      </p:sp>
      <p:sp>
        <p:nvSpPr>
          <p:cNvPr id="613" name="Text 24"/>
          <p:cNvSpPr/>
          <p:nvPr/>
        </p:nvSpPr>
        <p:spPr>
          <a:xfrm>
            <a:off x="9189720" y="3740040"/>
            <a:ext cx="22856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14202b"/>
                </a:solidFill>
                <a:effectLst/>
                <a:uFillTx/>
                <a:latin typeface="Calibri"/>
                <a:ea typeface="Calibri"/>
              </a:rPr>
              <a:t>tanh</a:t>
            </a:r>
            <a:endParaRPr b="0" lang="en-US" sz="1500" strike="noStrike" u="none">
              <a:solidFill>
                <a:srgbClr val="000000"/>
              </a:solidFill>
              <a:effectLst/>
              <a:uFillTx/>
              <a:latin typeface="Arial"/>
            </a:endParaRPr>
          </a:p>
        </p:txBody>
      </p:sp>
      <p:sp>
        <p:nvSpPr>
          <p:cNvPr id="614" name="Text 25"/>
          <p:cNvSpPr/>
          <p:nvPr/>
        </p:nvSpPr>
        <p:spPr>
          <a:xfrm>
            <a:off x="9189720" y="3986640"/>
            <a:ext cx="2285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squashes into −1 to 1</a:t>
            </a:r>
            <a:endParaRPr b="0" lang="en-US" sz="1300" strike="noStrike" u="none">
              <a:solidFill>
                <a:srgbClr val="000000"/>
              </a:solidFill>
              <a:effectLst/>
              <a:uFillTx/>
              <a:latin typeface="Arial"/>
            </a:endParaRPr>
          </a:p>
        </p:txBody>
      </p:sp>
      <p:sp>
        <p:nvSpPr>
          <p:cNvPr id="615" name="Text 26"/>
          <p:cNvSpPr/>
          <p:nvPr/>
        </p:nvSpPr>
        <p:spPr>
          <a:xfrm>
            <a:off x="6602040" y="4526280"/>
            <a:ext cx="45716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trike="noStrike" u="none">
                <a:solidFill>
                  <a:srgbClr val="5d6e7c"/>
                </a:solidFill>
                <a:effectLst/>
                <a:uFillTx/>
                <a:latin typeface="Calibri"/>
                <a:ea typeface="Calibri"/>
              </a:rPr>
              <a:t>One kink is all it takes. Given enough units, a network of these can approximate essentially any continuous function.</a:t>
            </a:r>
            <a:endParaRPr b="0" lang="en-US" sz="1500" strike="noStrike" u="none">
              <a:solidFill>
                <a:srgbClr val="000000"/>
              </a:solidFill>
              <a:effectLst/>
              <a:uFillTx/>
              <a:latin typeface="Arial"/>
            </a:endParaRPr>
          </a:p>
        </p:txBody>
      </p:sp>
      <p:sp>
        <p:nvSpPr>
          <p:cNvPr id="616" name="Shape 27"/>
          <p:cNvSpPr/>
          <p:nvPr/>
        </p:nvSpPr>
        <p:spPr>
          <a:xfrm>
            <a:off x="640080" y="5669280"/>
            <a:ext cx="10911240" cy="731160"/>
          </a:xfrm>
          <a:prstGeom prst="roundRect">
            <a:avLst>
              <a:gd name="adj" fmla="val 10000"/>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17" name="Text 28"/>
          <p:cNvSpPr/>
          <p:nvPr/>
        </p:nvSpPr>
        <p:spPr>
          <a:xfrm>
            <a:off x="960120" y="5669280"/>
            <a:ext cx="1027116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ff6b35"/>
                </a:solidFill>
                <a:effectLst/>
                <a:uFillTx/>
                <a:latin typeface="Calibri"/>
                <a:ea typeface="Calibri"/>
              </a:rPr>
              <a:t>Which leaves one question. </a:t>
            </a:r>
            <a:r>
              <a:rPr b="0" lang="en-US" sz="1550" strike="noStrike" u="none">
                <a:solidFill>
                  <a:srgbClr val="d6e0e8"/>
                </a:solidFill>
                <a:effectLst/>
                <a:uFillTx/>
                <a:latin typeface="Calibri"/>
                <a:ea typeface="Calibri"/>
              </a:rPr>
              <a:t>Nobody hand-picks those weights either. So how does a pile of units full of numbers actually get trained?</a:t>
            </a:r>
            <a:endParaRPr b="0" lang="en-US" sz="15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8"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GRADIENT DESCENT</a:t>
            </a:r>
            <a:endParaRPr b="0" lang="en-US" sz="1200" strike="noStrike" u="none">
              <a:solidFill>
                <a:srgbClr val="000000"/>
              </a:solidFill>
              <a:effectLst/>
              <a:uFillTx/>
              <a:latin typeface="Arial"/>
            </a:endParaRPr>
          </a:p>
        </p:txBody>
      </p:sp>
      <p:sp>
        <p:nvSpPr>
          <p:cNvPr id="619"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Loss is a function of the weights</a:t>
            </a:r>
            <a:endParaRPr b="0" lang="en-US" sz="3200" strike="noStrike" u="none">
              <a:solidFill>
                <a:srgbClr val="000000"/>
              </a:solidFill>
              <a:effectLst/>
              <a:uFillTx/>
              <a:latin typeface="Arial"/>
            </a:endParaRPr>
          </a:p>
        </p:txBody>
      </p:sp>
      <p:graphicFrame>
        <p:nvGraphicFramePr>
          <p:cNvPr id="620" name="Chart 0"/>
          <p:cNvGraphicFramePr/>
          <p:nvPr/>
        </p:nvGraphicFramePr>
        <p:xfrm>
          <a:off x="640080" y="1691640"/>
          <a:ext cx="6949080" cy="3931560"/>
        </p:xfrm>
        <a:graphic>
          <a:graphicData uri="http://schemas.openxmlformats.org/drawingml/2006/chart">
            <c:chart xmlns:c="http://schemas.openxmlformats.org/drawingml/2006/chart" xmlns:r="http://schemas.openxmlformats.org/officeDocument/2006/relationships" r:id="rId1"/>
          </a:graphicData>
        </a:graphic>
      </p:graphicFrame>
      <p:sp>
        <p:nvSpPr>
          <p:cNvPr id="621" name="Text 2"/>
          <p:cNvSpPr/>
          <p:nvPr/>
        </p:nvSpPr>
        <p:spPr>
          <a:xfrm>
            <a:off x="640080" y="5806440"/>
            <a:ext cx="69490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50" strike="noStrike" u="none">
                <a:solidFill>
                  <a:srgbClr val="5d6e7c"/>
                </a:solidFill>
                <a:effectLst/>
                <a:uFillTx/>
                <a:latin typeface="Calibri"/>
                <a:ea typeface="Calibri"/>
              </a:rPr>
              <a:t>A million weights make a surface nobody can draw. The procedure does not change.</a:t>
            </a:r>
            <a:endParaRPr b="0" lang="en-US" sz="1450" strike="noStrike" u="none">
              <a:solidFill>
                <a:srgbClr val="000000"/>
              </a:solidFill>
              <a:effectLst/>
              <a:uFillTx/>
              <a:latin typeface="Arial"/>
            </a:endParaRPr>
          </a:p>
        </p:txBody>
      </p:sp>
      <p:sp>
        <p:nvSpPr>
          <p:cNvPr id="622" name="Shape 3"/>
          <p:cNvSpPr/>
          <p:nvPr/>
        </p:nvSpPr>
        <p:spPr>
          <a:xfrm>
            <a:off x="7955280" y="1737360"/>
            <a:ext cx="3593160" cy="2011320"/>
          </a:xfrm>
          <a:prstGeom prst="roundRect">
            <a:avLst>
              <a:gd name="adj" fmla="val 3636"/>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23" name="Text 4"/>
          <p:cNvSpPr/>
          <p:nvPr/>
        </p:nvSpPr>
        <p:spPr>
          <a:xfrm>
            <a:off x="8229600" y="1938600"/>
            <a:ext cx="3108600" cy="1691280"/>
          </a:xfrm>
          <a:prstGeom prst="rect">
            <a:avLst/>
          </a:prstGeom>
          <a:noFill/>
          <a:ln w="0">
            <a:noFill/>
          </a:ln>
        </p:spPr>
        <p:style>
          <a:lnRef idx="0"/>
          <a:fillRef idx="0"/>
          <a:effectRef idx="0"/>
          <a:fontRef idx="minor"/>
        </p:style>
        <p:txBody>
          <a:bodyPr lIns="0" rIns="0" tIns="0" bIns="0" anchor="ctr">
            <a:noAutofit/>
          </a:bodyPr>
          <a:p>
            <a:r>
              <a:rPr b="1" lang="en-US" sz="2200" strike="noStrike" u="none">
                <a:solidFill>
                  <a:srgbClr val="ff6b35"/>
                </a:solidFill>
                <a:effectLst/>
                <a:uFillTx/>
                <a:latin typeface="Cambria"/>
                <a:ea typeface="Cambria"/>
              </a:rPr>
              <a:t>Flip the axes</a:t>
            </a:r>
            <a:endParaRPr b="0" lang="en-US" sz="2200" strike="noStrike" u="none">
              <a:solidFill>
                <a:srgbClr val="000000"/>
              </a:solidFill>
              <a:effectLst/>
              <a:uFillTx/>
              <a:latin typeface="Arial"/>
            </a:endParaRPr>
          </a:p>
          <a:p>
            <a:pPr defTabSz="914400">
              <a:lnSpc>
                <a:spcPct val="100000"/>
              </a:lnSpc>
              <a:tabLst>
                <a:tab algn="l" pos="0"/>
              </a:tabLst>
            </a:pPr>
            <a:endParaRPr b="0" lang="en-US" sz="2200" strike="noStrike" u="none">
              <a:solidFill>
                <a:srgbClr val="000000"/>
              </a:solidFill>
              <a:effectLst/>
              <a:uFillTx/>
              <a:latin typeface="Arial"/>
            </a:endParaRPr>
          </a:p>
          <a:p>
            <a:pPr defTabSz="914400">
              <a:lnSpc>
                <a:spcPct val="100000"/>
              </a:lnSpc>
              <a:tabLst>
                <a:tab algn="l" pos="0"/>
              </a:tabLst>
            </a:pPr>
            <a:r>
              <a:rPr b="0" lang="en-US" sz="1450" strike="noStrike" u="none">
                <a:solidFill>
                  <a:srgbClr val="d6e0e8"/>
                </a:solidFill>
                <a:effectLst/>
                <a:uFillTx/>
                <a:latin typeface="Calibri"/>
                <a:ea typeface="Calibri"/>
              </a:rPr>
              <a:t>The horizontal axis is no longer square footage. It is the value of w. The data is baked into the shape of the curve.</a:t>
            </a:r>
            <a:endParaRPr b="0" lang="en-US" sz="1450" strike="noStrike" u="none">
              <a:solidFill>
                <a:srgbClr val="000000"/>
              </a:solidFill>
              <a:effectLst/>
              <a:uFillTx/>
              <a:latin typeface="Arial"/>
            </a:endParaRPr>
          </a:p>
        </p:txBody>
      </p:sp>
      <p:sp>
        <p:nvSpPr>
          <p:cNvPr id="624" name="Shape 5"/>
          <p:cNvSpPr/>
          <p:nvPr/>
        </p:nvSpPr>
        <p:spPr>
          <a:xfrm>
            <a:off x="7955280" y="3886200"/>
            <a:ext cx="3593160" cy="2011320"/>
          </a:xfrm>
          <a:prstGeom prst="roundRect">
            <a:avLst>
              <a:gd name="adj" fmla="val 3636"/>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25" name="Text 6"/>
          <p:cNvSpPr/>
          <p:nvPr/>
        </p:nvSpPr>
        <p:spPr>
          <a:xfrm>
            <a:off x="8229600" y="4087440"/>
            <a:ext cx="3108600" cy="1691280"/>
          </a:xfrm>
          <a:prstGeom prst="rect">
            <a:avLst/>
          </a:prstGeom>
          <a:noFill/>
          <a:ln w="0">
            <a:noFill/>
          </a:ln>
        </p:spPr>
        <p:style>
          <a:lnRef idx="0"/>
          <a:fillRef idx="0"/>
          <a:effectRef idx="0"/>
          <a:fontRef idx="minor"/>
        </p:style>
        <p:txBody>
          <a:bodyPr lIns="0" rIns="0" tIns="0" bIns="0" anchor="ctr">
            <a:noAutofit/>
          </a:bodyPr>
          <a:p>
            <a:r>
              <a:rPr b="1" lang="en-US" sz="2200" strike="noStrike" u="none">
                <a:solidFill>
                  <a:srgbClr val="14202b"/>
                </a:solidFill>
                <a:effectLst/>
                <a:uFillTx/>
                <a:latin typeface="Cambria"/>
                <a:ea typeface="Cambria"/>
              </a:rPr>
              <a:t>Why a bowl</a:t>
            </a:r>
            <a:endParaRPr b="0" lang="en-US" sz="2200" strike="noStrike" u="none">
              <a:solidFill>
                <a:srgbClr val="000000"/>
              </a:solidFill>
              <a:effectLst/>
              <a:uFillTx/>
              <a:latin typeface="Arial"/>
            </a:endParaRPr>
          </a:p>
          <a:p>
            <a:pPr defTabSz="914400">
              <a:lnSpc>
                <a:spcPct val="100000"/>
              </a:lnSpc>
              <a:tabLst>
                <a:tab algn="l" pos="0"/>
              </a:tabLst>
            </a:pPr>
            <a:endParaRPr b="0" lang="en-US" sz="2200" strike="noStrike" u="none">
              <a:solidFill>
                <a:srgbClr val="000000"/>
              </a:solidFill>
              <a:effectLst/>
              <a:uFillTx/>
              <a:latin typeface="Arial"/>
            </a:endParaRPr>
          </a:p>
          <a:p>
            <a:pPr defTabSz="914400">
              <a:lnSpc>
                <a:spcPct val="100000"/>
              </a:lnSpc>
              <a:tabLst>
                <a:tab algn="l" pos="0"/>
              </a:tabLst>
            </a:pPr>
            <a:r>
              <a:rPr b="0" lang="en-US" sz="1450" strike="noStrike" u="none">
                <a:solidFill>
                  <a:srgbClr val="5d6e7c"/>
                </a:solidFill>
                <a:effectLst/>
                <a:uFillTx/>
                <a:latin typeface="Calibri"/>
                <a:ea typeface="Calibri"/>
              </a:rPr>
              <a:t>Squared error has exactly one lowest point. Start anywhere, keep walking downhill, and you arrive at the best w.</a:t>
            </a:r>
            <a:endParaRPr b="0" lang="en-US" sz="14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26"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THE GRADIENT</a:t>
            </a:r>
            <a:endParaRPr b="0" lang="en-US" sz="1200" strike="noStrike" u="none">
              <a:solidFill>
                <a:srgbClr val="000000"/>
              </a:solidFill>
              <a:effectLst/>
              <a:uFillTx/>
              <a:latin typeface="Arial"/>
            </a:endParaRPr>
          </a:p>
        </p:txBody>
      </p:sp>
      <p:sp>
        <p:nvSpPr>
          <p:cNvPr id="627"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The slope of the loss points the way out</a:t>
            </a:r>
            <a:endParaRPr b="0" lang="en-US" sz="3200" strike="noStrike" u="none">
              <a:solidFill>
                <a:srgbClr val="000000"/>
              </a:solidFill>
              <a:effectLst/>
              <a:uFillTx/>
              <a:latin typeface="Arial"/>
            </a:endParaRPr>
          </a:p>
        </p:txBody>
      </p:sp>
      <p:sp>
        <p:nvSpPr>
          <p:cNvPr id="628" name="Shape 2"/>
          <p:cNvSpPr/>
          <p:nvPr/>
        </p:nvSpPr>
        <p:spPr>
          <a:xfrm>
            <a:off x="1051560" y="5104080"/>
            <a:ext cx="576036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629" name="Shape 3"/>
          <p:cNvSpPr/>
          <p:nvPr/>
        </p:nvSpPr>
        <p:spPr>
          <a:xfrm rot="5400000">
            <a:off x="-593640" y="3458160"/>
            <a:ext cx="32914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630" name="Shape 4"/>
          <p:cNvSpPr/>
          <p:nvPr/>
        </p:nvSpPr>
        <p:spPr>
          <a:xfrm rot="3741600">
            <a:off x="984960" y="2282760"/>
            <a:ext cx="24804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31" name="Shape 5"/>
          <p:cNvSpPr/>
          <p:nvPr/>
        </p:nvSpPr>
        <p:spPr>
          <a:xfrm rot="3681600">
            <a:off x="1104480" y="2498400"/>
            <a:ext cx="24012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32" name="Shape 6"/>
          <p:cNvSpPr/>
          <p:nvPr/>
        </p:nvSpPr>
        <p:spPr>
          <a:xfrm rot="3618000">
            <a:off x="1223280" y="2705040"/>
            <a:ext cx="23220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33" name="Shape 7"/>
          <p:cNvSpPr/>
          <p:nvPr/>
        </p:nvSpPr>
        <p:spPr>
          <a:xfrm rot="3550200">
            <a:off x="1342440" y="2902320"/>
            <a:ext cx="22428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34" name="Shape 8"/>
          <p:cNvSpPr/>
          <p:nvPr/>
        </p:nvSpPr>
        <p:spPr>
          <a:xfrm rot="3477000">
            <a:off x="1461600" y="3090960"/>
            <a:ext cx="21672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35" name="Shape 9"/>
          <p:cNvSpPr/>
          <p:nvPr/>
        </p:nvSpPr>
        <p:spPr>
          <a:xfrm rot="3399000">
            <a:off x="1580400" y="3270240"/>
            <a:ext cx="20916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36" name="Shape 10"/>
          <p:cNvSpPr/>
          <p:nvPr/>
        </p:nvSpPr>
        <p:spPr>
          <a:xfrm rot="3315000">
            <a:off x="1699560" y="3440880"/>
            <a:ext cx="20160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37" name="Shape 11"/>
          <p:cNvSpPr/>
          <p:nvPr/>
        </p:nvSpPr>
        <p:spPr>
          <a:xfrm rot="3225000">
            <a:off x="1818360" y="3602520"/>
            <a:ext cx="19440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38" name="Shape 12"/>
          <p:cNvSpPr/>
          <p:nvPr/>
        </p:nvSpPr>
        <p:spPr>
          <a:xfrm rot="3127800">
            <a:off x="1937160" y="3755160"/>
            <a:ext cx="18720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39" name="Shape 13"/>
          <p:cNvSpPr/>
          <p:nvPr/>
        </p:nvSpPr>
        <p:spPr>
          <a:xfrm rot="3022800">
            <a:off x="2055600" y="3898800"/>
            <a:ext cx="18036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40" name="Shape 14"/>
          <p:cNvSpPr/>
          <p:nvPr/>
        </p:nvSpPr>
        <p:spPr>
          <a:xfrm rot="2909400">
            <a:off x="2174400" y="4033440"/>
            <a:ext cx="17352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41" name="Shape 15"/>
          <p:cNvSpPr/>
          <p:nvPr/>
        </p:nvSpPr>
        <p:spPr>
          <a:xfrm rot="2787000">
            <a:off x="2292840" y="4159440"/>
            <a:ext cx="16704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42" name="Shape 16"/>
          <p:cNvSpPr/>
          <p:nvPr/>
        </p:nvSpPr>
        <p:spPr>
          <a:xfrm rot="2655000">
            <a:off x="2411280" y="4276080"/>
            <a:ext cx="16056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43" name="Shape 17"/>
          <p:cNvSpPr/>
          <p:nvPr/>
        </p:nvSpPr>
        <p:spPr>
          <a:xfrm rot="2511600">
            <a:off x="2529720" y="4383720"/>
            <a:ext cx="15444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44" name="Shape 18"/>
          <p:cNvSpPr/>
          <p:nvPr/>
        </p:nvSpPr>
        <p:spPr>
          <a:xfrm rot="2358000">
            <a:off x="2647800" y="4482360"/>
            <a:ext cx="14868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45" name="Shape 19"/>
          <p:cNvSpPr/>
          <p:nvPr/>
        </p:nvSpPr>
        <p:spPr>
          <a:xfrm rot="2190600">
            <a:off x="2765880" y="4572360"/>
            <a:ext cx="14292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46" name="Shape 20"/>
          <p:cNvSpPr/>
          <p:nvPr/>
        </p:nvSpPr>
        <p:spPr>
          <a:xfrm rot="2011200">
            <a:off x="2883600" y="4653000"/>
            <a:ext cx="13788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47" name="Shape 21"/>
          <p:cNvSpPr/>
          <p:nvPr/>
        </p:nvSpPr>
        <p:spPr>
          <a:xfrm rot="1818000">
            <a:off x="3000960" y="4724640"/>
            <a:ext cx="13320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48" name="Shape 22"/>
          <p:cNvSpPr/>
          <p:nvPr/>
        </p:nvSpPr>
        <p:spPr>
          <a:xfrm rot="1611600">
            <a:off x="3118320" y="4787640"/>
            <a:ext cx="12888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49" name="Shape 23"/>
          <p:cNvSpPr/>
          <p:nvPr/>
        </p:nvSpPr>
        <p:spPr>
          <a:xfrm rot="1392000">
            <a:off x="3235320" y="4841640"/>
            <a:ext cx="12492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50" name="Shape 24"/>
          <p:cNvSpPr/>
          <p:nvPr/>
        </p:nvSpPr>
        <p:spPr>
          <a:xfrm rot="1159200">
            <a:off x="3352320" y="4886280"/>
            <a:ext cx="12168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51" name="Shape 25"/>
          <p:cNvSpPr/>
          <p:nvPr/>
        </p:nvSpPr>
        <p:spPr>
          <a:xfrm rot="915600">
            <a:off x="3468600" y="4922280"/>
            <a:ext cx="11916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52" name="Shape 26"/>
          <p:cNvSpPr/>
          <p:nvPr/>
        </p:nvSpPr>
        <p:spPr>
          <a:xfrm rot="661200">
            <a:off x="3585240" y="4948920"/>
            <a:ext cx="11700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53" name="Shape 27"/>
          <p:cNvSpPr/>
          <p:nvPr/>
        </p:nvSpPr>
        <p:spPr>
          <a:xfrm rot="400200">
            <a:off x="3700800" y="4967280"/>
            <a:ext cx="11556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54" name="Shape 28"/>
          <p:cNvSpPr/>
          <p:nvPr/>
        </p:nvSpPr>
        <p:spPr>
          <a:xfrm rot="133800">
            <a:off x="3816360" y="4976280"/>
            <a:ext cx="11484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55" name="Shape 29"/>
          <p:cNvSpPr/>
          <p:nvPr/>
        </p:nvSpPr>
        <p:spPr>
          <a:xfrm rot="21466200">
            <a:off x="3931920" y="4975920"/>
            <a:ext cx="11484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56" name="Shape 30"/>
          <p:cNvSpPr/>
          <p:nvPr/>
        </p:nvSpPr>
        <p:spPr>
          <a:xfrm rot="21199800">
            <a:off x="4046760" y="4966920"/>
            <a:ext cx="11556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57" name="Shape 31"/>
          <p:cNvSpPr/>
          <p:nvPr/>
        </p:nvSpPr>
        <p:spPr>
          <a:xfrm rot="20938800">
            <a:off x="4160880" y="4949280"/>
            <a:ext cx="11700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58" name="Shape 32"/>
          <p:cNvSpPr/>
          <p:nvPr/>
        </p:nvSpPr>
        <p:spPr>
          <a:xfrm rot="20684400">
            <a:off x="4275360" y="4922280"/>
            <a:ext cx="11916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59" name="Shape 33"/>
          <p:cNvSpPr/>
          <p:nvPr/>
        </p:nvSpPr>
        <p:spPr>
          <a:xfrm rot="20440800">
            <a:off x="4389120" y="4886280"/>
            <a:ext cx="12168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60" name="Shape 34"/>
          <p:cNvSpPr/>
          <p:nvPr/>
        </p:nvSpPr>
        <p:spPr>
          <a:xfrm rot="20208000">
            <a:off x="4502880" y="4841640"/>
            <a:ext cx="12492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61" name="Shape 35"/>
          <p:cNvSpPr/>
          <p:nvPr/>
        </p:nvSpPr>
        <p:spPr>
          <a:xfrm rot="19988400">
            <a:off x="4615920" y="4787640"/>
            <a:ext cx="12888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62" name="Shape 36"/>
          <p:cNvSpPr/>
          <p:nvPr/>
        </p:nvSpPr>
        <p:spPr>
          <a:xfrm rot="19782000">
            <a:off x="4728960" y="4725000"/>
            <a:ext cx="13320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63" name="Shape 37"/>
          <p:cNvSpPr/>
          <p:nvPr/>
        </p:nvSpPr>
        <p:spPr>
          <a:xfrm rot="19588800">
            <a:off x="4842000" y="4653360"/>
            <a:ext cx="13788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64" name="Shape 38"/>
          <p:cNvSpPr/>
          <p:nvPr/>
        </p:nvSpPr>
        <p:spPr>
          <a:xfrm rot="19409400">
            <a:off x="4954320" y="4572360"/>
            <a:ext cx="14292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65" name="Shape 39"/>
          <p:cNvSpPr/>
          <p:nvPr/>
        </p:nvSpPr>
        <p:spPr>
          <a:xfrm rot="19242600">
            <a:off x="5067000" y="4482720"/>
            <a:ext cx="14868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66" name="Shape 40"/>
          <p:cNvSpPr/>
          <p:nvPr/>
        </p:nvSpPr>
        <p:spPr>
          <a:xfrm rot="19088400">
            <a:off x="5179320" y="4383720"/>
            <a:ext cx="15444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67" name="Shape 41"/>
          <p:cNvSpPr/>
          <p:nvPr/>
        </p:nvSpPr>
        <p:spPr>
          <a:xfrm rot="18945000">
            <a:off x="5291280" y="4275720"/>
            <a:ext cx="16056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68" name="Shape 42"/>
          <p:cNvSpPr/>
          <p:nvPr/>
        </p:nvSpPr>
        <p:spPr>
          <a:xfrm rot="18813000">
            <a:off x="5403600" y="4159080"/>
            <a:ext cx="16704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69" name="Shape 43"/>
          <p:cNvSpPr/>
          <p:nvPr/>
        </p:nvSpPr>
        <p:spPr>
          <a:xfrm rot="18690600">
            <a:off x="5515200" y="4033440"/>
            <a:ext cx="17352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70" name="Shape 44"/>
          <p:cNvSpPr/>
          <p:nvPr/>
        </p:nvSpPr>
        <p:spPr>
          <a:xfrm rot="18577200">
            <a:off x="5627160" y="3898800"/>
            <a:ext cx="18036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71" name="Shape 45"/>
          <p:cNvSpPr/>
          <p:nvPr/>
        </p:nvSpPr>
        <p:spPr>
          <a:xfrm rot="18472200">
            <a:off x="5739120" y="3755520"/>
            <a:ext cx="18720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72" name="Shape 46"/>
          <p:cNvSpPr/>
          <p:nvPr/>
        </p:nvSpPr>
        <p:spPr>
          <a:xfrm rot="18375000">
            <a:off x="5850720" y="3602880"/>
            <a:ext cx="19440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73" name="Shape 47"/>
          <p:cNvSpPr/>
          <p:nvPr/>
        </p:nvSpPr>
        <p:spPr>
          <a:xfrm rot="18285000">
            <a:off x="5962320" y="3441240"/>
            <a:ext cx="20160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74" name="Shape 48"/>
          <p:cNvSpPr/>
          <p:nvPr/>
        </p:nvSpPr>
        <p:spPr>
          <a:xfrm rot="18201000">
            <a:off x="6073560" y="3270600"/>
            <a:ext cx="20916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75" name="Shape 49"/>
          <p:cNvSpPr/>
          <p:nvPr/>
        </p:nvSpPr>
        <p:spPr>
          <a:xfrm rot="18123000">
            <a:off x="6184800" y="3091320"/>
            <a:ext cx="21672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76" name="Shape 50"/>
          <p:cNvSpPr/>
          <p:nvPr/>
        </p:nvSpPr>
        <p:spPr>
          <a:xfrm rot="18049800">
            <a:off x="6296400" y="2902680"/>
            <a:ext cx="22428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77" name="Shape 51"/>
          <p:cNvSpPr/>
          <p:nvPr/>
        </p:nvSpPr>
        <p:spPr>
          <a:xfrm rot="17982000">
            <a:off x="6407640" y="2705040"/>
            <a:ext cx="23220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78" name="Shape 52"/>
          <p:cNvSpPr/>
          <p:nvPr/>
        </p:nvSpPr>
        <p:spPr>
          <a:xfrm rot="17918400">
            <a:off x="6518880" y="2498760"/>
            <a:ext cx="24012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79" name="Shape 53"/>
          <p:cNvSpPr/>
          <p:nvPr/>
        </p:nvSpPr>
        <p:spPr>
          <a:xfrm rot="17859000">
            <a:off x="6630120" y="2282760"/>
            <a:ext cx="248040" cy="44280"/>
          </a:xfrm>
          <a:prstGeom prst="rect">
            <a:avLst/>
          </a:prstGeom>
          <a:solidFill>
            <a:srgbClr val="0e7c86"/>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680" name="Shape 54"/>
          <p:cNvSpPr/>
          <p:nvPr/>
        </p:nvSpPr>
        <p:spPr>
          <a:xfrm rot="18423000">
            <a:off x="4838760" y="3683520"/>
            <a:ext cx="2103120" cy="39960"/>
          </a:xfrm>
          <a:prstGeom prst="rect">
            <a:avLst/>
          </a:prstGeom>
          <a:solidFill>
            <a:srgbClr val="ff6b35"/>
          </a:solidFill>
          <a:ln w="0">
            <a:noFill/>
          </a:ln>
        </p:spPr>
        <p:style>
          <a:lnRef idx="0"/>
          <a:fillRef idx="0"/>
          <a:effectRef idx="0"/>
          <a:fontRef idx="minor"/>
        </p:style>
        <p:txBody>
          <a:bodyPr lIns="90000" rIns="90000" tIns="-4680" bIns="-4680" anchor="t">
            <a:noAutofit/>
          </a:bodyPr>
          <a:p>
            <a:endParaRPr b="0" lang="en-US" sz="1800" strike="noStrike" u="none">
              <a:solidFill>
                <a:srgbClr val="ffffff"/>
              </a:solidFill>
              <a:effectLst/>
              <a:uFillTx/>
              <a:latin typeface="Arial"/>
            </a:endParaRPr>
          </a:p>
        </p:txBody>
      </p:sp>
      <p:sp>
        <p:nvSpPr>
          <p:cNvPr id="681" name="Shape 55"/>
          <p:cNvSpPr/>
          <p:nvPr/>
        </p:nvSpPr>
        <p:spPr>
          <a:xfrm>
            <a:off x="5803560" y="3616920"/>
            <a:ext cx="173520" cy="173520"/>
          </a:xfrm>
          <a:prstGeom prst="ellipse">
            <a:avLst/>
          </a:prstGeom>
          <a:solidFill>
            <a:srgbClr val="14202b"/>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82" name="Shape 56"/>
          <p:cNvSpPr/>
          <p:nvPr/>
        </p:nvSpPr>
        <p:spPr>
          <a:xfrm rot="3177000">
            <a:off x="921600" y="3683520"/>
            <a:ext cx="2103120" cy="39960"/>
          </a:xfrm>
          <a:prstGeom prst="rect">
            <a:avLst/>
          </a:prstGeom>
          <a:solidFill>
            <a:srgbClr val="ff6b35"/>
          </a:solidFill>
          <a:ln w="0">
            <a:noFill/>
          </a:ln>
        </p:spPr>
        <p:style>
          <a:lnRef idx="0"/>
          <a:fillRef idx="0"/>
          <a:effectRef idx="0"/>
          <a:fontRef idx="minor"/>
        </p:style>
        <p:txBody>
          <a:bodyPr lIns="90000" rIns="90000" tIns="-4680" bIns="-4680" anchor="t">
            <a:noAutofit/>
          </a:bodyPr>
          <a:p>
            <a:endParaRPr b="0" lang="en-US" sz="1800" strike="noStrike" u="none">
              <a:solidFill>
                <a:srgbClr val="ffffff"/>
              </a:solidFill>
              <a:effectLst/>
              <a:uFillTx/>
              <a:latin typeface="Arial"/>
            </a:endParaRPr>
          </a:p>
        </p:txBody>
      </p:sp>
      <p:sp>
        <p:nvSpPr>
          <p:cNvPr id="683" name="Shape 57"/>
          <p:cNvSpPr/>
          <p:nvPr/>
        </p:nvSpPr>
        <p:spPr>
          <a:xfrm>
            <a:off x="1886400" y="3616920"/>
            <a:ext cx="173520" cy="173520"/>
          </a:xfrm>
          <a:prstGeom prst="ellipse">
            <a:avLst/>
          </a:prstGeom>
          <a:solidFill>
            <a:srgbClr val="14202b"/>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84" name="Text 58"/>
          <p:cNvSpPr/>
          <p:nvPr/>
        </p:nvSpPr>
        <p:spPr>
          <a:xfrm>
            <a:off x="676800" y="1536120"/>
            <a:ext cx="109692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loss</a:t>
            </a:r>
            <a:endParaRPr b="0" lang="en-US" sz="1300" strike="noStrike" u="none">
              <a:solidFill>
                <a:srgbClr val="000000"/>
              </a:solidFill>
              <a:effectLst/>
              <a:uFillTx/>
              <a:latin typeface="Arial"/>
            </a:endParaRPr>
          </a:p>
        </p:txBody>
      </p:sp>
      <p:sp>
        <p:nvSpPr>
          <p:cNvPr id="685" name="Text 59"/>
          <p:cNvSpPr/>
          <p:nvPr/>
        </p:nvSpPr>
        <p:spPr>
          <a:xfrm>
            <a:off x="5029200" y="5175360"/>
            <a:ext cx="178272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300" strike="noStrike" u="none">
                <a:solidFill>
                  <a:srgbClr val="5d6e7c"/>
                </a:solidFill>
                <a:effectLst/>
                <a:uFillTx/>
                <a:latin typeface="Calibri"/>
                <a:ea typeface="Calibri"/>
              </a:rPr>
              <a:t>value of w</a:t>
            </a:r>
            <a:endParaRPr b="0" lang="en-US" sz="1300" strike="noStrike" u="none">
              <a:solidFill>
                <a:srgbClr val="000000"/>
              </a:solidFill>
              <a:effectLst/>
              <a:uFillTx/>
              <a:latin typeface="Arial"/>
            </a:endParaRPr>
          </a:p>
        </p:txBody>
      </p:sp>
      <p:sp>
        <p:nvSpPr>
          <p:cNvPr id="686" name="Text 60"/>
          <p:cNvSpPr/>
          <p:nvPr/>
        </p:nvSpPr>
        <p:spPr>
          <a:xfrm>
            <a:off x="786240" y="5504760"/>
            <a:ext cx="237708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trike="noStrike" u="none">
                <a:solidFill>
                  <a:srgbClr val="25323d"/>
                </a:solidFill>
                <a:effectLst/>
                <a:uFillTx/>
                <a:latin typeface="Calibri"/>
                <a:ea typeface="Calibri"/>
              </a:rPr>
              <a:t>slope is negative, so raise w</a:t>
            </a:r>
            <a:endParaRPr b="0" lang="en-US" sz="1250" strike="noStrike" u="none">
              <a:solidFill>
                <a:srgbClr val="000000"/>
              </a:solidFill>
              <a:effectLst/>
              <a:uFillTx/>
              <a:latin typeface="Arial"/>
            </a:endParaRPr>
          </a:p>
        </p:txBody>
      </p:sp>
      <p:sp>
        <p:nvSpPr>
          <p:cNvPr id="687" name="Text 61"/>
          <p:cNvSpPr/>
          <p:nvPr/>
        </p:nvSpPr>
        <p:spPr>
          <a:xfrm>
            <a:off x="4700160" y="5504760"/>
            <a:ext cx="237708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trike="noStrike" u="none">
                <a:solidFill>
                  <a:srgbClr val="25323d"/>
                </a:solidFill>
                <a:effectLst/>
                <a:uFillTx/>
                <a:latin typeface="Calibri"/>
                <a:ea typeface="Calibri"/>
              </a:rPr>
              <a:t>slope is positive, so lower w</a:t>
            </a:r>
            <a:endParaRPr b="0" lang="en-US" sz="1250" strike="noStrike" u="none">
              <a:solidFill>
                <a:srgbClr val="000000"/>
              </a:solidFill>
              <a:effectLst/>
              <a:uFillTx/>
              <a:latin typeface="Arial"/>
            </a:endParaRPr>
          </a:p>
        </p:txBody>
      </p:sp>
      <p:sp>
        <p:nvSpPr>
          <p:cNvPr id="688" name="Shape 62"/>
          <p:cNvSpPr/>
          <p:nvPr/>
        </p:nvSpPr>
        <p:spPr>
          <a:xfrm>
            <a:off x="7223760" y="1783080"/>
            <a:ext cx="420120" cy="420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89" name="Text 63"/>
          <p:cNvSpPr/>
          <p:nvPr/>
        </p:nvSpPr>
        <p:spPr>
          <a:xfrm>
            <a:off x="7223760" y="1783080"/>
            <a:ext cx="420120" cy="420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1</a:t>
            </a:r>
            <a:endParaRPr b="0" lang="en-US" sz="1600" strike="noStrike" u="none">
              <a:solidFill>
                <a:srgbClr val="000000"/>
              </a:solidFill>
              <a:effectLst/>
              <a:uFillTx/>
              <a:latin typeface="Arial"/>
            </a:endParaRPr>
          </a:p>
        </p:txBody>
      </p:sp>
      <p:sp>
        <p:nvSpPr>
          <p:cNvPr id="690" name="Text 64"/>
          <p:cNvSpPr/>
          <p:nvPr/>
        </p:nvSpPr>
        <p:spPr>
          <a:xfrm>
            <a:off x="7818120" y="1801440"/>
            <a:ext cx="373032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One number per parameter</a:t>
            </a:r>
            <a:endParaRPr b="0" lang="en-US" sz="1800" strike="noStrike" u="none">
              <a:solidFill>
                <a:srgbClr val="000000"/>
              </a:solidFill>
              <a:effectLst/>
              <a:uFillTx/>
              <a:latin typeface="Arial"/>
            </a:endParaRPr>
          </a:p>
        </p:txBody>
      </p:sp>
      <p:sp>
        <p:nvSpPr>
          <p:cNvPr id="691" name="Text 65"/>
          <p:cNvSpPr/>
          <p:nvPr/>
        </p:nvSpPr>
        <p:spPr>
          <a:xfrm>
            <a:off x="7818120" y="2167200"/>
            <a:ext cx="373032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50" strike="noStrike" u="none">
                <a:solidFill>
                  <a:srgbClr val="5d6e7c"/>
                </a:solidFill>
                <a:effectLst/>
                <a:uFillTx/>
                <a:latin typeface="Calibri"/>
                <a:ea typeface="Calibri"/>
              </a:rPr>
              <a:t>The slope of the loss in the w direction, at wherever you happen to be standing.</a:t>
            </a:r>
            <a:endParaRPr b="0" lang="en-US" sz="1450" strike="noStrike" u="none">
              <a:solidFill>
                <a:srgbClr val="000000"/>
              </a:solidFill>
              <a:effectLst/>
              <a:uFillTx/>
              <a:latin typeface="Arial"/>
            </a:endParaRPr>
          </a:p>
        </p:txBody>
      </p:sp>
      <p:sp>
        <p:nvSpPr>
          <p:cNvPr id="692" name="Shape 66"/>
          <p:cNvSpPr/>
          <p:nvPr/>
        </p:nvSpPr>
        <p:spPr>
          <a:xfrm>
            <a:off x="7223760" y="3008520"/>
            <a:ext cx="420120" cy="420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93" name="Text 67"/>
          <p:cNvSpPr/>
          <p:nvPr/>
        </p:nvSpPr>
        <p:spPr>
          <a:xfrm>
            <a:off x="7223760" y="3008520"/>
            <a:ext cx="420120" cy="420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2</a:t>
            </a:r>
            <a:endParaRPr b="0" lang="en-US" sz="1600" strike="noStrike" u="none">
              <a:solidFill>
                <a:srgbClr val="000000"/>
              </a:solidFill>
              <a:effectLst/>
              <a:uFillTx/>
              <a:latin typeface="Arial"/>
            </a:endParaRPr>
          </a:p>
        </p:txBody>
      </p:sp>
      <p:sp>
        <p:nvSpPr>
          <p:cNvPr id="694" name="Text 68"/>
          <p:cNvSpPr/>
          <p:nvPr/>
        </p:nvSpPr>
        <p:spPr>
          <a:xfrm>
            <a:off x="7818120" y="3026520"/>
            <a:ext cx="373032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Stack them up</a:t>
            </a:r>
            <a:endParaRPr b="0" lang="en-US" sz="1800" strike="noStrike" u="none">
              <a:solidFill>
                <a:srgbClr val="000000"/>
              </a:solidFill>
              <a:effectLst/>
              <a:uFillTx/>
              <a:latin typeface="Arial"/>
            </a:endParaRPr>
          </a:p>
        </p:txBody>
      </p:sp>
      <p:sp>
        <p:nvSpPr>
          <p:cNvPr id="695" name="Text 69"/>
          <p:cNvSpPr/>
          <p:nvPr/>
        </p:nvSpPr>
        <p:spPr>
          <a:xfrm>
            <a:off x="7818120" y="3392280"/>
            <a:ext cx="373032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50" strike="noStrike" u="none">
                <a:solidFill>
                  <a:srgbClr val="5d6e7c"/>
                </a:solidFill>
                <a:effectLst/>
                <a:uFillTx/>
                <a:latin typeface="Calibri"/>
                <a:ea typeface="Calibri"/>
              </a:rPr>
              <a:t>One of those per weight, plus one for the bias. That whole list is what gradient means.</a:t>
            </a:r>
            <a:endParaRPr b="0" lang="en-US" sz="1450" strike="noStrike" u="none">
              <a:solidFill>
                <a:srgbClr val="000000"/>
              </a:solidFill>
              <a:effectLst/>
              <a:uFillTx/>
              <a:latin typeface="Arial"/>
            </a:endParaRPr>
          </a:p>
        </p:txBody>
      </p:sp>
      <p:sp>
        <p:nvSpPr>
          <p:cNvPr id="696" name="Shape 70"/>
          <p:cNvSpPr/>
          <p:nvPr/>
        </p:nvSpPr>
        <p:spPr>
          <a:xfrm>
            <a:off x="7223760" y="4233600"/>
            <a:ext cx="420120" cy="420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97" name="Text 71"/>
          <p:cNvSpPr/>
          <p:nvPr/>
        </p:nvSpPr>
        <p:spPr>
          <a:xfrm>
            <a:off x="7223760" y="4233600"/>
            <a:ext cx="420120" cy="420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3</a:t>
            </a:r>
            <a:endParaRPr b="0" lang="en-US" sz="1600" strike="noStrike" u="none">
              <a:solidFill>
                <a:srgbClr val="000000"/>
              </a:solidFill>
              <a:effectLst/>
              <a:uFillTx/>
              <a:latin typeface="Arial"/>
            </a:endParaRPr>
          </a:p>
        </p:txBody>
      </p:sp>
      <p:sp>
        <p:nvSpPr>
          <p:cNvPr id="698" name="Text 72"/>
          <p:cNvSpPr/>
          <p:nvPr/>
        </p:nvSpPr>
        <p:spPr>
          <a:xfrm>
            <a:off x="7818120" y="4251960"/>
            <a:ext cx="373032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It points uphill</a:t>
            </a:r>
            <a:endParaRPr b="0" lang="en-US" sz="1800" strike="noStrike" u="none">
              <a:solidFill>
                <a:srgbClr val="000000"/>
              </a:solidFill>
              <a:effectLst/>
              <a:uFillTx/>
              <a:latin typeface="Arial"/>
            </a:endParaRPr>
          </a:p>
        </p:txBody>
      </p:sp>
      <p:sp>
        <p:nvSpPr>
          <p:cNvPr id="699" name="Text 73"/>
          <p:cNvSpPr/>
          <p:nvPr/>
        </p:nvSpPr>
        <p:spPr>
          <a:xfrm>
            <a:off x="7818120" y="4617720"/>
            <a:ext cx="373032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50" strike="noStrike" u="none">
                <a:solidFill>
                  <a:srgbClr val="5d6e7c"/>
                </a:solidFill>
                <a:effectLst/>
                <a:uFillTx/>
                <a:latin typeface="Calibri"/>
                <a:ea typeface="Calibri"/>
              </a:rPr>
              <a:t>The gradient is the direction the loss grows fastest. So the move is the opposite way.</a:t>
            </a:r>
            <a:endParaRPr b="0" lang="en-US" sz="1450" strike="noStrike" u="none">
              <a:solidFill>
                <a:srgbClr val="000000"/>
              </a:solidFill>
              <a:effectLst/>
              <a:uFillTx/>
              <a:latin typeface="Arial"/>
            </a:endParaRPr>
          </a:p>
        </p:txBody>
      </p:sp>
      <p:sp>
        <p:nvSpPr>
          <p:cNvPr id="700" name="Text 74"/>
          <p:cNvSpPr/>
          <p:nvPr/>
        </p:nvSpPr>
        <p:spPr>
          <a:xfrm>
            <a:off x="7818120" y="5532120"/>
            <a:ext cx="373032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350" strike="noStrike" u="none">
                <a:solidFill>
                  <a:srgbClr val="0e7c86"/>
                </a:solidFill>
                <a:effectLst/>
                <a:uFillTx/>
                <a:latin typeface="Calibri"/>
                <a:ea typeface="Calibri"/>
              </a:rPr>
              <a:t>No calculus required to use it: the slope answers "nudge this weight up a hair — does the loss rise or fall, and how fast?"</a:t>
            </a:r>
            <a:endParaRPr b="0" lang="en-US" sz="13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01"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THE UPDATE</a:t>
            </a:r>
            <a:endParaRPr b="0" lang="en-US" sz="1200" strike="noStrike" u="none">
              <a:solidFill>
                <a:srgbClr val="000000"/>
              </a:solidFill>
              <a:effectLst/>
              <a:uFillTx/>
              <a:latin typeface="Arial"/>
            </a:endParaRPr>
          </a:p>
        </p:txBody>
      </p:sp>
      <p:sp>
        <p:nvSpPr>
          <p:cNvPr id="702"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How a weight actually changes</a:t>
            </a:r>
            <a:endParaRPr b="0" lang="en-US" sz="3200" strike="noStrike" u="none">
              <a:solidFill>
                <a:srgbClr val="000000"/>
              </a:solidFill>
              <a:effectLst/>
              <a:uFillTx/>
              <a:latin typeface="Arial"/>
            </a:endParaRPr>
          </a:p>
        </p:txBody>
      </p:sp>
      <p:sp>
        <p:nvSpPr>
          <p:cNvPr id="703" name="Shape 2"/>
          <p:cNvSpPr/>
          <p:nvPr/>
        </p:nvSpPr>
        <p:spPr>
          <a:xfrm>
            <a:off x="640080" y="1737360"/>
            <a:ext cx="10911240" cy="1096920"/>
          </a:xfrm>
          <a:prstGeom prst="roundRect">
            <a:avLst>
              <a:gd name="adj" fmla="val 6667"/>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04" name="Text 3"/>
          <p:cNvSpPr/>
          <p:nvPr/>
        </p:nvSpPr>
        <p:spPr>
          <a:xfrm>
            <a:off x="868680" y="1737360"/>
            <a:ext cx="5028840" cy="10969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400" strike="noStrike" u="none">
                <a:solidFill>
                  <a:srgbClr val="ffffff"/>
                </a:solidFill>
                <a:effectLst/>
                <a:uFillTx/>
                <a:latin typeface="Cambria"/>
                <a:ea typeface="Cambria"/>
              </a:rPr>
              <a:t>new w  =  w  −  </a:t>
            </a:r>
            <a:r>
              <a:rPr b="1" lang="en-US" sz="2400" strike="noStrike" u="none">
                <a:solidFill>
                  <a:srgbClr val="ff6b35"/>
                </a:solidFill>
                <a:effectLst/>
                <a:uFillTx/>
                <a:latin typeface="Cambria"/>
                <a:ea typeface="Cambria"/>
              </a:rPr>
              <a:t>α</a:t>
            </a:r>
            <a:r>
              <a:rPr b="1" lang="en-US" sz="2400" strike="noStrike" u="none">
                <a:solidFill>
                  <a:srgbClr val="ffffff"/>
                </a:solidFill>
                <a:effectLst/>
                <a:uFillTx/>
                <a:latin typeface="Cambria"/>
                <a:ea typeface="Cambria"/>
              </a:rPr>
              <a:t>  ·  ∂L/∂w</a:t>
            </a:r>
            <a:endParaRPr b="0" lang="en-US" sz="2400" strike="noStrike" u="none">
              <a:solidFill>
                <a:srgbClr val="000000"/>
              </a:solidFill>
              <a:effectLst/>
              <a:uFillTx/>
              <a:latin typeface="Arial"/>
            </a:endParaRPr>
          </a:p>
        </p:txBody>
      </p:sp>
      <p:sp>
        <p:nvSpPr>
          <p:cNvPr id="705" name="Text 4"/>
          <p:cNvSpPr/>
          <p:nvPr/>
        </p:nvSpPr>
        <p:spPr>
          <a:xfrm>
            <a:off x="6263640" y="1737360"/>
            <a:ext cx="5028840" cy="10969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400" strike="noStrike" u="none">
                <a:solidFill>
                  <a:srgbClr val="ffffff"/>
                </a:solidFill>
                <a:effectLst/>
                <a:uFillTx/>
                <a:latin typeface="Cambria"/>
                <a:ea typeface="Cambria"/>
              </a:rPr>
              <a:t>new b  =  b  −  </a:t>
            </a:r>
            <a:r>
              <a:rPr b="1" lang="en-US" sz="2400" strike="noStrike" u="none">
                <a:solidFill>
                  <a:srgbClr val="ff6b35"/>
                </a:solidFill>
                <a:effectLst/>
                <a:uFillTx/>
                <a:latin typeface="Cambria"/>
                <a:ea typeface="Cambria"/>
              </a:rPr>
              <a:t>α</a:t>
            </a:r>
            <a:r>
              <a:rPr b="1" lang="en-US" sz="2400" strike="noStrike" u="none">
                <a:solidFill>
                  <a:srgbClr val="ffffff"/>
                </a:solidFill>
                <a:effectLst/>
                <a:uFillTx/>
                <a:latin typeface="Cambria"/>
                <a:ea typeface="Cambria"/>
              </a:rPr>
              <a:t>  ·  ∂L/∂b</a:t>
            </a:r>
            <a:endParaRPr b="0" lang="en-US" sz="2400" strike="noStrike" u="none">
              <a:solidFill>
                <a:srgbClr val="000000"/>
              </a:solidFill>
              <a:effectLst/>
              <a:uFillTx/>
              <a:latin typeface="Arial"/>
            </a:endParaRPr>
          </a:p>
        </p:txBody>
      </p:sp>
      <p:sp>
        <p:nvSpPr>
          <p:cNvPr id="706" name="Text 5"/>
          <p:cNvSpPr/>
          <p:nvPr/>
        </p:nvSpPr>
        <p:spPr>
          <a:xfrm>
            <a:off x="640080" y="2971800"/>
            <a:ext cx="1091124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500" strike="noStrike" u="none">
                <a:solidFill>
                  <a:srgbClr val="5d6e7c"/>
                </a:solidFill>
                <a:effectLst/>
                <a:uFillTx/>
                <a:latin typeface="Calibri"/>
                <a:ea typeface="Calibri"/>
              </a:rPr>
              <a:t>For mean squared error, those two slopes work out to:</a:t>
            </a:r>
            <a:endParaRPr b="0" lang="en-US" sz="1500" strike="noStrike" u="none">
              <a:solidFill>
                <a:srgbClr val="000000"/>
              </a:solidFill>
              <a:effectLst/>
              <a:uFillTx/>
              <a:latin typeface="Arial"/>
            </a:endParaRPr>
          </a:p>
        </p:txBody>
      </p:sp>
      <p:sp>
        <p:nvSpPr>
          <p:cNvPr id="707" name="Text 6"/>
          <p:cNvSpPr/>
          <p:nvPr/>
        </p:nvSpPr>
        <p:spPr>
          <a:xfrm>
            <a:off x="1005840" y="3291840"/>
            <a:ext cx="475452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200" strike="noStrike" u="none">
                <a:solidFill>
                  <a:srgbClr val="14202b"/>
                </a:solidFill>
                <a:effectLst/>
                <a:uFillTx/>
                <a:latin typeface="Cambria"/>
                <a:ea typeface="Cambria"/>
              </a:rPr>
              <a:t>∂L/∂w  =  (2/n) Σ (ŷ – y) · x</a:t>
            </a:r>
            <a:endParaRPr b="0" lang="en-US" sz="2200" strike="noStrike" u="none">
              <a:solidFill>
                <a:srgbClr val="000000"/>
              </a:solidFill>
              <a:effectLst/>
              <a:uFillTx/>
              <a:latin typeface="Arial"/>
            </a:endParaRPr>
          </a:p>
        </p:txBody>
      </p:sp>
      <p:sp>
        <p:nvSpPr>
          <p:cNvPr id="708" name="Text 7"/>
          <p:cNvSpPr/>
          <p:nvPr/>
        </p:nvSpPr>
        <p:spPr>
          <a:xfrm>
            <a:off x="6400800" y="3291840"/>
            <a:ext cx="475452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200" strike="noStrike" u="none">
                <a:solidFill>
                  <a:srgbClr val="14202b"/>
                </a:solidFill>
                <a:effectLst/>
                <a:uFillTx/>
                <a:latin typeface="Cambria"/>
                <a:ea typeface="Cambria"/>
              </a:rPr>
              <a:t>∂L/∂b  =  (2/n) Σ (ŷ – y)</a:t>
            </a:r>
            <a:endParaRPr b="0" lang="en-US" sz="2200" strike="noStrike" u="none">
              <a:solidFill>
                <a:srgbClr val="000000"/>
              </a:solidFill>
              <a:effectLst/>
              <a:uFillTx/>
              <a:latin typeface="Arial"/>
            </a:endParaRPr>
          </a:p>
        </p:txBody>
      </p:sp>
      <p:sp>
        <p:nvSpPr>
          <p:cNvPr id="709" name="Shape 8"/>
          <p:cNvSpPr/>
          <p:nvPr/>
        </p:nvSpPr>
        <p:spPr>
          <a:xfrm>
            <a:off x="640080" y="4069080"/>
            <a:ext cx="2578320" cy="1599840"/>
          </a:xfrm>
          <a:prstGeom prst="roundRect">
            <a:avLst>
              <a:gd name="adj" fmla="val 4571"/>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10" name="Text 9"/>
          <p:cNvSpPr/>
          <p:nvPr/>
        </p:nvSpPr>
        <p:spPr>
          <a:xfrm>
            <a:off x="896040" y="4224600"/>
            <a:ext cx="210276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400" strike="noStrike" u="none">
                <a:solidFill>
                  <a:srgbClr val="ff6b35"/>
                </a:solidFill>
                <a:effectLst/>
                <a:uFillTx/>
                <a:latin typeface="Cambria"/>
                <a:ea typeface="Cambria"/>
              </a:rPr>
              <a:t>(ŷ – y)</a:t>
            </a:r>
            <a:endParaRPr b="0" lang="en-US" sz="2400" strike="noStrike" u="none">
              <a:solidFill>
                <a:srgbClr val="000000"/>
              </a:solidFill>
              <a:effectLst/>
              <a:uFillTx/>
              <a:latin typeface="Arial"/>
            </a:endParaRPr>
          </a:p>
        </p:txBody>
      </p:sp>
      <p:sp>
        <p:nvSpPr>
          <p:cNvPr id="711" name="Text 10"/>
          <p:cNvSpPr/>
          <p:nvPr/>
        </p:nvSpPr>
        <p:spPr>
          <a:xfrm>
            <a:off x="896040" y="4681800"/>
            <a:ext cx="210276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The error on one row. A big miss produces a big correction. A row you already get right pushes nothing.</a:t>
            </a:r>
            <a:endParaRPr b="0" lang="en-US" sz="1350" strike="noStrike" u="none">
              <a:solidFill>
                <a:srgbClr val="000000"/>
              </a:solidFill>
              <a:effectLst/>
              <a:uFillTx/>
              <a:latin typeface="Arial"/>
            </a:endParaRPr>
          </a:p>
        </p:txBody>
      </p:sp>
      <p:sp>
        <p:nvSpPr>
          <p:cNvPr id="712" name="Shape 11"/>
          <p:cNvSpPr/>
          <p:nvPr/>
        </p:nvSpPr>
        <p:spPr>
          <a:xfrm>
            <a:off x="3420000" y="4069080"/>
            <a:ext cx="2578320" cy="1599840"/>
          </a:xfrm>
          <a:prstGeom prst="roundRect">
            <a:avLst>
              <a:gd name="adj" fmla="val 4571"/>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13" name="Text 12"/>
          <p:cNvSpPr/>
          <p:nvPr/>
        </p:nvSpPr>
        <p:spPr>
          <a:xfrm>
            <a:off x="3675960" y="4224600"/>
            <a:ext cx="210276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400" strike="noStrike" u="none">
                <a:solidFill>
                  <a:srgbClr val="ff6b35"/>
                </a:solidFill>
                <a:effectLst/>
                <a:uFillTx/>
                <a:latin typeface="Cambria"/>
                <a:ea typeface="Cambria"/>
              </a:rPr>
              <a:t>× x</a:t>
            </a:r>
            <a:endParaRPr b="0" lang="en-US" sz="2400" strike="noStrike" u="none">
              <a:solidFill>
                <a:srgbClr val="000000"/>
              </a:solidFill>
              <a:effectLst/>
              <a:uFillTx/>
              <a:latin typeface="Arial"/>
            </a:endParaRPr>
          </a:p>
        </p:txBody>
      </p:sp>
      <p:sp>
        <p:nvSpPr>
          <p:cNvPr id="714" name="Text 13"/>
          <p:cNvSpPr/>
          <p:nvPr/>
        </p:nvSpPr>
        <p:spPr>
          <a:xfrm>
            <a:off x="3675960" y="4681800"/>
            <a:ext cx="210276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The input that weight multiplies. A weight only moves in proportion to the feature it acts on.</a:t>
            </a:r>
            <a:endParaRPr b="0" lang="en-US" sz="1350" strike="noStrike" u="none">
              <a:solidFill>
                <a:srgbClr val="000000"/>
              </a:solidFill>
              <a:effectLst/>
              <a:uFillTx/>
              <a:latin typeface="Arial"/>
            </a:endParaRPr>
          </a:p>
        </p:txBody>
      </p:sp>
      <p:sp>
        <p:nvSpPr>
          <p:cNvPr id="715" name="Shape 14"/>
          <p:cNvSpPr/>
          <p:nvPr/>
        </p:nvSpPr>
        <p:spPr>
          <a:xfrm>
            <a:off x="6199560" y="4069080"/>
            <a:ext cx="2578320" cy="1599840"/>
          </a:xfrm>
          <a:prstGeom prst="roundRect">
            <a:avLst>
              <a:gd name="adj" fmla="val 4571"/>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16" name="Text 15"/>
          <p:cNvSpPr/>
          <p:nvPr/>
        </p:nvSpPr>
        <p:spPr>
          <a:xfrm>
            <a:off x="6455520" y="4224600"/>
            <a:ext cx="210276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400" strike="noStrike" u="none">
                <a:solidFill>
                  <a:srgbClr val="ff6b35"/>
                </a:solidFill>
                <a:effectLst/>
                <a:uFillTx/>
                <a:latin typeface="Cambria"/>
                <a:ea typeface="Cambria"/>
              </a:rPr>
              <a:t>the minus sign</a:t>
            </a:r>
            <a:endParaRPr b="0" lang="en-US" sz="2400" strike="noStrike" u="none">
              <a:solidFill>
                <a:srgbClr val="000000"/>
              </a:solidFill>
              <a:effectLst/>
              <a:uFillTx/>
              <a:latin typeface="Arial"/>
            </a:endParaRPr>
          </a:p>
        </p:txBody>
      </p:sp>
      <p:sp>
        <p:nvSpPr>
          <p:cNvPr id="717" name="Text 16"/>
          <p:cNvSpPr/>
          <p:nvPr/>
        </p:nvSpPr>
        <p:spPr>
          <a:xfrm>
            <a:off x="6455520" y="4681800"/>
            <a:ext cx="210276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The slope says uphill, so the update goes the other way. That is the whole word descent.</a:t>
            </a:r>
            <a:endParaRPr b="0" lang="en-US" sz="1350" strike="noStrike" u="none">
              <a:solidFill>
                <a:srgbClr val="000000"/>
              </a:solidFill>
              <a:effectLst/>
              <a:uFillTx/>
              <a:latin typeface="Arial"/>
            </a:endParaRPr>
          </a:p>
        </p:txBody>
      </p:sp>
      <p:sp>
        <p:nvSpPr>
          <p:cNvPr id="718" name="Shape 17"/>
          <p:cNvSpPr/>
          <p:nvPr/>
        </p:nvSpPr>
        <p:spPr>
          <a:xfrm>
            <a:off x="8979480" y="4069080"/>
            <a:ext cx="2578320" cy="1599840"/>
          </a:xfrm>
          <a:prstGeom prst="roundRect">
            <a:avLst>
              <a:gd name="adj" fmla="val 4571"/>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19" name="Text 18"/>
          <p:cNvSpPr/>
          <p:nvPr/>
        </p:nvSpPr>
        <p:spPr>
          <a:xfrm>
            <a:off x="9235440" y="4224600"/>
            <a:ext cx="210276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400" strike="noStrike" u="none">
                <a:solidFill>
                  <a:srgbClr val="ff6b35"/>
                </a:solidFill>
                <a:effectLst/>
                <a:uFillTx/>
                <a:latin typeface="Cambria"/>
                <a:ea typeface="Cambria"/>
              </a:rPr>
              <a:t>α</a:t>
            </a:r>
            <a:endParaRPr b="0" lang="en-US" sz="2400" strike="noStrike" u="none">
              <a:solidFill>
                <a:srgbClr val="000000"/>
              </a:solidFill>
              <a:effectLst/>
              <a:uFillTx/>
              <a:latin typeface="Arial"/>
            </a:endParaRPr>
          </a:p>
        </p:txBody>
      </p:sp>
      <p:sp>
        <p:nvSpPr>
          <p:cNvPr id="720" name="Text 19"/>
          <p:cNvSpPr/>
          <p:nvPr/>
        </p:nvSpPr>
        <p:spPr>
          <a:xfrm>
            <a:off x="9235440" y="4681800"/>
            <a:ext cx="210276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The learning rate. How far to actually move. The one number here you pick yourself.</a:t>
            </a:r>
            <a:endParaRPr b="0" lang="en-US" sz="1350" strike="noStrike" u="none">
              <a:solidFill>
                <a:srgbClr val="000000"/>
              </a:solidFill>
              <a:effectLst/>
              <a:uFillTx/>
              <a:latin typeface="Arial"/>
            </a:endParaRPr>
          </a:p>
        </p:txBody>
      </p:sp>
      <p:sp>
        <p:nvSpPr>
          <p:cNvPr id="721" name="Text 20"/>
          <p:cNvSpPr/>
          <p:nvPr/>
        </p:nvSpPr>
        <p:spPr>
          <a:xfrm>
            <a:off x="640080" y="5806440"/>
            <a:ext cx="1091124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trike="noStrike" u="none">
                <a:solidFill>
                  <a:srgbClr val="25323d"/>
                </a:solidFill>
                <a:effectLst/>
                <a:uFillTx/>
                <a:latin typeface="Calibri"/>
                <a:ea typeface="Calibri"/>
              </a:rPr>
              <a:t>Read it in plain English: nudge each weight by the error times the input it was responsible for. The bias has no input to multiply, so it just follows the average error.</a:t>
            </a:r>
            <a:endParaRPr b="0" lang="en-US" sz="15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2"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THE LEARNING RATE</a:t>
            </a:r>
            <a:endParaRPr b="0" lang="en-US" sz="1200" strike="noStrike" u="none">
              <a:solidFill>
                <a:srgbClr val="000000"/>
              </a:solidFill>
              <a:effectLst/>
              <a:uFillTx/>
              <a:latin typeface="Arial"/>
            </a:endParaRPr>
          </a:p>
        </p:txBody>
      </p:sp>
      <p:sp>
        <p:nvSpPr>
          <p:cNvPr id="723"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How big a step?</a:t>
            </a:r>
            <a:endParaRPr b="0" lang="en-US" sz="3200" strike="noStrike" u="none">
              <a:solidFill>
                <a:srgbClr val="000000"/>
              </a:solidFill>
              <a:effectLst/>
              <a:uFillTx/>
              <a:latin typeface="Arial"/>
            </a:endParaRPr>
          </a:p>
        </p:txBody>
      </p:sp>
      <p:sp>
        <p:nvSpPr>
          <p:cNvPr id="724" name="Text 2"/>
          <p:cNvSpPr/>
          <p:nvPr/>
        </p:nvSpPr>
        <p:spPr>
          <a:xfrm>
            <a:off x="640080" y="1664280"/>
            <a:ext cx="34286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100" strike="noStrike" u="none">
                <a:solidFill>
                  <a:srgbClr val="1f6e9c"/>
                </a:solidFill>
                <a:effectLst/>
                <a:uFillTx/>
                <a:latin typeface="Cambria"/>
                <a:ea typeface="Cambria"/>
              </a:rPr>
              <a:t>Too small</a:t>
            </a:r>
            <a:endParaRPr b="0" lang="en-US" sz="2100" strike="noStrike" u="none">
              <a:solidFill>
                <a:srgbClr val="000000"/>
              </a:solidFill>
              <a:effectLst/>
              <a:uFillTx/>
              <a:latin typeface="Arial"/>
            </a:endParaRPr>
          </a:p>
        </p:txBody>
      </p:sp>
      <p:sp>
        <p:nvSpPr>
          <p:cNvPr id="725" name="Shape 3"/>
          <p:cNvSpPr/>
          <p:nvPr/>
        </p:nvSpPr>
        <p:spPr>
          <a:xfrm>
            <a:off x="896040" y="4646880"/>
            <a:ext cx="292572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26" name="Shape 4"/>
          <p:cNvSpPr/>
          <p:nvPr/>
        </p:nvSpPr>
        <p:spPr>
          <a:xfrm rot="5400000">
            <a:off x="-360720" y="3389760"/>
            <a:ext cx="251424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27" name="Shape 5"/>
          <p:cNvSpPr/>
          <p:nvPr/>
        </p:nvSpPr>
        <p:spPr>
          <a:xfrm rot="4234800">
            <a:off x="847440" y="2677320"/>
            <a:ext cx="1461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28" name="Shape 6"/>
          <p:cNvSpPr/>
          <p:nvPr/>
        </p:nvSpPr>
        <p:spPr>
          <a:xfrm rot="4194000">
            <a:off x="898200" y="2813040"/>
            <a:ext cx="141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29" name="Shape 7"/>
          <p:cNvSpPr/>
          <p:nvPr/>
        </p:nvSpPr>
        <p:spPr>
          <a:xfrm rot="4150800">
            <a:off x="949680" y="2944080"/>
            <a:ext cx="1368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30" name="Shape 8"/>
          <p:cNvSpPr/>
          <p:nvPr/>
        </p:nvSpPr>
        <p:spPr>
          <a:xfrm rot="4105200">
            <a:off x="1000800" y="3069720"/>
            <a:ext cx="13212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31" name="Shape 9"/>
          <p:cNvSpPr/>
          <p:nvPr/>
        </p:nvSpPr>
        <p:spPr>
          <a:xfrm rot="4054800">
            <a:off x="1051560" y="3190320"/>
            <a:ext cx="127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32" name="Shape 10"/>
          <p:cNvSpPr/>
          <p:nvPr/>
        </p:nvSpPr>
        <p:spPr>
          <a:xfrm rot="4001400">
            <a:off x="1102680" y="3306240"/>
            <a:ext cx="122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33" name="Shape 11"/>
          <p:cNvSpPr/>
          <p:nvPr/>
        </p:nvSpPr>
        <p:spPr>
          <a:xfrm rot="3943800">
            <a:off x="1154160" y="3416400"/>
            <a:ext cx="118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34" name="Shape 12"/>
          <p:cNvSpPr/>
          <p:nvPr/>
        </p:nvSpPr>
        <p:spPr>
          <a:xfrm rot="3880800">
            <a:off x="1204920" y="3522600"/>
            <a:ext cx="113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35" name="Shape 13"/>
          <p:cNvSpPr/>
          <p:nvPr/>
        </p:nvSpPr>
        <p:spPr>
          <a:xfrm rot="3813600">
            <a:off x="1256040" y="3622680"/>
            <a:ext cx="109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36" name="Shape 14"/>
          <p:cNvSpPr/>
          <p:nvPr/>
        </p:nvSpPr>
        <p:spPr>
          <a:xfrm rot="3740400">
            <a:off x="1307160" y="3718440"/>
            <a:ext cx="104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37" name="Shape 15"/>
          <p:cNvSpPr/>
          <p:nvPr/>
        </p:nvSpPr>
        <p:spPr>
          <a:xfrm rot="3660600">
            <a:off x="1358280" y="3808800"/>
            <a:ext cx="100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38" name="Shape 16"/>
          <p:cNvSpPr/>
          <p:nvPr/>
        </p:nvSpPr>
        <p:spPr>
          <a:xfrm rot="3573600">
            <a:off x="1409040" y="3894480"/>
            <a:ext cx="95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39" name="Shape 17"/>
          <p:cNvSpPr/>
          <p:nvPr/>
        </p:nvSpPr>
        <p:spPr>
          <a:xfrm rot="3478800">
            <a:off x="1459800" y="3974760"/>
            <a:ext cx="91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40" name="Shape 18"/>
          <p:cNvSpPr/>
          <p:nvPr/>
        </p:nvSpPr>
        <p:spPr>
          <a:xfrm rot="3373800">
            <a:off x="1510560" y="4050720"/>
            <a:ext cx="87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41" name="Shape 19"/>
          <p:cNvSpPr/>
          <p:nvPr/>
        </p:nvSpPr>
        <p:spPr>
          <a:xfrm rot="3258600">
            <a:off x="1561680" y="4120920"/>
            <a:ext cx="831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42" name="Shape 20"/>
          <p:cNvSpPr/>
          <p:nvPr/>
        </p:nvSpPr>
        <p:spPr>
          <a:xfrm rot="3132000">
            <a:off x="1612080" y="4186080"/>
            <a:ext cx="79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43" name="Shape 21"/>
          <p:cNvSpPr/>
          <p:nvPr/>
        </p:nvSpPr>
        <p:spPr>
          <a:xfrm rot="2991600">
            <a:off x="1663200" y="4246560"/>
            <a:ext cx="752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44" name="Shape 22"/>
          <p:cNvSpPr/>
          <p:nvPr/>
        </p:nvSpPr>
        <p:spPr>
          <a:xfrm rot="2836800">
            <a:off x="1713600" y="4302000"/>
            <a:ext cx="716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45" name="Shape 23"/>
          <p:cNvSpPr/>
          <p:nvPr/>
        </p:nvSpPr>
        <p:spPr>
          <a:xfrm rot="2665200">
            <a:off x="1764360" y="4352400"/>
            <a:ext cx="680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46" name="Shape 24"/>
          <p:cNvSpPr/>
          <p:nvPr/>
        </p:nvSpPr>
        <p:spPr>
          <a:xfrm rot="2474400">
            <a:off x="1814760" y="4397400"/>
            <a:ext cx="64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47" name="Shape 25"/>
          <p:cNvSpPr/>
          <p:nvPr/>
        </p:nvSpPr>
        <p:spPr>
          <a:xfrm rot="2263800">
            <a:off x="1864800" y="4437720"/>
            <a:ext cx="61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48" name="Shape 26"/>
          <p:cNvSpPr/>
          <p:nvPr/>
        </p:nvSpPr>
        <p:spPr>
          <a:xfrm rot="2029800">
            <a:off x="1915200" y="4473000"/>
            <a:ext cx="5832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49" name="Shape 27"/>
          <p:cNvSpPr/>
          <p:nvPr/>
        </p:nvSpPr>
        <p:spPr>
          <a:xfrm rot="1773600">
            <a:off x="1965240" y="4503240"/>
            <a:ext cx="558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50" name="Shape 28"/>
          <p:cNvSpPr/>
          <p:nvPr/>
        </p:nvSpPr>
        <p:spPr>
          <a:xfrm rot="1493400">
            <a:off x="2015280" y="4528080"/>
            <a:ext cx="532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51" name="Shape 29"/>
          <p:cNvSpPr/>
          <p:nvPr/>
        </p:nvSpPr>
        <p:spPr>
          <a:xfrm rot="1191000">
            <a:off x="2064960" y="4548240"/>
            <a:ext cx="51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52" name="Shape 30"/>
          <p:cNvSpPr/>
          <p:nvPr/>
        </p:nvSpPr>
        <p:spPr>
          <a:xfrm rot="867600">
            <a:off x="2114280" y="4563360"/>
            <a:ext cx="500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53" name="Shape 31"/>
          <p:cNvSpPr/>
          <p:nvPr/>
        </p:nvSpPr>
        <p:spPr>
          <a:xfrm rot="527400">
            <a:off x="2163600" y="4573440"/>
            <a:ext cx="489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54" name="Shape 32"/>
          <p:cNvSpPr/>
          <p:nvPr/>
        </p:nvSpPr>
        <p:spPr>
          <a:xfrm rot="177000">
            <a:off x="2212560" y="4578480"/>
            <a:ext cx="486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55" name="Shape 33"/>
          <p:cNvSpPr/>
          <p:nvPr/>
        </p:nvSpPr>
        <p:spPr>
          <a:xfrm rot="21423000">
            <a:off x="2261520" y="4578480"/>
            <a:ext cx="486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56" name="Shape 34"/>
          <p:cNvSpPr/>
          <p:nvPr/>
        </p:nvSpPr>
        <p:spPr>
          <a:xfrm rot="21073200">
            <a:off x="2310120" y="4573800"/>
            <a:ext cx="489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57" name="Shape 35"/>
          <p:cNvSpPr/>
          <p:nvPr/>
        </p:nvSpPr>
        <p:spPr>
          <a:xfrm rot="20732400">
            <a:off x="2358360" y="4563720"/>
            <a:ext cx="500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58" name="Shape 36"/>
          <p:cNvSpPr/>
          <p:nvPr/>
        </p:nvSpPr>
        <p:spPr>
          <a:xfrm rot="20409000">
            <a:off x="2406240" y="4548600"/>
            <a:ext cx="51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59" name="Shape 37"/>
          <p:cNvSpPr/>
          <p:nvPr/>
        </p:nvSpPr>
        <p:spPr>
          <a:xfrm rot="20106600">
            <a:off x="2454120" y="4528440"/>
            <a:ext cx="532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60" name="Shape 38"/>
          <p:cNvSpPr/>
          <p:nvPr/>
        </p:nvSpPr>
        <p:spPr>
          <a:xfrm rot="19826400">
            <a:off x="2501640" y="4502880"/>
            <a:ext cx="558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61" name="Shape 39"/>
          <p:cNvSpPr/>
          <p:nvPr/>
        </p:nvSpPr>
        <p:spPr>
          <a:xfrm rot="19570200">
            <a:off x="2549160" y="4473000"/>
            <a:ext cx="5832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62" name="Shape 40"/>
          <p:cNvSpPr/>
          <p:nvPr/>
        </p:nvSpPr>
        <p:spPr>
          <a:xfrm rot="19336800">
            <a:off x="2596320" y="4437720"/>
            <a:ext cx="61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63" name="Shape 41"/>
          <p:cNvSpPr/>
          <p:nvPr/>
        </p:nvSpPr>
        <p:spPr>
          <a:xfrm rot="19125600">
            <a:off x="2643480" y="4397400"/>
            <a:ext cx="64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64" name="Shape 42"/>
          <p:cNvSpPr/>
          <p:nvPr/>
        </p:nvSpPr>
        <p:spPr>
          <a:xfrm rot="18935400">
            <a:off x="2690640" y="4352400"/>
            <a:ext cx="680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65" name="Shape 43"/>
          <p:cNvSpPr/>
          <p:nvPr/>
        </p:nvSpPr>
        <p:spPr>
          <a:xfrm rot="18763200">
            <a:off x="2737440" y="4302000"/>
            <a:ext cx="716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66" name="Shape 44"/>
          <p:cNvSpPr/>
          <p:nvPr/>
        </p:nvSpPr>
        <p:spPr>
          <a:xfrm rot="18608400">
            <a:off x="2784600" y="4246920"/>
            <a:ext cx="752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67" name="Shape 45"/>
          <p:cNvSpPr/>
          <p:nvPr/>
        </p:nvSpPr>
        <p:spPr>
          <a:xfrm rot="18468000">
            <a:off x="2831040" y="4186440"/>
            <a:ext cx="79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68" name="Shape 46"/>
          <p:cNvSpPr/>
          <p:nvPr/>
        </p:nvSpPr>
        <p:spPr>
          <a:xfrm rot="18341400">
            <a:off x="2877840" y="4121280"/>
            <a:ext cx="831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69" name="Shape 47"/>
          <p:cNvSpPr/>
          <p:nvPr/>
        </p:nvSpPr>
        <p:spPr>
          <a:xfrm rot="18226200">
            <a:off x="2924640" y="4050720"/>
            <a:ext cx="87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70" name="Shape 48"/>
          <p:cNvSpPr/>
          <p:nvPr/>
        </p:nvSpPr>
        <p:spPr>
          <a:xfrm rot="18121800">
            <a:off x="2971440" y="3975480"/>
            <a:ext cx="91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71" name="Shape 49"/>
          <p:cNvSpPr/>
          <p:nvPr/>
        </p:nvSpPr>
        <p:spPr>
          <a:xfrm rot="18026400">
            <a:off x="3017880" y="3894840"/>
            <a:ext cx="95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72" name="Shape 50"/>
          <p:cNvSpPr/>
          <p:nvPr/>
        </p:nvSpPr>
        <p:spPr>
          <a:xfrm rot="17939400">
            <a:off x="3064320" y="3809520"/>
            <a:ext cx="100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73" name="Shape 51"/>
          <p:cNvSpPr/>
          <p:nvPr/>
        </p:nvSpPr>
        <p:spPr>
          <a:xfrm rot="17859600">
            <a:off x="3110760" y="3718800"/>
            <a:ext cx="104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74" name="Shape 52"/>
          <p:cNvSpPr/>
          <p:nvPr/>
        </p:nvSpPr>
        <p:spPr>
          <a:xfrm rot="17786400">
            <a:off x="3157560" y="3623400"/>
            <a:ext cx="109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75" name="Shape 53"/>
          <p:cNvSpPr/>
          <p:nvPr/>
        </p:nvSpPr>
        <p:spPr>
          <a:xfrm rot="17719200">
            <a:off x="3204000" y="3522600"/>
            <a:ext cx="113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76" name="Shape 54"/>
          <p:cNvSpPr/>
          <p:nvPr/>
        </p:nvSpPr>
        <p:spPr>
          <a:xfrm rot="17656800">
            <a:off x="3250800" y="3417480"/>
            <a:ext cx="118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77" name="Shape 55"/>
          <p:cNvSpPr/>
          <p:nvPr/>
        </p:nvSpPr>
        <p:spPr>
          <a:xfrm rot="17598600">
            <a:off x="3297240" y="3306600"/>
            <a:ext cx="122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78" name="Shape 56"/>
          <p:cNvSpPr/>
          <p:nvPr/>
        </p:nvSpPr>
        <p:spPr>
          <a:xfrm rot="17545200">
            <a:off x="3343680" y="3190680"/>
            <a:ext cx="127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79" name="Shape 57"/>
          <p:cNvSpPr/>
          <p:nvPr/>
        </p:nvSpPr>
        <p:spPr>
          <a:xfrm rot="17495400">
            <a:off x="3389760" y="3070080"/>
            <a:ext cx="13212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80" name="Shape 58"/>
          <p:cNvSpPr/>
          <p:nvPr/>
        </p:nvSpPr>
        <p:spPr>
          <a:xfrm rot="17449200">
            <a:off x="3436200" y="2944440"/>
            <a:ext cx="1368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81" name="Shape 59"/>
          <p:cNvSpPr/>
          <p:nvPr/>
        </p:nvSpPr>
        <p:spPr>
          <a:xfrm rot="17406000">
            <a:off x="3483000" y="2813400"/>
            <a:ext cx="141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82" name="Shape 60"/>
          <p:cNvSpPr/>
          <p:nvPr/>
        </p:nvSpPr>
        <p:spPr>
          <a:xfrm rot="17365200">
            <a:off x="3529080" y="2678040"/>
            <a:ext cx="1461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83" name="Shape 61"/>
          <p:cNvSpPr/>
          <p:nvPr/>
        </p:nvSpPr>
        <p:spPr>
          <a:xfrm rot="17328000">
            <a:off x="3575520" y="2536920"/>
            <a:ext cx="151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84" name="Shape 62"/>
          <p:cNvSpPr/>
          <p:nvPr/>
        </p:nvSpPr>
        <p:spPr>
          <a:xfrm rot="17292000">
            <a:off x="3621600" y="2391120"/>
            <a:ext cx="1558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85" name="Shape 63"/>
          <p:cNvSpPr/>
          <p:nvPr/>
        </p:nvSpPr>
        <p:spPr>
          <a:xfrm rot="17258400">
            <a:off x="3668400" y="2240280"/>
            <a:ext cx="1605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786" name="Shape 64"/>
          <p:cNvSpPr/>
          <p:nvPr/>
        </p:nvSpPr>
        <p:spPr>
          <a:xfrm rot="7043400">
            <a:off x="3144240" y="3696480"/>
            <a:ext cx="60120" cy="37800"/>
          </a:xfrm>
          <a:prstGeom prst="rect">
            <a:avLst/>
          </a:prstGeom>
          <a:solidFill>
            <a:srgbClr val="1f6e9c"/>
          </a:solidFill>
          <a:ln w="0">
            <a:noFill/>
          </a:ln>
        </p:spPr>
        <p:style>
          <a:lnRef idx="0"/>
          <a:fillRef idx="0"/>
          <a:effectRef idx="0"/>
          <a:fontRef idx="minor"/>
        </p:style>
        <p:txBody>
          <a:bodyPr lIns="90000" rIns="90000" tIns="-6840" bIns="-6840" anchor="t">
            <a:noAutofit/>
          </a:bodyPr>
          <a:p>
            <a:endParaRPr b="0" lang="en-US" sz="1800" strike="noStrike" u="none">
              <a:solidFill>
                <a:srgbClr val="ffffff"/>
              </a:solidFill>
              <a:effectLst/>
              <a:uFillTx/>
              <a:latin typeface="Arial"/>
            </a:endParaRPr>
          </a:p>
        </p:txBody>
      </p:sp>
      <p:sp>
        <p:nvSpPr>
          <p:cNvPr id="787" name="Shape 65"/>
          <p:cNvSpPr/>
          <p:nvPr/>
        </p:nvSpPr>
        <p:spPr>
          <a:xfrm rot="7086600">
            <a:off x="3119040" y="3748320"/>
            <a:ext cx="56520" cy="37800"/>
          </a:xfrm>
          <a:prstGeom prst="rect">
            <a:avLst/>
          </a:prstGeom>
          <a:solidFill>
            <a:srgbClr val="1f6e9c"/>
          </a:solidFill>
          <a:ln w="0">
            <a:noFill/>
          </a:ln>
        </p:spPr>
        <p:style>
          <a:lnRef idx="0"/>
          <a:fillRef idx="0"/>
          <a:effectRef idx="0"/>
          <a:fontRef idx="minor"/>
        </p:style>
        <p:txBody>
          <a:bodyPr lIns="90000" rIns="90000" tIns="-6840" bIns="-6840" anchor="t">
            <a:noAutofit/>
          </a:bodyPr>
          <a:p>
            <a:endParaRPr b="0" lang="en-US" sz="1800" strike="noStrike" u="none">
              <a:solidFill>
                <a:srgbClr val="ffffff"/>
              </a:solidFill>
              <a:effectLst/>
              <a:uFillTx/>
              <a:latin typeface="Arial"/>
            </a:endParaRPr>
          </a:p>
        </p:txBody>
      </p:sp>
      <p:sp>
        <p:nvSpPr>
          <p:cNvPr id="788" name="Shape 66"/>
          <p:cNvSpPr/>
          <p:nvPr/>
        </p:nvSpPr>
        <p:spPr>
          <a:xfrm rot="7129800">
            <a:off x="3094200" y="3796920"/>
            <a:ext cx="53280" cy="37800"/>
          </a:xfrm>
          <a:prstGeom prst="rect">
            <a:avLst/>
          </a:prstGeom>
          <a:solidFill>
            <a:srgbClr val="1f6e9c"/>
          </a:solidFill>
          <a:ln w="0">
            <a:noFill/>
          </a:ln>
        </p:spPr>
        <p:style>
          <a:lnRef idx="0"/>
          <a:fillRef idx="0"/>
          <a:effectRef idx="0"/>
          <a:fontRef idx="minor"/>
        </p:style>
        <p:txBody>
          <a:bodyPr lIns="90000" rIns="90000" tIns="-6840" bIns="-6840" anchor="t">
            <a:noAutofit/>
          </a:bodyPr>
          <a:p>
            <a:endParaRPr b="0" lang="en-US" sz="1800" strike="noStrike" u="none">
              <a:solidFill>
                <a:srgbClr val="ffffff"/>
              </a:solidFill>
              <a:effectLst/>
              <a:uFillTx/>
              <a:latin typeface="Arial"/>
            </a:endParaRPr>
          </a:p>
        </p:txBody>
      </p:sp>
      <p:sp>
        <p:nvSpPr>
          <p:cNvPr id="789" name="Shape 67"/>
          <p:cNvSpPr/>
          <p:nvPr/>
        </p:nvSpPr>
        <p:spPr>
          <a:xfrm rot="7174200">
            <a:off x="3069720" y="3842640"/>
            <a:ext cx="51120" cy="37800"/>
          </a:xfrm>
          <a:prstGeom prst="rect">
            <a:avLst/>
          </a:prstGeom>
          <a:solidFill>
            <a:srgbClr val="1f6e9c"/>
          </a:solidFill>
          <a:ln w="0">
            <a:noFill/>
          </a:ln>
        </p:spPr>
        <p:style>
          <a:lnRef idx="0"/>
          <a:fillRef idx="0"/>
          <a:effectRef idx="0"/>
          <a:fontRef idx="minor"/>
        </p:style>
        <p:txBody>
          <a:bodyPr lIns="90000" rIns="90000" tIns="-6840" bIns="-6840" anchor="t">
            <a:noAutofit/>
          </a:bodyPr>
          <a:p>
            <a:endParaRPr b="0" lang="en-US" sz="1800" strike="noStrike" u="none">
              <a:solidFill>
                <a:srgbClr val="ffffff"/>
              </a:solidFill>
              <a:effectLst/>
              <a:uFillTx/>
              <a:latin typeface="Arial"/>
            </a:endParaRPr>
          </a:p>
        </p:txBody>
      </p:sp>
      <p:sp>
        <p:nvSpPr>
          <p:cNvPr id="790" name="Shape 68"/>
          <p:cNvSpPr/>
          <p:nvPr/>
        </p:nvSpPr>
        <p:spPr>
          <a:xfrm rot="7218600">
            <a:off x="3047040" y="3885480"/>
            <a:ext cx="47160" cy="37800"/>
          </a:xfrm>
          <a:prstGeom prst="rect">
            <a:avLst/>
          </a:prstGeom>
          <a:solidFill>
            <a:srgbClr val="1f6e9c"/>
          </a:solidFill>
          <a:ln w="0">
            <a:noFill/>
          </a:ln>
        </p:spPr>
        <p:style>
          <a:lnRef idx="0"/>
          <a:fillRef idx="0"/>
          <a:effectRef idx="0"/>
          <a:fontRef idx="minor"/>
        </p:style>
        <p:txBody>
          <a:bodyPr lIns="90000" rIns="90000" tIns="-6840" bIns="-6840" anchor="t">
            <a:noAutofit/>
          </a:bodyPr>
          <a:p>
            <a:endParaRPr b="0" lang="en-US" sz="1800" strike="noStrike" u="none">
              <a:solidFill>
                <a:srgbClr val="ffffff"/>
              </a:solidFill>
              <a:effectLst/>
              <a:uFillTx/>
              <a:latin typeface="Arial"/>
            </a:endParaRPr>
          </a:p>
        </p:txBody>
      </p:sp>
      <p:sp>
        <p:nvSpPr>
          <p:cNvPr id="791" name="Shape 69"/>
          <p:cNvSpPr/>
          <p:nvPr/>
        </p:nvSpPr>
        <p:spPr>
          <a:xfrm>
            <a:off x="3119760" y="362016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92" name="Shape 70"/>
          <p:cNvSpPr/>
          <p:nvPr/>
        </p:nvSpPr>
        <p:spPr>
          <a:xfrm>
            <a:off x="3091680" y="36738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93" name="Shape 71"/>
          <p:cNvSpPr/>
          <p:nvPr/>
        </p:nvSpPr>
        <p:spPr>
          <a:xfrm>
            <a:off x="3065040" y="372384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94" name="Shape 72"/>
          <p:cNvSpPr/>
          <p:nvPr/>
        </p:nvSpPr>
        <p:spPr>
          <a:xfrm>
            <a:off x="3039120" y="37710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95" name="Shape 73"/>
          <p:cNvSpPr/>
          <p:nvPr/>
        </p:nvSpPr>
        <p:spPr>
          <a:xfrm>
            <a:off x="3013920" y="381564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96" name="Shape 74"/>
          <p:cNvSpPr/>
          <p:nvPr/>
        </p:nvSpPr>
        <p:spPr>
          <a:xfrm>
            <a:off x="2989800" y="38563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97" name="Text 75"/>
          <p:cNvSpPr/>
          <p:nvPr/>
        </p:nvSpPr>
        <p:spPr>
          <a:xfrm>
            <a:off x="640080" y="4773240"/>
            <a:ext cx="3428640" cy="639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400" strike="noStrike" u="none">
                <a:solidFill>
                  <a:srgbClr val="5d6e7c"/>
                </a:solidFill>
                <a:effectLst/>
                <a:uFillTx/>
                <a:latin typeface="Calibri"/>
                <a:ea typeface="Calibri"/>
              </a:rPr>
              <a:t>Right direction, tiny steps. Slow.</a:t>
            </a:r>
            <a:endParaRPr b="0" lang="en-US" sz="1400" strike="noStrike" u="none">
              <a:solidFill>
                <a:srgbClr val="000000"/>
              </a:solidFill>
              <a:effectLst/>
              <a:uFillTx/>
              <a:latin typeface="Arial"/>
            </a:endParaRPr>
          </a:p>
        </p:txBody>
      </p:sp>
      <p:sp>
        <p:nvSpPr>
          <p:cNvPr id="798" name="Text 76"/>
          <p:cNvSpPr/>
          <p:nvPr/>
        </p:nvSpPr>
        <p:spPr>
          <a:xfrm>
            <a:off x="4370760" y="1664280"/>
            <a:ext cx="34286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100" strike="noStrike" u="none">
                <a:solidFill>
                  <a:srgbClr val="0e7c86"/>
                </a:solidFill>
                <a:effectLst/>
                <a:uFillTx/>
                <a:latin typeface="Cambria"/>
                <a:ea typeface="Cambria"/>
              </a:rPr>
              <a:t>About right</a:t>
            </a:r>
            <a:endParaRPr b="0" lang="en-US" sz="2100" strike="noStrike" u="none">
              <a:solidFill>
                <a:srgbClr val="000000"/>
              </a:solidFill>
              <a:effectLst/>
              <a:uFillTx/>
              <a:latin typeface="Arial"/>
            </a:endParaRPr>
          </a:p>
        </p:txBody>
      </p:sp>
      <p:sp>
        <p:nvSpPr>
          <p:cNvPr id="799" name="Shape 77"/>
          <p:cNvSpPr/>
          <p:nvPr/>
        </p:nvSpPr>
        <p:spPr>
          <a:xfrm>
            <a:off x="4626720" y="4646880"/>
            <a:ext cx="292572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00" name="Shape 78"/>
          <p:cNvSpPr/>
          <p:nvPr/>
        </p:nvSpPr>
        <p:spPr>
          <a:xfrm rot="5400000">
            <a:off x="3369960" y="3389760"/>
            <a:ext cx="251424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01" name="Shape 79"/>
          <p:cNvSpPr/>
          <p:nvPr/>
        </p:nvSpPr>
        <p:spPr>
          <a:xfrm rot="4234800">
            <a:off x="4578120" y="2677320"/>
            <a:ext cx="1461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02" name="Shape 80"/>
          <p:cNvSpPr/>
          <p:nvPr/>
        </p:nvSpPr>
        <p:spPr>
          <a:xfrm rot="4194000">
            <a:off x="4629240" y="2813040"/>
            <a:ext cx="141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03" name="Shape 81"/>
          <p:cNvSpPr/>
          <p:nvPr/>
        </p:nvSpPr>
        <p:spPr>
          <a:xfrm rot="4150800">
            <a:off x="4680360" y="2944080"/>
            <a:ext cx="1368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04" name="Shape 82"/>
          <p:cNvSpPr/>
          <p:nvPr/>
        </p:nvSpPr>
        <p:spPr>
          <a:xfrm rot="4105200">
            <a:off x="4731480" y="3069720"/>
            <a:ext cx="13212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05" name="Shape 83"/>
          <p:cNvSpPr/>
          <p:nvPr/>
        </p:nvSpPr>
        <p:spPr>
          <a:xfrm rot="4054800">
            <a:off x="4782240" y="3190320"/>
            <a:ext cx="127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06" name="Shape 84"/>
          <p:cNvSpPr/>
          <p:nvPr/>
        </p:nvSpPr>
        <p:spPr>
          <a:xfrm rot="4001400">
            <a:off x="4833720" y="3306240"/>
            <a:ext cx="122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07" name="Shape 85"/>
          <p:cNvSpPr/>
          <p:nvPr/>
        </p:nvSpPr>
        <p:spPr>
          <a:xfrm rot="3943800">
            <a:off x="4884840" y="3416400"/>
            <a:ext cx="118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08" name="Shape 86"/>
          <p:cNvSpPr/>
          <p:nvPr/>
        </p:nvSpPr>
        <p:spPr>
          <a:xfrm rot="3880800">
            <a:off x="4935600" y="3522600"/>
            <a:ext cx="113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09" name="Shape 87"/>
          <p:cNvSpPr/>
          <p:nvPr/>
        </p:nvSpPr>
        <p:spPr>
          <a:xfrm rot="3813600">
            <a:off x="4986720" y="3622680"/>
            <a:ext cx="109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10" name="Shape 88"/>
          <p:cNvSpPr/>
          <p:nvPr/>
        </p:nvSpPr>
        <p:spPr>
          <a:xfrm rot="3740400">
            <a:off x="5037840" y="3718440"/>
            <a:ext cx="104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11" name="Shape 89"/>
          <p:cNvSpPr/>
          <p:nvPr/>
        </p:nvSpPr>
        <p:spPr>
          <a:xfrm rot="3660600">
            <a:off x="5088960" y="3808800"/>
            <a:ext cx="100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12" name="Shape 90"/>
          <p:cNvSpPr/>
          <p:nvPr/>
        </p:nvSpPr>
        <p:spPr>
          <a:xfrm rot="3573600">
            <a:off x="5139720" y="3894480"/>
            <a:ext cx="95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13" name="Shape 91"/>
          <p:cNvSpPr/>
          <p:nvPr/>
        </p:nvSpPr>
        <p:spPr>
          <a:xfrm rot="3478800">
            <a:off x="5190840" y="3974760"/>
            <a:ext cx="91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14" name="Shape 92"/>
          <p:cNvSpPr/>
          <p:nvPr/>
        </p:nvSpPr>
        <p:spPr>
          <a:xfrm rot="3373800">
            <a:off x="5241240" y="4050720"/>
            <a:ext cx="87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15" name="Shape 93"/>
          <p:cNvSpPr/>
          <p:nvPr/>
        </p:nvSpPr>
        <p:spPr>
          <a:xfrm rot="3258600">
            <a:off x="5292360" y="4120920"/>
            <a:ext cx="831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16" name="Shape 94"/>
          <p:cNvSpPr/>
          <p:nvPr/>
        </p:nvSpPr>
        <p:spPr>
          <a:xfrm rot="3132000">
            <a:off x="5342760" y="4186080"/>
            <a:ext cx="79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17" name="Shape 95"/>
          <p:cNvSpPr/>
          <p:nvPr/>
        </p:nvSpPr>
        <p:spPr>
          <a:xfrm rot="2991600">
            <a:off x="5393880" y="4246560"/>
            <a:ext cx="752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18" name="Shape 96"/>
          <p:cNvSpPr/>
          <p:nvPr/>
        </p:nvSpPr>
        <p:spPr>
          <a:xfrm rot="2836800">
            <a:off x="5444280" y="4302000"/>
            <a:ext cx="716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19" name="Shape 97"/>
          <p:cNvSpPr/>
          <p:nvPr/>
        </p:nvSpPr>
        <p:spPr>
          <a:xfrm rot="2665200">
            <a:off x="5495040" y="4352400"/>
            <a:ext cx="680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20" name="Shape 98"/>
          <p:cNvSpPr/>
          <p:nvPr/>
        </p:nvSpPr>
        <p:spPr>
          <a:xfrm rot="2474400">
            <a:off x="5545440" y="4397400"/>
            <a:ext cx="64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21" name="Shape 99"/>
          <p:cNvSpPr/>
          <p:nvPr/>
        </p:nvSpPr>
        <p:spPr>
          <a:xfrm rot="2263800">
            <a:off x="5595840" y="4437720"/>
            <a:ext cx="61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22" name="Shape 100"/>
          <p:cNvSpPr/>
          <p:nvPr/>
        </p:nvSpPr>
        <p:spPr>
          <a:xfrm rot="2029800">
            <a:off x="5646240" y="4473000"/>
            <a:ext cx="5832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23" name="Shape 101"/>
          <p:cNvSpPr/>
          <p:nvPr/>
        </p:nvSpPr>
        <p:spPr>
          <a:xfrm rot="1773600">
            <a:off x="5695920" y="4503240"/>
            <a:ext cx="558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24" name="Shape 102"/>
          <p:cNvSpPr/>
          <p:nvPr/>
        </p:nvSpPr>
        <p:spPr>
          <a:xfrm rot="1493400">
            <a:off x="5745960" y="4528080"/>
            <a:ext cx="532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25" name="Shape 103"/>
          <p:cNvSpPr/>
          <p:nvPr/>
        </p:nvSpPr>
        <p:spPr>
          <a:xfrm rot="1191000">
            <a:off x="5795640" y="4548240"/>
            <a:ext cx="51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26" name="Shape 104"/>
          <p:cNvSpPr/>
          <p:nvPr/>
        </p:nvSpPr>
        <p:spPr>
          <a:xfrm rot="867600">
            <a:off x="5844960" y="4563360"/>
            <a:ext cx="500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27" name="Shape 105"/>
          <p:cNvSpPr/>
          <p:nvPr/>
        </p:nvSpPr>
        <p:spPr>
          <a:xfrm rot="527400">
            <a:off x="5894640" y="4573440"/>
            <a:ext cx="489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28" name="Shape 106"/>
          <p:cNvSpPr/>
          <p:nvPr/>
        </p:nvSpPr>
        <p:spPr>
          <a:xfrm rot="177000">
            <a:off x="5943240" y="4578480"/>
            <a:ext cx="486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29" name="Shape 107"/>
          <p:cNvSpPr/>
          <p:nvPr/>
        </p:nvSpPr>
        <p:spPr>
          <a:xfrm rot="21423000">
            <a:off x="5992200" y="4578480"/>
            <a:ext cx="486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30" name="Shape 108"/>
          <p:cNvSpPr/>
          <p:nvPr/>
        </p:nvSpPr>
        <p:spPr>
          <a:xfrm rot="21073200">
            <a:off x="6040800" y="4573800"/>
            <a:ext cx="489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31" name="Shape 109"/>
          <p:cNvSpPr/>
          <p:nvPr/>
        </p:nvSpPr>
        <p:spPr>
          <a:xfrm rot="20732400">
            <a:off x="6089040" y="4563720"/>
            <a:ext cx="500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32" name="Shape 110"/>
          <p:cNvSpPr/>
          <p:nvPr/>
        </p:nvSpPr>
        <p:spPr>
          <a:xfrm rot="20409000">
            <a:off x="6136920" y="4548600"/>
            <a:ext cx="51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33" name="Shape 111"/>
          <p:cNvSpPr/>
          <p:nvPr/>
        </p:nvSpPr>
        <p:spPr>
          <a:xfrm rot="20106600">
            <a:off x="6184800" y="4528440"/>
            <a:ext cx="532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34" name="Shape 112"/>
          <p:cNvSpPr/>
          <p:nvPr/>
        </p:nvSpPr>
        <p:spPr>
          <a:xfrm rot="19826400">
            <a:off x="6232320" y="4502880"/>
            <a:ext cx="558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35" name="Shape 113"/>
          <p:cNvSpPr/>
          <p:nvPr/>
        </p:nvSpPr>
        <p:spPr>
          <a:xfrm rot="19570200">
            <a:off x="6279840" y="4473000"/>
            <a:ext cx="5832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36" name="Shape 114"/>
          <p:cNvSpPr/>
          <p:nvPr/>
        </p:nvSpPr>
        <p:spPr>
          <a:xfrm rot="19336800">
            <a:off x="6327000" y="4437720"/>
            <a:ext cx="61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37" name="Shape 115"/>
          <p:cNvSpPr/>
          <p:nvPr/>
        </p:nvSpPr>
        <p:spPr>
          <a:xfrm rot="19125600">
            <a:off x="6374160" y="4397400"/>
            <a:ext cx="64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38" name="Shape 116"/>
          <p:cNvSpPr/>
          <p:nvPr/>
        </p:nvSpPr>
        <p:spPr>
          <a:xfrm rot="18935400">
            <a:off x="6421320" y="4352400"/>
            <a:ext cx="680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39" name="Shape 117"/>
          <p:cNvSpPr/>
          <p:nvPr/>
        </p:nvSpPr>
        <p:spPr>
          <a:xfrm rot="18763200">
            <a:off x="6468480" y="4302000"/>
            <a:ext cx="716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40" name="Shape 118"/>
          <p:cNvSpPr/>
          <p:nvPr/>
        </p:nvSpPr>
        <p:spPr>
          <a:xfrm rot="18608400">
            <a:off x="6515280" y="4246920"/>
            <a:ext cx="752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41" name="Shape 119"/>
          <p:cNvSpPr/>
          <p:nvPr/>
        </p:nvSpPr>
        <p:spPr>
          <a:xfrm rot="18468000">
            <a:off x="6561720" y="4186440"/>
            <a:ext cx="79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42" name="Shape 120"/>
          <p:cNvSpPr/>
          <p:nvPr/>
        </p:nvSpPr>
        <p:spPr>
          <a:xfrm rot="18341400">
            <a:off x="6608880" y="4121280"/>
            <a:ext cx="831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43" name="Shape 121"/>
          <p:cNvSpPr/>
          <p:nvPr/>
        </p:nvSpPr>
        <p:spPr>
          <a:xfrm rot="18226200">
            <a:off x="6655320" y="4050720"/>
            <a:ext cx="87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44" name="Shape 122"/>
          <p:cNvSpPr/>
          <p:nvPr/>
        </p:nvSpPr>
        <p:spPr>
          <a:xfrm rot="18121800">
            <a:off x="6702120" y="3975480"/>
            <a:ext cx="91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45" name="Shape 123"/>
          <p:cNvSpPr/>
          <p:nvPr/>
        </p:nvSpPr>
        <p:spPr>
          <a:xfrm rot="18026400">
            <a:off x="6748920" y="3894840"/>
            <a:ext cx="95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46" name="Shape 124"/>
          <p:cNvSpPr/>
          <p:nvPr/>
        </p:nvSpPr>
        <p:spPr>
          <a:xfrm rot="17939400">
            <a:off x="6795360" y="3809520"/>
            <a:ext cx="100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47" name="Shape 125"/>
          <p:cNvSpPr/>
          <p:nvPr/>
        </p:nvSpPr>
        <p:spPr>
          <a:xfrm rot="17859600">
            <a:off x="6841440" y="3718800"/>
            <a:ext cx="104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48" name="Shape 126"/>
          <p:cNvSpPr/>
          <p:nvPr/>
        </p:nvSpPr>
        <p:spPr>
          <a:xfrm rot="17786400">
            <a:off x="6888600" y="3623400"/>
            <a:ext cx="109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49" name="Shape 127"/>
          <p:cNvSpPr/>
          <p:nvPr/>
        </p:nvSpPr>
        <p:spPr>
          <a:xfrm rot="17719200">
            <a:off x="6935040" y="3522600"/>
            <a:ext cx="113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50" name="Shape 128"/>
          <p:cNvSpPr/>
          <p:nvPr/>
        </p:nvSpPr>
        <p:spPr>
          <a:xfrm rot="17656800">
            <a:off x="6981480" y="3417480"/>
            <a:ext cx="118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51" name="Shape 129"/>
          <p:cNvSpPr/>
          <p:nvPr/>
        </p:nvSpPr>
        <p:spPr>
          <a:xfrm rot="17598600">
            <a:off x="7027920" y="3306600"/>
            <a:ext cx="122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52" name="Shape 130"/>
          <p:cNvSpPr/>
          <p:nvPr/>
        </p:nvSpPr>
        <p:spPr>
          <a:xfrm rot="17545200">
            <a:off x="7074360" y="3190680"/>
            <a:ext cx="127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53" name="Shape 131"/>
          <p:cNvSpPr/>
          <p:nvPr/>
        </p:nvSpPr>
        <p:spPr>
          <a:xfrm rot="17495400">
            <a:off x="7120440" y="3070080"/>
            <a:ext cx="13212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54" name="Shape 132"/>
          <p:cNvSpPr/>
          <p:nvPr/>
        </p:nvSpPr>
        <p:spPr>
          <a:xfrm rot="17449200">
            <a:off x="7167240" y="2944440"/>
            <a:ext cx="1368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55" name="Shape 133"/>
          <p:cNvSpPr/>
          <p:nvPr/>
        </p:nvSpPr>
        <p:spPr>
          <a:xfrm rot="17406000">
            <a:off x="7213680" y="2813400"/>
            <a:ext cx="141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56" name="Shape 134"/>
          <p:cNvSpPr/>
          <p:nvPr/>
        </p:nvSpPr>
        <p:spPr>
          <a:xfrm rot="17365200">
            <a:off x="7259760" y="2678040"/>
            <a:ext cx="1461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57" name="Shape 135"/>
          <p:cNvSpPr/>
          <p:nvPr/>
        </p:nvSpPr>
        <p:spPr>
          <a:xfrm rot="17328000">
            <a:off x="7306200" y="2536920"/>
            <a:ext cx="151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58" name="Shape 136"/>
          <p:cNvSpPr/>
          <p:nvPr/>
        </p:nvSpPr>
        <p:spPr>
          <a:xfrm rot="17292000">
            <a:off x="7352640" y="2391120"/>
            <a:ext cx="1558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59" name="Shape 137"/>
          <p:cNvSpPr/>
          <p:nvPr/>
        </p:nvSpPr>
        <p:spPr>
          <a:xfrm rot="17258400">
            <a:off x="7399080" y="2240280"/>
            <a:ext cx="1605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60" name="Shape 138"/>
          <p:cNvSpPr/>
          <p:nvPr/>
        </p:nvSpPr>
        <p:spPr>
          <a:xfrm rot="7714200">
            <a:off x="6050880" y="4087800"/>
            <a:ext cx="1069560" cy="37800"/>
          </a:xfrm>
          <a:prstGeom prst="rect">
            <a:avLst/>
          </a:prstGeom>
          <a:solidFill>
            <a:srgbClr val="0e7c86"/>
          </a:solidFill>
          <a:ln w="0">
            <a:noFill/>
          </a:ln>
        </p:spPr>
        <p:style>
          <a:lnRef idx="0"/>
          <a:fillRef idx="0"/>
          <a:effectRef idx="0"/>
          <a:fontRef idx="minor"/>
        </p:style>
        <p:txBody>
          <a:bodyPr lIns="90000" rIns="90000" tIns="-6840" bIns="-6840" anchor="t">
            <a:noAutofit/>
          </a:bodyPr>
          <a:p>
            <a:endParaRPr b="0" lang="en-US" sz="1800" strike="noStrike" u="none">
              <a:solidFill>
                <a:srgbClr val="ffffff"/>
              </a:solidFill>
              <a:effectLst/>
              <a:uFillTx/>
              <a:latin typeface="Arial"/>
            </a:endParaRPr>
          </a:p>
        </p:txBody>
      </p:sp>
      <p:sp>
        <p:nvSpPr>
          <p:cNvPr id="861" name="Shape 139"/>
          <p:cNvSpPr/>
          <p:nvPr/>
        </p:nvSpPr>
        <p:spPr>
          <a:xfrm rot="9639000">
            <a:off x="6059880" y="4538880"/>
            <a:ext cx="197640" cy="37800"/>
          </a:xfrm>
          <a:prstGeom prst="rect">
            <a:avLst/>
          </a:prstGeom>
          <a:solidFill>
            <a:srgbClr val="0e7c86"/>
          </a:solidFill>
          <a:ln w="0">
            <a:noFill/>
          </a:ln>
        </p:spPr>
        <p:style>
          <a:lnRef idx="0"/>
          <a:fillRef idx="0"/>
          <a:effectRef idx="0"/>
          <a:fontRef idx="minor"/>
        </p:style>
        <p:txBody>
          <a:bodyPr lIns="90000" rIns="90000" tIns="-6840" bIns="-6840" anchor="t">
            <a:noAutofit/>
          </a:bodyPr>
          <a:p>
            <a:endParaRPr b="0" lang="en-US" sz="1800" strike="noStrike" u="none">
              <a:solidFill>
                <a:srgbClr val="ffffff"/>
              </a:solidFill>
              <a:effectLst/>
              <a:uFillTx/>
              <a:latin typeface="Arial"/>
            </a:endParaRPr>
          </a:p>
        </p:txBody>
      </p:sp>
      <p:sp>
        <p:nvSpPr>
          <p:cNvPr id="862" name="Shape 140"/>
          <p:cNvSpPr/>
          <p:nvPr/>
        </p:nvSpPr>
        <p:spPr>
          <a:xfrm rot="10462800">
            <a:off x="6013080" y="4574520"/>
            <a:ext cx="52200" cy="37800"/>
          </a:xfrm>
          <a:prstGeom prst="rect">
            <a:avLst/>
          </a:prstGeom>
          <a:solidFill>
            <a:srgbClr val="0e7c86"/>
          </a:solidFill>
          <a:ln w="0">
            <a:noFill/>
          </a:ln>
        </p:spPr>
        <p:style>
          <a:lnRef idx="0"/>
          <a:fillRef idx="0"/>
          <a:effectRef idx="0"/>
          <a:fontRef idx="minor"/>
        </p:style>
        <p:txBody>
          <a:bodyPr lIns="90000" rIns="90000" tIns="-6840" bIns="-6840" anchor="t">
            <a:noAutofit/>
          </a:bodyPr>
          <a:p>
            <a:endParaRPr b="0" lang="en-US" sz="1800" strike="noStrike" u="none">
              <a:solidFill>
                <a:srgbClr val="ffffff"/>
              </a:solidFill>
              <a:effectLst/>
              <a:uFillTx/>
              <a:latin typeface="Arial"/>
            </a:endParaRPr>
          </a:p>
        </p:txBody>
      </p:sp>
      <p:sp>
        <p:nvSpPr>
          <p:cNvPr id="863" name="Shape 141"/>
          <p:cNvSpPr/>
          <p:nvPr/>
        </p:nvSpPr>
        <p:spPr>
          <a:xfrm>
            <a:off x="6850440" y="3620160"/>
            <a:ext cx="136800" cy="1368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64" name="Shape 142"/>
          <p:cNvSpPr/>
          <p:nvPr/>
        </p:nvSpPr>
        <p:spPr>
          <a:xfrm>
            <a:off x="6183360" y="4456800"/>
            <a:ext cx="136800" cy="1368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65" name="Shape 143"/>
          <p:cNvSpPr/>
          <p:nvPr/>
        </p:nvSpPr>
        <p:spPr>
          <a:xfrm>
            <a:off x="5996520" y="4522320"/>
            <a:ext cx="136800" cy="1368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66" name="Shape 144"/>
          <p:cNvSpPr/>
          <p:nvPr/>
        </p:nvSpPr>
        <p:spPr>
          <a:xfrm>
            <a:off x="5944320" y="4527360"/>
            <a:ext cx="136800" cy="1368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67" name="Text 145"/>
          <p:cNvSpPr/>
          <p:nvPr/>
        </p:nvSpPr>
        <p:spPr>
          <a:xfrm>
            <a:off x="4370760" y="4773240"/>
            <a:ext cx="3428640" cy="639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400" strike="noStrike" u="none">
                <a:solidFill>
                  <a:srgbClr val="5d6e7c"/>
                </a:solidFill>
                <a:effectLst/>
                <a:uFillTx/>
                <a:latin typeface="Calibri"/>
                <a:ea typeface="Calibri"/>
              </a:rPr>
              <a:t>A few steps and you are at the bottom.</a:t>
            </a:r>
            <a:endParaRPr b="0" lang="en-US" sz="1400" strike="noStrike" u="none">
              <a:solidFill>
                <a:srgbClr val="000000"/>
              </a:solidFill>
              <a:effectLst/>
              <a:uFillTx/>
              <a:latin typeface="Arial"/>
            </a:endParaRPr>
          </a:p>
        </p:txBody>
      </p:sp>
      <p:sp>
        <p:nvSpPr>
          <p:cNvPr id="868" name="Text 146"/>
          <p:cNvSpPr/>
          <p:nvPr/>
        </p:nvSpPr>
        <p:spPr>
          <a:xfrm>
            <a:off x="8101440" y="1664280"/>
            <a:ext cx="34286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100" strike="noStrike" u="none">
                <a:solidFill>
                  <a:srgbClr val="c0392b"/>
                </a:solidFill>
                <a:effectLst/>
                <a:uFillTx/>
                <a:latin typeface="Cambria"/>
                <a:ea typeface="Cambria"/>
              </a:rPr>
              <a:t>Too large</a:t>
            </a:r>
            <a:endParaRPr b="0" lang="en-US" sz="2100" strike="noStrike" u="none">
              <a:solidFill>
                <a:srgbClr val="000000"/>
              </a:solidFill>
              <a:effectLst/>
              <a:uFillTx/>
              <a:latin typeface="Arial"/>
            </a:endParaRPr>
          </a:p>
        </p:txBody>
      </p:sp>
      <p:sp>
        <p:nvSpPr>
          <p:cNvPr id="869" name="Shape 147"/>
          <p:cNvSpPr/>
          <p:nvPr/>
        </p:nvSpPr>
        <p:spPr>
          <a:xfrm>
            <a:off x="8357760" y="4646880"/>
            <a:ext cx="292572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70" name="Shape 148"/>
          <p:cNvSpPr/>
          <p:nvPr/>
        </p:nvSpPr>
        <p:spPr>
          <a:xfrm rot="5400000">
            <a:off x="7100640" y="3389760"/>
            <a:ext cx="251424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71" name="Shape 149"/>
          <p:cNvSpPr/>
          <p:nvPr/>
        </p:nvSpPr>
        <p:spPr>
          <a:xfrm rot="4234800">
            <a:off x="8309160" y="2677320"/>
            <a:ext cx="1461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72" name="Shape 150"/>
          <p:cNvSpPr/>
          <p:nvPr/>
        </p:nvSpPr>
        <p:spPr>
          <a:xfrm rot="4194000">
            <a:off x="8359920" y="2813040"/>
            <a:ext cx="141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73" name="Shape 151"/>
          <p:cNvSpPr/>
          <p:nvPr/>
        </p:nvSpPr>
        <p:spPr>
          <a:xfrm rot="4150800">
            <a:off x="8411040" y="2944080"/>
            <a:ext cx="1368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74" name="Shape 152"/>
          <p:cNvSpPr/>
          <p:nvPr/>
        </p:nvSpPr>
        <p:spPr>
          <a:xfrm rot="4105200">
            <a:off x="8462160" y="3069720"/>
            <a:ext cx="13212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75" name="Shape 153"/>
          <p:cNvSpPr/>
          <p:nvPr/>
        </p:nvSpPr>
        <p:spPr>
          <a:xfrm rot="4054800">
            <a:off x="8513280" y="3190320"/>
            <a:ext cx="127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76" name="Shape 154"/>
          <p:cNvSpPr/>
          <p:nvPr/>
        </p:nvSpPr>
        <p:spPr>
          <a:xfrm rot="4001400">
            <a:off x="8564400" y="3306240"/>
            <a:ext cx="122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77" name="Shape 155"/>
          <p:cNvSpPr/>
          <p:nvPr/>
        </p:nvSpPr>
        <p:spPr>
          <a:xfrm rot="3943800">
            <a:off x="8615520" y="3416400"/>
            <a:ext cx="118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78" name="Shape 156"/>
          <p:cNvSpPr/>
          <p:nvPr/>
        </p:nvSpPr>
        <p:spPr>
          <a:xfrm rot="3880800">
            <a:off x="8666280" y="3522600"/>
            <a:ext cx="113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79" name="Shape 157"/>
          <p:cNvSpPr/>
          <p:nvPr/>
        </p:nvSpPr>
        <p:spPr>
          <a:xfrm rot="3813600">
            <a:off x="8717400" y="3622680"/>
            <a:ext cx="109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80" name="Shape 158"/>
          <p:cNvSpPr/>
          <p:nvPr/>
        </p:nvSpPr>
        <p:spPr>
          <a:xfrm rot="3740400">
            <a:off x="8768520" y="3718440"/>
            <a:ext cx="104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81" name="Shape 159"/>
          <p:cNvSpPr/>
          <p:nvPr/>
        </p:nvSpPr>
        <p:spPr>
          <a:xfrm rot="3660600">
            <a:off x="8819640" y="3808800"/>
            <a:ext cx="100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82" name="Shape 160"/>
          <p:cNvSpPr/>
          <p:nvPr/>
        </p:nvSpPr>
        <p:spPr>
          <a:xfrm rot="3573600">
            <a:off x="8870400" y="3894480"/>
            <a:ext cx="95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83" name="Shape 161"/>
          <p:cNvSpPr/>
          <p:nvPr/>
        </p:nvSpPr>
        <p:spPr>
          <a:xfrm rot="3478800">
            <a:off x="8921520" y="3974760"/>
            <a:ext cx="91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84" name="Shape 162"/>
          <p:cNvSpPr/>
          <p:nvPr/>
        </p:nvSpPr>
        <p:spPr>
          <a:xfrm rot="3373800">
            <a:off x="8972280" y="4050720"/>
            <a:ext cx="87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85" name="Shape 163"/>
          <p:cNvSpPr/>
          <p:nvPr/>
        </p:nvSpPr>
        <p:spPr>
          <a:xfrm rot="3258600">
            <a:off x="9023040" y="4120920"/>
            <a:ext cx="831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86" name="Shape 164"/>
          <p:cNvSpPr/>
          <p:nvPr/>
        </p:nvSpPr>
        <p:spPr>
          <a:xfrm rot="3132000">
            <a:off x="9073800" y="4186080"/>
            <a:ext cx="79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87" name="Shape 165"/>
          <p:cNvSpPr/>
          <p:nvPr/>
        </p:nvSpPr>
        <p:spPr>
          <a:xfrm rot="2991600">
            <a:off x="9124560" y="4246560"/>
            <a:ext cx="752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88" name="Shape 166"/>
          <p:cNvSpPr/>
          <p:nvPr/>
        </p:nvSpPr>
        <p:spPr>
          <a:xfrm rot="2836800">
            <a:off x="9174960" y="4302000"/>
            <a:ext cx="716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89" name="Shape 167"/>
          <p:cNvSpPr/>
          <p:nvPr/>
        </p:nvSpPr>
        <p:spPr>
          <a:xfrm rot="2665200">
            <a:off x="9225720" y="4352400"/>
            <a:ext cx="680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90" name="Shape 168"/>
          <p:cNvSpPr/>
          <p:nvPr/>
        </p:nvSpPr>
        <p:spPr>
          <a:xfrm rot="2474400">
            <a:off x="9276480" y="4397400"/>
            <a:ext cx="64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91" name="Shape 169"/>
          <p:cNvSpPr/>
          <p:nvPr/>
        </p:nvSpPr>
        <p:spPr>
          <a:xfrm rot="2263800">
            <a:off x="9326520" y="4437720"/>
            <a:ext cx="61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92" name="Shape 170"/>
          <p:cNvSpPr/>
          <p:nvPr/>
        </p:nvSpPr>
        <p:spPr>
          <a:xfrm rot="2029800">
            <a:off x="9376920" y="4473000"/>
            <a:ext cx="5832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93" name="Shape 171"/>
          <p:cNvSpPr/>
          <p:nvPr/>
        </p:nvSpPr>
        <p:spPr>
          <a:xfrm rot="1773600">
            <a:off x="9426600" y="4503240"/>
            <a:ext cx="558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94" name="Shape 172"/>
          <p:cNvSpPr/>
          <p:nvPr/>
        </p:nvSpPr>
        <p:spPr>
          <a:xfrm rot="1493400">
            <a:off x="9477000" y="4528080"/>
            <a:ext cx="532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95" name="Shape 173"/>
          <p:cNvSpPr/>
          <p:nvPr/>
        </p:nvSpPr>
        <p:spPr>
          <a:xfrm rot="1191000">
            <a:off x="9526320" y="4548240"/>
            <a:ext cx="51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96" name="Shape 174"/>
          <p:cNvSpPr/>
          <p:nvPr/>
        </p:nvSpPr>
        <p:spPr>
          <a:xfrm rot="867600">
            <a:off x="9576000" y="4563360"/>
            <a:ext cx="500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97" name="Shape 175"/>
          <p:cNvSpPr/>
          <p:nvPr/>
        </p:nvSpPr>
        <p:spPr>
          <a:xfrm rot="527400">
            <a:off x="9625320" y="4573440"/>
            <a:ext cx="489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98" name="Shape 176"/>
          <p:cNvSpPr/>
          <p:nvPr/>
        </p:nvSpPr>
        <p:spPr>
          <a:xfrm rot="177000">
            <a:off x="9674280" y="4578480"/>
            <a:ext cx="486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899" name="Shape 177"/>
          <p:cNvSpPr/>
          <p:nvPr/>
        </p:nvSpPr>
        <p:spPr>
          <a:xfrm rot="21423000">
            <a:off x="9722880" y="4578480"/>
            <a:ext cx="486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00" name="Shape 178"/>
          <p:cNvSpPr/>
          <p:nvPr/>
        </p:nvSpPr>
        <p:spPr>
          <a:xfrm rot="21073200">
            <a:off x="9771480" y="4573800"/>
            <a:ext cx="489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01" name="Shape 179"/>
          <p:cNvSpPr/>
          <p:nvPr/>
        </p:nvSpPr>
        <p:spPr>
          <a:xfrm rot="20732400">
            <a:off x="9819720" y="4563720"/>
            <a:ext cx="500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02" name="Shape 180"/>
          <p:cNvSpPr/>
          <p:nvPr/>
        </p:nvSpPr>
        <p:spPr>
          <a:xfrm rot="20409000">
            <a:off x="9867960" y="4548600"/>
            <a:ext cx="51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03" name="Shape 181"/>
          <p:cNvSpPr/>
          <p:nvPr/>
        </p:nvSpPr>
        <p:spPr>
          <a:xfrm rot="20106600">
            <a:off x="9915480" y="4528440"/>
            <a:ext cx="532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04" name="Shape 182"/>
          <p:cNvSpPr/>
          <p:nvPr/>
        </p:nvSpPr>
        <p:spPr>
          <a:xfrm rot="19826400">
            <a:off x="9963360" y="4502880"/>
            <a:ext cx="558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05" name="Shape 183"/>
          <p:cNvSpPr/>
          <p:nvPr/>
        </p:nvSpPr>
        <p:spPr>
          <a:xfrm rot="19570200">
            <a:off x="10010520" y="4473000"/>
            <a:ext cx="5832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06" name="Shape 184"/>
          <p:cNvSpPr/>
          <p:nvPr/>
        </p:nvSpPr>
        <p:spPr>
          <a:xfrm rot="19336800">
            <a:off x="10057680" y="4437720"/>
            <a:ext cx="61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07" name="Shape 185"/>
          <p:cNvSpPr/>
          <p:nvPr/>
        </p:nvSpPr>
        <p:spPr>
          <a:xfrm rot="19125600">
            <a:off x="10104840" y="4397400"/>
            <a:ext cx="64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08" name="Shape 186"/>
          <p:cNvSpPr/>
          <p:nvPr/>
        </p:nvSpPr>
        <p:spPr>
          <a:xfrm rot="18935400">
            <a:off x="10152000" y="4352400"/>
            <a:ext cx="680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09" name="Shape 187"/>
          <p:cNvSpPr/>
          <p:nvPr/>
        </p:nvSpPr>
        <p:spPr>
          <a:xfrm rot="18763200">
            <a:off x="10199160" y="4302000"/>
            <a:ext cx="716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10" name="Shape 188"/>
          <p:cNvSpPr/>
          <p:nvPr/>
        </p:nvSpPr>
        <p:spPr>
          <a:xfrm rot="18608400">
            <a:off x="10245960" y="4246920"/>
            <a:ext cx="752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11" name="Shape 189"/>
          <p:cNvSpPr/>
          <p:nvPr/>
        </p:nvSpPr>
        <p:spPr>
          <a:xfrm rot="18468000">
            <a:off x="10292400" y="4186440"/>
            <a:ext cx="79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12" name="Shape 190"/>
          <p:cNvSpPr/>
          <p:nvPr/>
        </p:nvSpPr>
        <p:spPr>
          <a:xfrm rot="18341400">
            <a:off x="10339560" y="4121280"/>
            <a:ext cx="831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13" name="Shape 191"/>
          <p:cNvSpPr/>
          <p:nvPr/>
        </p:nvSpPr>
        <p:spPr>
          <a:xfrm rot="18226200">
            <a:off x="10386000" y="4050720"/>
            <a:ext cx="87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14" name="Shape 192"/>
          <p:cNvSpPr/>
          <p:nvPr/>
        </p:nvSpPr>
        <p:spPr>
          <a:xfrm rot="18121800">
            <a:off x="10432800" y="3975480"/>
            <a:ext cx="91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15" name="Shape 193"/>
          <p:cNvSpPr/>
          <p:nvPr/>
        </p:nvSpPr>
        <p:spPr>
          <a:xfrm rot="18026400">
            <a:off x="10479600" y="3894840"/>
            <a:ext cx="95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16" name="Shape 194"/>
          <p:cNvSpPr/>
          <p:nvPr/>
        </p:nvSpPr>
        <p:spPr>
          <a:xfrm rot="17939400">
            <a:off x="10526040" y="3809520"/>
            <a:ext cx="100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17" name="Shape 195"/>
          <p:cNvSpPr/>
          <p:nvPr/>
        </p:nvSpPr>
        <p:spPr>
          <a:xfrm rot="17859600">
            <a:off x="10572480" y="3718800"/>
            <a:ext cx="104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18" name="Shape 196"/>
          <p:cNvSpPr/>
          <p:nvPr/>
        </p:nvSpPr>
        <p:spPr>
          <a:xfrm rot="17786400">
            <a:off x="10619280" y="3623400"/>
            <a:ext cx="109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19" name="Shape 197"/>
          <p:cNvSpPr/>
          <p:nvPr/>
        </p:nvSpPr>
        <p:spPr>
          <a:xfrm rot="17719200">
            <a:off x="10665720" y="3522600"/>
            <a:ext cx="113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20" name="Shape 198"/>
          <p:cNvSpPr/>
          <p:nvPr/>
        </p:nvSpPr>
        <p:spPr>
          <a:xfrm rot="17656800">
            <a:off x="10712160" y="3417480"/>
            <a:ext cx="1180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21" name="Shape 199"/>
          <p:cNvSpPr/>
          <p:nvPr/>
        </p:nvSpPr>
        <p:spPr>
          <a:xfrm rot="17598600">
            <a:off x="10758600" y="3306600"/>
            <a:ext cx="1227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22" name="Shape 200"/>
          <p:cNvSpPr/>
          <p:nvPr/>
        </p:nvSpPr>
        <p:spPr>
          <a:xfrm rot="17545200">
            <a:off x="10805040" y="3190680"/>
            <a:ext cx="12744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23" name="Shape 201"/>
          <p:cNvSpPr/>
          <p:nvPr/>
        </p:nvSpPr>
        <p:spPr>
          <a:xfrm rot="17495400">
            <a:off x="10851120" y="3070080"/>
            <a:ext cx="13212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24" name="Shape 202"/>
          <p:cNvSpPr/>
          <p:nvPr/>
        </p:nvSpPr>
        <p:spPr>
          <a:xfrm rot="17449200">
            <a:off x="10897920" y="2944440"/>
            <a:ext cx="1368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25" name="Shape 203"/>
          <p:cNvSpPr/>
          <p:nvPr/>
        </p:nvSpPr>
        <p:spPr>
          <a:xfrm rot="17406000">
            <a:off x="10944360" y="2813400"/>
            <a:ext cx="1414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26" name="Shape 204"/>
          <p:cNvSpPr/>
          <p:nvPr/>
        </p:nvSpPr>
        <p:spPr>
          <a:xfrm rot="17365200">
            <a:off x="10990440" y="2678040"/>
            <a:ext cx="1461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27" name="Shape 205"/>
          <p:cNvSpPr/>
          <p:nvPr/>
        </p:nvSpPr>
        <p:spPr>
          <a:xfrm rot="17328000">
            <a:off x="11037240" y="2536920"/>
            <a:ext cx="15120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28" name="Shape 206"/>
          <p:cNvSpPr/>
          <p:nvPr/>
        </p:nvSpPr>
        <p:spPr>
          <a:xfrm rot="17292000">
            <a:off x="11083320" y="2391120"/>
            <a:ext cx="15588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29" name="Shape 207"/>
          <p:cNvSpPr/>
          <p:nvPr/>
        </p:nvSpPr>
        <p:spPr>
          <a:xfrm rot="17258400">
            <a:off x="11129760" y="2240280"/>
            <a:ext cx="160560" cy="32400"/>
          </a:xfrm>
          <a:prstGeom prst="rect">
            <a:avLst/>
          </a:prstGeom>
          <a:solidFill>
            <a:srgbClr val="cad3da"/>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30" name="Shape 208"/>
          <p:cNvSpPr/>
          <p:nvPr/>
        </p:nvSpPr>
        <p:spPr>
          <a:xfrm rot="11625600">
            <a:off x="8534520" y="3414600"/>
            <a:ext cx="2145960" cy="37800"/>
          </a:xfrm>
          <a:prstGeom prst="rect">
            <a:avLst/>
          </a:prstGeom>
          <a:solidFill>
            <a:srgbClr val="c0392b"/>
          </a:solidFill>
          <a:ln w="0">
            <a:noFill/>
          </a:ln>
        </p:spPr>
        <p:style>
          <a:lnRef idx="0"/>
          <a:fillRef idx="0"/>
          <a:effectRef idx="0"/>
          <a:fontRef idx="minor"/>
        </p:style>
        <p:txBody>
          <a:bodyPr lIns="90000" rIns="90000" tIns="-6840" bIns="-6840" anchor="t">
            <a:noAutofit/>
          </a:bodyPr>
          <a:p>
            <a:endParaRPr b="0" lang="en-US" sz="1800" strike="noStrike" u="none">
              <a:solidFill>
                <a:srgbClr val="ffffff"/>
              </a:solidFill>
              <a:effectLst/>
              <a:uFillTx/>
              <a:latin typeface="Arial"/>
            </a:endParaRPr>
          </a:p>
        </p:txBody>
      </p:sp>
      <p:sp>
        <p:nvSpPr>
          <p:cNvPr id="931" name="Shape 209"/>
          <p:cNvSpPr/>
          <p:nvPr/>
        </p:nvSpPr>
        <p:spPr>
          <a:xfrm rot="20578200">
            <a:off x="8505000" y="2759760"/>
            <a:ext cx="2725200" cy="37800"/>
          </a:xfrm>
          <a:prstGeom prst="rect">
            <a:avLst/>
          </a:prstGeom>
          <a:solidFill>
            <a:srgbClr val="c0392b"/>
          </a:solidFill>
          <a:ln w="0">
            <a:noFill/>
          </a:ln>
        </p:spPr>
        <p:style>
          <a:lnRef idx="0"/>
          <a:fillRef idx="0"/>
          <a:effectRef idx="0"/>
          <a:fontRef idx="minor"/>
        </p:style>
        <p:txBody>
          <a:bodyPr lIns="90000" rIns="90000" tIns="-6840" bIns="-6840" anchor="t">
            <a:noAutofit/>
          </a:bodyPr>
          <a:p>
            <a:endParaRPr b="0" lang="en-US" sz="1800" strike="noStrike" u="none">
              <a:solidFill>
                <a:srgbClr val="ffffff"/>
              </a:solidFill>
              <a:effectLst/>
              <a:uFillTx/>
              <a:latin typeface="Arial"/>
            </a:endParaRPr>
          </a:p>
        </p:txBody>
      </p:sp>
      <p:sp>
        <p:nvSpPr>
          <p:cNvPr id="932" name="Shape 210"/>
          <p:cNvSpPr/>
          <p:nvPr/>
        </p:nvSpPr>
        <p:spPr>
          <a:xfrm>
            <a:off x="10581120" y="3620160"/>
            <a:ext cx="136800" cy="136800"/>
          </a:xfrm>
          <a:prstGeom prst="ellipse">
            <a:avLst/>
          </a:prstGeom>
          <a:solidFill>
            <a:srgbClr val="c0392b"/>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33" name="Shape 211"/>
          <p:cNvSpPr/>
          <p:nvPr/>
        </p:nvSpPr>
        <p:spPr>
          <a:xfrm>
            <a:off x="8496360" y="3109320"/>
            <a:ext cx="136800" cy="136800"/>
          </a:xfrm>
          <a:prstGeom prst="ellipse">
            <a:avLst/>
          </a:prstGeom>
          <a:solidFill>
            <a:srgbClr val="c0392b"/>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34" name="Shape 212"/>
          <p:cNvSpPr/>
          <p:nvPr/>
        </p:nvSpPr>
        <p:spPr>
          <a:xfrm>
            <a:off x="11102400" y="2311200"/>
            <a:ext cx="136800" cy="136800"/>
          </a:xfrm>
          <a:prstGeom prst="ellipse">
            <a:avLst/>
          </a:prstGeom>
          <a:solidFill>
            <a:srgbClr val="c0392b"/>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35" name="Text 213"/>
          <p:cNvSpPr/>
          <p:nvPr/>
        </p:nvSpPr>
        <p:spPr>
          <a:xfrm>
            <a:off x="8101440" y="4773240"/>
            <a:ext cx="3428640" cy="639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400" strike="noStrike" u="none">
                <a:solidFill>
                  <a:srgbClr val="5d6e7c"/>
                </a:solidFill>
                <a:effectLst/>
                <a:uFillTx/>
                <a:latin typeface="Calibri"/>
                <a:ea typeface="Calibri"/>
              </a:rPr>
              <a:t>Steps past the minimum; the loss climbs.</a:t>
            </a:r>
            <a:endParaRPr b="0" lang="en-US" sz="1400" strike="noStrike" u="none">
              <a:solidFill>
                <a:srgbClr val="000000"/>
              </a:solidFill>
              <a:effectLst/>
              <a:uFillTx/>
              <a:latin typeface="Arial"/>
            </a:endParaRPr>
          </a:p>
        </p:txBody>
      </p:sp>
      <p:sp>
        <p:nvSpPr>
          <p:cNvPr id="936" name="Shape 214"/>
          <p:cNvSpPr/>
          <p:nvPr/>
        </p:nvSpPr>
        <p:spPr>
          <a:xfrm>
            <a:off x="640080" y="5577840"/>
            <a:ext cx="10911240" cy="776880"/>
          </a:xfrm>
          <a:prstGeom prst="roundRect">
            <a:avLst>
              <a:gd name="adj" fmla="val 9412"/>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37" name="Text 215"/>
          <p:cNvSpPr/>
          <p:nvPr/>
        </p:nvSpPr>
        <p:spPr>
          <a:xfrm>
            <a:off x="960120" y="5577840"/>
            <a:ext cx="1027116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14202b"/>
                </a:solidFill>
                <a:effectLst/>
                <a:uFillTx/>
                <a:latin typeface="Calibri"/>
                <a:ea typeface="Calibri"/>
              </a:rPr>
              <a:t>In practice: </a:t>
            </a:r>
            <a:r>
              <a:rPr b="0" lang="en-US" sz="1600" strike="noStrike" u="none">
                <a:solidFill>
                  <a:srgbClr val="25323d"/>
                </a:solidFill>
                <a:effectLst/>
                <a:uFillTx/>
                <a:latin typeface="Calibri"/>
                <a:ea typeface="Calibri"/>
              </a:rPr>
              <a:t>start somewhere between 0.1 and 0.0001, watch the loss curve, and adjust. Schedules shrink the rate as training goes on, and optimizers like Adam adapt it per weight.</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38"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IN PRACTICE</a:t>
            </a:r>
            <a:endParaRPr b="0" lang="en-US" sz="1200" strike="noStrike" u="none">
              <a:solidFill>
                <a:srgbClr val="000000"/>
              </a:solidFill>
              <a:effectLst/>
              <a:uFillTx/>
              <a:latin typeface="Arial"/>
            </a:endParaRPr>
          </a:p>
        </p:txBody>
      </p:sp>
      <p:sp>
        <p:nvSpPr>
          <p:cNvPr id="939"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The loop, and when to stop</a:t>
            </a:r>
            <a:endParaRPr b="0" lang="en-US" sz="3200" strike="noStrike" u="none">
              <a:solidFill>
                <a:srgbClr val="000000"/>
              </a:solidFill>
              <a:effectLst/>
              <a:uFillTx/>
              <a:latin typeface="Arial"/>
            </a:endParaRPr>
          </a:p>
        </p:txBody>
      </p:sp>
      <p:sp>
        <p:nvSpPr>
          <p:cNvPr id="940" name="Shape 2"/>
          <p:cNvSpPr/>
          <p:nvPr/>
        </p:nvSpPr>
        <p:spPr>
          <a:xfrm>
            <a:off x="1051560" y="4646880"/>
            <a:ext cx="566892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41" name="Shape 3"/>
          <p:cNvSpPr/>
          <p:nvPr/>
        </p:nvSpPr>
        <p:spPr>
          <a:xfrm rot="5400000">
            <a:off x="-365040" y="3229560"/>
            <a:ext cx="28342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942" name="Shape 4"/>
          <p:cNvSpPr/>
          <p:nvPr/>
        </p:nvSpPr>
        <p:spPr>
          <a:xfrm rot="16200000">
            <a:off x="3444840" y="4547160"/>
            <a:ext cx="201960" cy="30600"/>
          </a:xfrm>
          <a:prstGeom prst="rect">
            <a:avLst/>
          </a:prstGeom>
          <a:solidFill>
            <a:srgbClr val="9aa8b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943" name="Shape 5"/>
          <p:cNvSpPr/>
          <p:nvPr/>
        </p:nvSpPr>
        <p:spPr>
          <a:xfrm rot="16200000">
            <a:off x="3444840" y="4142160"/>
            <a:ext cx="201960" cy="30600"/>
          </a:xfrm>
          <a:prstGeom prst="rect">
            <a:avLst/>
          </a:prstGeom>
          <a:solidFill>
            <a:srgbClr val="9aa8b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944" name="Shape 6"/>
          <p:cNvSpPr/>
          <p:nvPr/>
        </p:nvSpPr>
        <p:spPr>
          <a:xfrm rot="16200000">
            <a:off x="3444840" y="3737160"/>
            <a:ext cx="201960" cy="30600"/>
          </a:xfrm>
          <a:prstGeom prst="rect">
            <a:avLst/>
          </a:prstGeom>
          <a:solidFill>
            <a:srgbClr val="9aa8b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945" name="Shape 7"/>
          <p:cNvSpPr/>
          <p:nvPr/>
        </p:nvSpPr>
        <p:spPr>
          <a:xfrm rot="16200000">
            <a:off x="3444840" y="3332160"/>
            <a:ext cx="201960" cy="30600"/>
          </a:xfrm>
          <a:prstGeom prst="rect">
            <a:avLst/>
          </a:prstGeom>
          <a:solidFill>
            <a:srgbClr val="9aa8b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946" name="Shape 8"/>
          <p:cNvSpPr/>
          <p:nvPr/>
        </p:nvSpPr>
        <p:spPr>
          <a:xfrm rot="16200000">
            <a:off x="3444840" y="2927520"/>
            <a:ext cx="201960" cy="30600"/>
          </a:xfrm>
          <a:prstGeom prst="rect">
            <a:avLst/>
          </a:prstGeom>
          <a:solidFill>
            <a:srgbClr val="9aa8b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947" name="Shape 9"/>
          <p:cNvSpPr/>
          <p:nvPr/>
        </p:nvSpPr>
        <p:spPr>
          <a:xfrm rot="16200000">
            <a:off x="3444840" y="2522520"/>
            <a:ext cx="201960" cy="30600"/>
          </a:xfrm>
          <a:prstGeom prst="rect">
            <a:avLst/>
          </a:prstGeom>
          <a:solidFill>
            <a:srgbClr val="9aa8b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948" name="Shape 10"/>
          <p:cNvSpPr/>
          <p:nvPr/>
        </p:nvSpPr>
        <p:spPr>
          <a:xfrm rot="16200000">
            <a:off x="3444840" y="2117520"/>
            <a:ext cx="201960" cy="30600"/>
          </a:xfrm>
          <a:prstGeom prst="rect">
            <a:avLst/>
          </a:prstGeom>
          <a:solidFill>
            <a:srgbClr val="9aa8b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949" name="Shape 11"/>
          <p:cNvSpPr/>
          <p:nvPr/>
        </p:nvSpPr>
        <p:spPr>
          <a:xfrm rot="3957600">
            <a:off x="886680" y="2232000"/>
            <a:ext cx="55620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50" name="Shape 12"/>
          <p:cNvSpPr/>
          <p:nvPr/>
        </p:nvSpPr>
        <p:spPr>
          <a:xfrm rot="3652800">
            <a:off x="1158840" y="2689560"/>
            <a:ext cx="46548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51" name="Shape 13"/>
          <p:cNvSpPr/>
          <p:nvPr/>
        </p:nvSpPr>
        <p:spPr>
          <a:xfrm rot="3310200">
            <a:off x="1420200" y="3056040"/>
            <a:ext cx="39672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52" name="Shape 14"/>
          <p:cNvSpPr/>
          <p:nvPr/>
        </p:nvSpPr>
        <p:spPr>
          <a:xfrm rot="2940600">
            <a:off x="1672560" y="3349080"/>
            <a:ext cx="34524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53" name="Shape 15"/>
          <p:cNvSpPr/>
          <p:nvPr/>
        </p:nvSpPr>
        <p:spPr>
          <a:xfrm rot="2560200">
            <a:off x="1917720" y="3584520"/>
            <a:ext cx="30816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54" name="Shape 16"/>
          <p:cNvSpPr/>
          <p:nvPr/>
        </p:nvSpPr>
        <p:spPr>
          <a:xfrm rot="2185800">
            <a:off x="2157840" y="3772440"/>
            <a:ext cx="28152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55" name="Shape 17"/>
          <p:cNvSpPr/>
          <p:nvPr/>
        </p:nvSpPr>
        <p:spPr>
          <a:xfrm rot="1834800">
            <a:off x="2393640" y="3923280"/>
            <a:ext cx="26316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56" name="Shape 18"/>
          <p:cNvSpPr/>
          <p:nvPr/>
        </p:nvSpPr>
        <p:spPr>
          <a:xfrm rot="1519200">
            <a:off x="2626560" y="4044240"/>
            <a:ext cx="25056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57" name="Shape 19"/>
          <p:cNvSpPr/>
          <p:nvPr/>
        </p:nvSpPr>
        <p:spPr>
          <a:xfrm rot="1245000">
            <a:off x="2857680" y="4140720"/>
            <a:ext cx="24228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58" name="Shape 20"/>
          <p:cNvSpPr/>
          <p:nvPr/>
        </p:nvSpPr>
        <p:spPr>
          <a:xfrm rot="1012800">
            <a:off x="3087360" y="4217760"/>
            <a:ext cx="23652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59" name="Shape 21"/>
          <p:cNvSpPr/>
          <p:nvPr/>
        </p:nvSpPr>
        <p:spPr>
          <a:xfrm rot="819000">
            <a:off x="3315960" y="4279680"/>
            <a:ext cx="23292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60" name="Shape 22"/>
          <p:cNvSpPr/>
          <p:nvPr/>
        </p:nvSpPr>
        <p:spPr>
          <a:xfrm rot="660600">
            <a:off x="3543840" y="4329720"/>
            <a:ext cx="23076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61" name="Shape 23"/>
          <p:cNvSpPr/>
          <p:nvPr/>
        </p:nvSpPr>
        <p:spPr>
          <a:xfrm rot="531000">
            <a:off x="3771360" y="4369320"/>
            <a:ext cx="22932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62" name="Shape 24"/>
          <p:cNvSpPr/>
          <p:nvPr/>
        </p:nvSpPr>
        <p:spPr>
          <a:xfrm rot="426600">
            <a:off x="3998520" y="4401000"/>
            <a:ext cx="22824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63" name="Shape 25"/>
          <p:cNvSpPr/>
          <p:nvPr/>
        </p:nvSpPr>
        <p:spPr>
          <a:xfrm rot="342000">
            <a:off x="4225680" y="4426560"/>
            <a:ext cx="22752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64" name="Shape 26"/>
          <p:cNvSpPr/>
          <p:nvPr/>
        </p:nvSpPr>
        <p:spPr>
          <a:xfrm rot="274200">
            <a:off x="4452480" y="4446720"/>
            <a:ext cx="22716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65" name="Shape 27"/>
          <p:cNvSpPr/>
          <p:nvPr/>
        </p:nvSpPr>
        <p:spPr>
          <a:xfrm rot="219600">
            <a:off x="4679280" y="4462920"/>
            <a:ext cx="22680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66" name="Shape 28"/>
          <p:cNvSpPr/>
          <p:nvPr/>
        </p:nvSpPr>
        <p:spPr>
          <a:xfrm rot="176400">
            <a:off x="4906440" y="4476600"/>
            <a:ext cx="22680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67" name="Shape 29"/>
          <p:cNvSpPr/>
          <p:nvPr/>
        </p:nvSpPr>
        <p:spPr>
          <a:xfrm rot="141000">
            <a:off x="5133240" y="4486680"/>
            <a:ext cx="22644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68" name="Shape 30"/>
          <p:cNvSpPr/>
          <p:nvPr/>
        </p:nvSpPr>
        <p:spPr>
          <a:xfrm rot="112800">
            <a:off x="5359680" y="4495320"/>
            <a:ext cx="22644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69" name="Shape 31"/>
          <p:cNvSpPr/>
          <p:nvPr/>
        </p:nvSpPr>
        <p:spPr>
          <a:xfrm rot="90600">
            <a:off x="5586840" y="4502160"/>
            <a:ext cx="22644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70" name="Shape 32"/>
          <p:cNvSpPr/>
          <p:nvPr/>
        </p:nvSpPr>
        <p:spPr>
          <a:xfrm rot="72600">
            <a:off x="5813640" y="4507200"/>
            <a:ext cx="22644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71" name="Shape 33"/>
          <p:cNvSpPr/>
          <p:nvPr/>
        </p:nvSpPr>
        <p:spPr>
          <a:xfrm rot="58200">
            <a:off x="6040080" y="4511520"/>
            <a:ext cx="22644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72" name="Shape 34"/>
          <p:cNvSpPr/>
          <p:nvPr/>
        </p:nvSpPr>
        <p:spPr>
          <a:xfrm rot="46200">
            <a:off x="6267240" y="4515120"/>
            <a:ext cx="22644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73" name="Shape 35"/>
          <p:cNvSpPr/>
          <p:nvPr/>
        </p:nvSpPr>
        <p:spPr>
          <a:xfrm rot="37200">
            <a:off x="6494040" y="4518000"/>
            <a:ext cx="226440" cy="41760"/>
          </a:xfrm>
          <a:prstGeom prst="rect">
            <a:avLst/>
          </a:prstGeom>
          <a:solidFill>
            <a:srgbClr val="0e7c86"/>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74" name="Shape 36"/>
          <p:cNvSpPr/>
          <p:nvPr/>
        </p:nvSpPr>
        <p:spPr>
          <a:xfrm rot="4155600">
            <a:off x="844920" y="2361960"/>
            <a:ext cx="64008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75" name="Shape 37"/>
          <p:cNvSpPr/>
          <p:nvPr/>
        </p:nvSpPr>
        <p:spPr>
          <a:xfrm rot="3795000">
            <a:off x="1139760" y="2886480"/>
            <a:ext cx="50364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76" name="Shape 38"/>
          <p:cNvSpPr/>
          <p:nvPr/>
        </p:nvSpPr>
        <p:spPr>
          <a:xfrm rot="3369000">
            <a:off x="1414800" y="3280320"/>
            <a:ext cx="40680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77" name="Shape 39"/>
          <p:cNvSpPr/>
          <p:nvPr/>
        </p:nvSpPr>
        <p:spPr>
          <a:xfrm rot="2895000">
            <a:off x="1674720" y="3576600"/>
            <a:ext cx="34020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78" name="Shape 40"/>
          <p:cNvSpPr/>
          <p:nvPr/>
        </p:nvSpPr>
        <p:spPr>
          <a:xfrm rot="2406600">
            <a:off x="1923480" y="3799440"/>
            <a:ext cx="29628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79" name="Shape 41"/>
          <p:cNvSpPr/>
          <p:nvPr/>
        </p:nvSpPr>
        <p:spPr>
          <a:xfrm rot="1939800">
            <a:off x="2164680" y="3966120"/>
            <a:ext cx="26784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80" name="Shape 42"/>
          <p:cNvSpPr/>
          <p:nvPr/>
        </p:nvSpPr>
        <p:spPr>
          <a:xfrm rot="1525800">
            <a:off x="2400120" y="4092480"/>
            <a:ext cx="25092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81" name="Shape 43"/>
          <p:cNvSpPr/>
          <p:nvPr/>
        </p:nvSpPr>
        <p:spPr>
          <a:xfrm rot="1179600">
            <a:off x="2631960" y="4186440"/>
            <a:ext cx="24048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82" name="Shape 44"/>
          <p:cNvSpPr/>
          <p:nvPr/>
        </p:nvSpPr>
        <p:spPr>
          <a:xfrm rot="901800">
            <a:off x="2861280" y="4257720"/>
            <a:ext cx="23436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83" name="Shape 45"/>
          <p:cNvSpPr/>
          <p:nvPr/>
        </p:nvSpPr>
        <p:spPr>
          <a:xfrm rot="684600">
            <a:off x="3090240" y="4311000"/>
            <a:ext cx="23112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84" name="Shape 46"/>
          <p:cNvSpPr/>
          <p:nvPr/>
        </p:nvSpPr>
        <p:spPr>
          <a:xfrm rot="517200">
            <a:off x="3317760" y="4351320"/>
            <a:ext cx="22896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85" name="Shape 47"/>
          <p:cNvSpPr/>
          <p:nvPr/>
        </p:nvSpPr>
        <p:spPr>
          <a:xfrm rot="4800">
            <a:off x="3545640" y="4368240"/>
            <a:ext cx="22644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86" name="Shape 48"/>
          <p:cNvSpPr/>
          <p:nvPr/>
        </p:nvSpPr>
        <p:spPr>
          <a:xfrm rot="21507600">
            <a:off x="3772440" y="4365360"/>
            <a:ext cx="22644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87" name="Shape 49"/>
          <p:cNvSpPr/>
          <p:nvPr/>
        </p:nvSpPr>
        <p:spPr>
          <a:xfrm rot="21434400">
            <a:off x="3999240" y="4356720"/>
            <a:ext cx="22680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88" name="Shape 50"/>
          <p:cNvSpPr/>
          <p:nvPr/>
        </p:nvSpPr>
        <p:spPr>
          <a:xfrm rot="21379800">
            <a:off x="4226040" y="4344120"/>
            <a:ext cx="22680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89" name="Shape 51"/>
          <p:cNvSpPr/>
          <p:nvPr/>
        </p:nvSpPr>
        <p:spPr>
          <a:xfrm rot="21338400">
            <a:off x="4452480" y="4328280"/>
            <a:ext cx="22716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90" name="Shape 52"/>
          <p:cNvSpPr/>
          <p:nvPr/>
        </p:nvSpPr>
        <p:spPr>
          <a:xfrm rot="21307800">
            <a:off x="4679280" y="4310280"/>
            <a:ext cx="22716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91" name="Shape 53"/>
          <p:cNvSpPr/>
          <p:nvPr/>
        </p:nvSpPr>
        <p:spPr>
          <a:xfrm rot="21284400">
            <a:off x="4905720" y="4289760"/>
            <a:ext cx="22752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92" name="Shape 54"/>
          <p:cNvSpPr/>
          <p:nvPr/>
        </p:nvSpPr>
        <p:spPr>
          <a:xfrm rot="21267600">
            <a:off x="5132880" y="4268520"/>
            <a:ext cx="22752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93" name="Shape 55"/>
          <p:cNvSpPr/>
          <p:nvPr/>
        </p:nvSpPr>
        <p:spPr>
          <a:xfrm rot="21254400">
            <a:off x="5359680" y="4245840"/>
            <a:ext cx="22752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94" name="Shape 56"/>
          <p:cNvSpPr/>
          <p:nvPr/>
        </p:nvSpPr>
        <p:spPr>
          <a:xfrm rot="21244200">
            <a:off x="5586120" y="4223160"/>
            <a:ext cx="22752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95" name="Shape 57"/>
          <p:cNvSpPr/>
          <p:nvPr/>
        </p:nvSpPr>
        <p:spPr>
          <a:xfrm rot="21237000">
            <a:off x="5812920" y="4199040"/>
            <a:ext cx="22752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96" name="Shape 58"/>
          <p:cNvSpPr/>
          <p:nvPr/>
        </p:nvSpPr>
        <p:spPr>
          <a:xfrm rot="21231600">
            <a:off x="6039720" y="4174920"/>
            <a:ext cx="22788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97" name="Shape 59"/>
          <p:cNvSpPr/>
          <p:nvPr/>
        </p:nvSpPr>
        <p:spPr>
          <a:xfrm rot="21227400">
            <a:off x="6266520" y="4150440"/>
            <a:ext cx="22788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98" name="Shape 60"/>
          <p:cNvSpPr/>
          <p:nvPr/>
        </p:nvSpPr>
        <p:spPr>
          <a:xfrm rot="21224400">
            <a:off x="6493320" y="4125600"/>
            <a:ext cx="227880" cy="41760"/>
          </a:xfrm>
          <a:prstGeom prst="rect">
            <a:avLst/>
          </a:prstGeom>
          <a:solidFill>
            <a:srgbClr val="ff6b35"/>
          </a:solidFill>
          <a:ln w="0">
            <a:noFill/>
          </a:ln>
        </p:spPr>
        <p:style>
          <a:lnRef idx="0"/>
          <a:fillRef idx="0"/>
          <a:effectRef idx="0"/>
          <a:fontRef idx="minor"/>
        </p:style>
        <p:txBody>
          <a:bodyPr lIns="90000" rIns="90000" tIns="-2880" bIns="-2880" anchor="t">
            <a:noAutofit/>
          </a:bodyPr>
          <a:p>
            <a:endParaRPr b="0" lang="en-US" sz="1800" strike="noStrike" u="none">
              <a:solidFill>
                <a:srgbClr val="ffffff"/>
              </a:solidFill>
              <a:effectLst/>
              <a:uFillTx/>
              <a:latin typeface="Arial"/>
            </a:endParaRPr>
          </a:p>
        </p:txBody>
      </p:sp>
      <p:sp>
        <p:nvSpPr>
          <p:cNvPr id="999" name="Text 61"/>
          <p:cNvSpPr/>
          <p:nvPr/>
        </p:nvSpPr>
        <p:spPr>
          <a:xfrm>
            <a:off x="2860200" y="1536120"/>
            <a:ext cx="137124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trike="noStrike" u="none">
                <a:solidFill>
                  <a:srgbClr val="25323d"/>
                </a:solidFill>
                <a:effectLst/>
                <a:uFillTx/>
                <a:latin typeface="Calibri"/>
                <a:ea typeface="Calibri"/>
              </a:rPr>
              <a:t>stop here</a:t>
            </a:r>
            <a:endParaRPr b="0" lang="en-US" sz="1250" strike="noStrike" u="none">
              <a:solidFill>
                <a:srgbClr val="000000"/>
              </a:solidFill>
              <a:effectLst/>
              <a:uFillTx/>
              <a:latin typeface="Arial"/>
            </a:endParaRPr>
          </a:p>
        </p:txBody>
      </p:sp>
      <p:sp>
        <p:nvSpPr>
          <p:cNvPr id="1000" name="Text 62"/>
          <p:cNvSpPr/>
          <p:nvPr/>
        </p:nvSpPr>
        <p:spPr>
          <a:xfrm>
            <a:off x="676800" y="1536120"/>
            <a:ext cx="109692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loss</a:t>
            </a:r>
            <a:endParaRPr b="0" lang="en-US" sz="1300" strike="noStrike" u="none">
              <a:solidFill>
                <a:srgbClr val="000000"/>
              </a:solidFill>
              <a:effectLst/>
              <a:uFillTx/>
              <a:latin typeface="Arial"/>
            </a:endParaRPr>
          </a:p>
        </p:txBody>
      </p:sp>
      <p:sp>
        <p:nvSpPr>
          <p:cNvPr id="1001" name="Text 63"/>
          <p:cNvSpPr/>
          <p:nvPr/>
        </p:nvSpPr>
        <p:spPr>
          <a:xfrm>
            <a:off x="4983480" y="4709160"/>
            <a:ext cx="173700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300" strike="noStrike" u="none">
                <a:solidFill>
                  <a:srgbClr val="5d6e7c"/>
                </a:solidFill>
                <a:effectLst/>
                <a:uFillTx/>
                <a:latin typeface="Calibri"/>
                <a:ea typeface="Calibri"/>
              </a:rPr>
              <a:t>epochs</a:t>
            </a:r>
            <a:endParaRPr b="0" lang="en-US" sz="1300" strike="noStrike" u="none">
              <a:solidFill>
                <a:srgbClr val="000000"/>
              </a:solidFill>
              <a:effectLst/>
              <a:uFillTx/>
              <a:latin typeface="Arial"/>
            </a:endParaRPr>
          </a:p>
        </p:txBody>
      </p:sp>
      <p:sp>
        <p:nvSpPr>
          <p:cNvPr id="1002" name="Shape 64"/>
          <p:cNvSpPr/>
          <p:nvPr/>
        </p:nvSpPr>
        <p:spPr>
          <a:xfrm>
            <a:off x="1051560" y="5203080"/>
            <a:ext cx="310680" cy="62640"/>
          </a:xfrm>
          <a:prstGeom prst="rect">
            <a:avLst/>
          </a:prstGeom>
          <a:solidFill>
            <a:srgbClr val="0e7c86"/>
          </a:solidFill>
          <a:ln w="0">
            <a:noFill/>
          </a:ln>
        </p:spPr>
        <p:style>
          <a:lnRef idx="0"/>
          <a:fillRef idx="0"/>
          <a:effectRef idx="0"/>
          <a:fontRef idx="minor"/>
        </p:style>
        <p:txBody>
          <a:bodyPr lIns="90000" rIns="90000" tIns="18000" bIns="18000" anchor="t">
            <a:noAutofit/>
          </a:bodyPr>
          <a:p>
            <a:endParaRPr b="0" lang="en-US" sz="1800" strike="noStrike" u="none">
              <a:solidFill>
                <a:srgbClr val="ffffff"/>
              </a:solidFill>
              <a:effectLst/>
              <a:uFillTx/>
              <a:latin typeface="Arial"/>
            </a:endParaRPr>
          </a:p>
        </p:txBody>
      </p:sp>
      <p:sp>
        <p:nvSpPr>
          <p:cNvPr id="1003" name="Text 65"/>
          <p:cNvSpPr/>
          <p:nvPr/>
        </p:nvSpPr>
        <p:spPr>
          <a:xfrm>
            <a:off x="1472040" y="5065920"/>
            <a:ext cx="201132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25323d"/>
                </a:solidFill>
                <a:effectLst/>
                <a:uFillTx/>
                <a:latin typeface="Calibri"/>
                <a:ea typeface="Calibri"/>
              </a:rPr>
              <a:t>training loss</a:t>
            </a:r>
            <a:endParaRPr b="0" lang="en-US" sz="1400" strike="noStrike" u="none">
              <a:solidFill>
                <a:srgbClr val="000000"/>
              </a:solidFill>
              <a:effectLst/>
              <a:uFillTx/>
              <a:latin typeface="Arial"/>
            </a:endParaRPr>
          </a:p>
        </p:txBody>
      </p:sp>
      <p:sp>
        <p:nvSpPr>
          <p:cNvPr id="1004" name="Shape 66"/>
          <p:cNvSpPr/>
          <p:nvPr/>
        </p:nvSpPr>
        <p:spPr>
          <a:xfrm>
            <a:off x="3520440" y="5203080"/>
            <a:ext cx="310680" cy="62640"/>
          </a:xfrm>
          <a:prstGeom prst="rect">
            <a:avLst/>
          </a:prstGeom>
          <a:solidFill>
            <a:srgbClr val="ff6b35"/>
          </a:solidFill>
          <a:ln w="0">
            <a:noFill/>
          </a:ln>
        </p:spPr>
        <p:style>
          <a:lnRef idx="0"/>
          <a:fillRef idx="0"/>
          <a:effectRef idx="0"/>
          <a:fontRef idx="minor"/>
        </p:style>
        <p:txBody>
          <a:bodyPr lIns="90000" rIns="90000" tIns="18000" bIns="18000" anchor="t">
            <a:noAutofit/>
          </a:bodyPr>
          <a:p>
            <a:endParaRPr b="0" lang="en-US" sz="1800" strike="noStrike" u="none">
              <a:solidFill>
                <a:srgbClr val="ffffff"/>
              </a:solidFill>
              <a:effectLst/>
              <a:uFillTx/>
              <a:latin typeface="Arial"/>
            </a:endParaRPr>
          </a:p>
        </p:txBody>
      </p:sp>
      <p:sp>
        <p:nvSpPr>
          <p:cNvPr id="1005" name="Text 67"/>
          <p:cNvSpPr/>
          <p:nvPr/>
        </p:nvSpPr>
        <p:spPr>
          <a:xfrm>
            <a:off x="3940920" y="5065920"/>
            <a:ext cx="201132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25323d"/>
                </a:solidFill>
                <a:effectLst/>
                <a:uFillTx/>
                <a:latin typeface="Calibri"/>
                <a:ea typeface="Calibri"/>
              </a:rPr>
              <a:t>validation loss</a:t>
            </a:r>
            <a:endParaRPr b="0" lang="en-US" sz="1400" strike="noStrike" u="none">
              <a:solidFill>
                <a:srgbClr val="000000"/>
              </a:solidFill>
              <a:effectLst/>
              <a:uFillTx/>
              <a:latin typeface="Arial"/>
            </a:endParaRPr>
          </a:p>
        </p:txBody>
      </p:sp>
      <p:sp>
        <p:nvSpPr>
          <p:cNvPr id="1006" name="Shape 68"/>
          <p:cNvSpPr/>
          <p:nvPr/>
        </p:nvSpPr>
        <p:spPr>
          <a:xfrm>
            <a:off x="7178040" y="1783080"/>
            <a:ext cx="4370400" cy="914040"/>
          </a:xfrm>
          <a:prstGeom prst="roundRect">
            <a:avLst>
              <a:gd name="adj" fmla="val 8000"/>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07" name="Text 69"/>
          <p:cNvSpPr/>
          <p:nvPr/>
        </p:nvSpPr>
        <p:spPr>
          <a:xfrm>
            <a:off x="7452360" y="1892880"/>
            <a:ext cx="3840120" cy="301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Epoch</a:t>
            </a:r>
            <a:endParaRPr b="0" lang="en-US" sz="1650" strike="noStrike" u="none">
              <a:solidFill>
                <a:srgbClr val="000000"/>
              </a:solidFill>
              <a:effectLst/>
              <a:uFillTx/>
              <a:latin typeface="Arial"/>
            </a:endParaRPr>
          </a:p>
        </p:txBody>
      </p:sp>
      <p:sp>
        <p:nvSpPr>
          <p:cNvPr id="1008" name="Text 70"/>
          <p:cNvSpPr/>
          <p:nvPr/>
        </p:nvSpPr>
        <p:spPr>
          <a:xfrm>
            <a:off x="7452360" y="2176200"/>
            <a:ext cx="384012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One full pass over the training set. Training runs for many.</a:t>
            </a:r>
            <a:endParaRPr b="0" lang="en-US" sz="1350" strike="noStrike" u="none">
              <a:solidFill>
                <a:srgbClr val="000000"/>
              </a:solidFill>
              <a:effectLst/>
              <a:uFillTx/>
              <a:latin typeface="Arial"/>
            </a:endParaRPr>
          </a:p>
        </p:txBody>
      </p:sp>
      <p:sp>
        <p:nvSpPr>
          <p:cNvPr id="1009" name="Shape 71"/>
          <p:cNvSpPr/>
          <p:nvPr/>
        </p:nvSpPr>
        <p:spPr>
          <a:xfrm>
            <a:off x="7178040" y="2834640"/>
            <a:ext cx="4370400" cy="914040"/>
          </a:xfrm>
          <a:prstGeom prst="roundRect">
            <a:avLst>
              <a:gd name="adj" fmla="val 8000"/>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10" name="Text 72"/>
          <p:cNvSpPr/>
          <p:nvPr/>
        </p:nvSpPr>
        <p:spPr>
          <a:xfrm>
            <a:off x="7452360" y="2944440"/>
            <a:ext cx="3840120" cy="301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Mini-batch</a:t>
            </a:r>
            <a:endParaRPr b="0" lang="en-US" sz="1650" strike="noStrike" u="none">
              <a:solidFill>
                <a:srgbClr val="000000"/>
              </a:solidFill>
              <a:effectLst/>
              <a:uFillTx/>
              <a:latin typeface="Arial"/>
            </a:endParaRPr>
          </a:p>
        </p:txBody>
      </p:sp>
      <p:sp>
        <p:nvSpPr>
          <p:cNvPr id="1011" name="Text 73"/>
          <p:cNvSpPr/>
          <p:nvPr/>
        </p:nvSpPr>
        <p:spPr>
          <a:xfrm>
            <a:off x="7452360" y="3227760"/>
            <a:ext cx="384012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Compute the gradient on a chunk of rows instead of all of them. Faster, and the noise helps.</a:t>
            </a:r>
            <a:endParaRPr b="0" lang="en-US" sz="1350" strike="noStrike" u="none">
              <a:solidFill>
                <a:srgbClr val="000000"/>
              </a:solidFill>
              <a:effectLst/>
              <a:uFillTx/>
              <a:latin typeface="Arial"/>
            </a:endParaRPr>
          </a:p>
        </p:txBody>
      </p:sp>
      <p:sp>
        <p:nvSpPr>
          <p:cNvPr id="1012" name="Shape 74"/>
          <p:cNvSpPr/>
          <p:nvPr/>
        </p:nvSpPr>
        <p:spPr>
          <a:xfrm>
            <a:off x="7178040" y="3886200"/>
            <a:ext cx="4370400" cy="914040"/>
          </a:xfrm>
          <a:prstGeom prst="roundRect">
            <a:avLst>
              <a:gd name="adj" fmla="val 8000"/>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13" name="Text 75"/>
          <p:cNvSpPr/>
          <p:nvPr/>
        </p:nvSpPr>
        <p:spPr>
          <a:xfrm>
            <a:off x="7452360" y="3996000"/>
            <a:ext cx="3840120" cy="301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Early stopping</a:t>
            </a:r>
            <a:endParaRPr b="0" lang="en-US" sz="1650" strike="noStrike" u="none">
              <a:solidFill>
                <a:srgbClr val="000000"/>
              </a:solidFill>
              <a:effectLst/>
              <a:uFillTx/>
              <a:latin typeface="Arial"/>
            </a:endParaRPr>
          </a:p>
        </p:txBody>
      </p:sp>
      <p:sp>
        <p:nvSpPr>
          <p:cNvPr id="1014" name="Text 76"/>
          <p:cNvSpPr/>
          <p:nvPr/>
        </p:nvSpPr>
        <p:spPr>
          <a:xfrm>
            <a:off x="7452360" y="4279320"/>
            <a:ext cx="384012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Quit when validation loss stops improving, not when training loss does.</a:t>
            </a:r>
            <a:endParaRPr b="0" lang="en-US" sz="1350" strike="noStrike" u="none">
              <a:solidFill>
                <a:srgbClr val="000000"/>
              </a:solidFill>
              <a:effectLst/>
              <a:uFillTx/>
              <a:latin typeface="Arial"/>
            </a:endParaRPr>
          </a:p>
        </p:txBody>
      </p:sp>
      <p:sp>
        <p:nvSpPr>
          <p:cNvPr id="1015" name="Shape 77"/>
          <p:cNvSpPr/>
          <p:nvPr/>
        </p:nvSpPr>
        <p:spPr>
          <a:xfrm>
            <a:off x="7178040" y="4937760"/>
            <a:ext cx="4370400" cy="914040"/>
          </a:xfrm>
          <a:prstGeom prst="roundRect">
            <a:avLst>
              <a:gd name="adj" fmla="val 8000"/>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16" name="Text 78"/>
          <p:cNvSpPr/>
          <p:nvPr/>
        </p:nvSpPr>
        <p:spPr>
          <a:xfrm>
            <a:off x="7452360" y="5047560"/>
            <a:ext cx="3840120" cy="301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Lumpy surfaces</a:t>
            </a:r>
            <a:endParaRPr b="0" lang="en-US" sz="1650" strike="noStrike" u="none">
              <a:solidFill>
                <a:srgbClr val="000000"/>
              </a:solidFill>
              <a:effectLst/>
              <a:uFillTx/>
              <a:latin typeface="Arial"/>
            </a:endParaRPr>
          </a:p>
        </p:txBody>
      </p:sp>
      <p:sp>
        <p:nvSpPr>
          <p:cNvPr id="1017" name="Text 79"/>
          <p:cNvSpPr/>
          <p:nvPr/>
        </p:nvSpPr>
        <p:spPr>
          <a:xfrm>
            <a:off x="7452360" y="5330880"/>
            <a:ext cx="384012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Only this model gets a clean bowl. Deeper models have ridges and saddles, and it still works.</a:t>
            </a:r>
            <a:endParaRPr b="0" lang="en-US" sz="13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18"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BACKPROPAGATION</a:t>
            </a:r>
            <a:endParaRPr b="0" lang="en-US" sz="1200" strike="noStrike" u="none">
              <a:solidFill>
                <a:srgbClr val="000000"/>
              </a:solidFill>
              <a:effectLst/>
              <a:uFillTx/>
              <a:latin typeface="Arial"/>
            </a:endParaRPr>
          </a:p>
        </p:txBody>
      </p:sp>
      <p:sp>
        <p:nvSpPr>
          <p:cNvPr id="1019"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How the whole pile gets trained</a:t>
            </a:r>
            <a:endParaRPr b="0" lang="en-US" sz="3200" strike="noStrike" u="none">
              <a:solidFill>
                <a:srgbClr val="000000"/>
              </a:solidFill>
              <a:effectLst/>
              <a:uFillTx/>
              <a:latin typeface="Arial"/>
            </a:endParaRPr>
          </a:p>
        </p:txBody>
      </p:sp>
      <p:sp>
        <p:nvSpPr>
          <p:cNvPr id="1020" name="Shape 2"/>
          <p:cNvSpPr/>
          <p:nvPr/>
        </p:nvSpPr>
        <p:spPr>
          <a:xfrm>
            <a:off x="640080" y="1783080"/>
            <a:ext cx="2285640" cy="822600"/>
          </a:xfrm>
          <a:prstGeom prst="roundRect">
            <a:avLst>
              <a:gd name="adj" fmla="val 10000"/>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1" name="Text 3"/>
          <p:cNvSpPr/>
          <p:nvPr/>
        </p:nvSpPr>
        <p:spPr>
          <a:xfrm>
            <a:off x="640080" y="1783080"/>
            <a:ext cx="2285640" cy="822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trike="noStrike" u="none">
                <a:solidFill>
                  <a:srgbClr val="25323d"/>
                </a:solidFill>
                <a:effectLst/>
                <a:uFillTx/>
                <a:latin typeface="Calibri"/>
                <a:ea typeface="Calibri"/>
              </a:rPr>
              <a:t>forward pass</a:t>
            </a:r>
            <a:endParaRPr b="0" lang="en-US" sz="1500" strike="noStrike" u="none">
              <a:solidFill>
                <a:srgbClr val="000000"/>
              </a:solidFill>
              <a:effectLst/>
              <a:uFillTx/>
              <a:latin typeface="Arial"/>
            </a:endParaRPr>
          </a:p>
        </p:txBody>
      </p:sp>
      <p:sp>
        <p:nvSpPr>
          <p:cNvPr id="1022" name="Shape 4"/>
          <p:cNvSpPr/>
          <p:nvPr/>
        </p:nvSpPr>
        <p:spPr>
          <a:xfrm>
            <a:off x="3035880" y="2084760"/>
            <a:ext cx="365400" cy="273960"/>
          </a:xfrm>
          <a:prstGeom prst="rightArrow">
            <a:avLst>
              <a:gd name="adj1" fmla="val 50000"/>
              <a:gd name="adj2" fmla="val 50000"/>
            </a:avLst>
          </a:prstGeom>
          <a:solidFill>
            <a:srgbClr val="b9c2cb"/>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3" name="Shape 5"/>
          <p:cNvSpPr/>
          <p:nvPr/>
        </p:nvSpPr>
        <p:spPr>
          <a:xfrm>
            <a:off x="3511440" y="1783080"/>
            <a:ext cx="2285640" cy="822600"/>
          </a:xfrm>
          <a:prstGeom prst="roundRect">
            <a:avLst>
              <a:gd name="adj" fmla="val 10000"/>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4" name="Text 6"/>
          <p:cNvSpPr/>
          <p:nvPr/>
        </p:nvSpPr>
        <p:spPr>
          <a:xfrm>
            <a:off x="3511440" y="1783080"/>
            <a:ext cx="2285640" cy="822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trike="noStrike" u="none">
                <a:solidFill>
                  <a:srgbClr val="25323d"/>
                </a:solidFill>
                <a:effectLst/>
                <a:uFillTx/>
                <a:latin typeface="Calibri"/>
                <a:ea typeface="Calibri"/>
              </a:rPr>
              <a:t>compute the loss</a:t>
            </a:r>
            <a:endParaRPr b="0" lang="en-US" sz="1500" strike="noStrike" u="none">
              <a:solidFill>
                <a:srgbClr val="000000"/>
              </a:solidFill>
              <a:effectLst/>
              <a:uFillTx/>
              <a:latin typeface="Arial"/>
            </a:endParaRPr>
          </a:p>
        </p:txBody>
      </p:sp>
      <p:sp>
        <p:nvSpPr>
          <p:cNvPr id="1025" name="Shape 7"/>
          <p:cNvSpPr/>
          <p:nvPr/>
        </p:nvSpPr>
        <p:spPr>
          <a:xfrm>
            <a:off x="5906880" y="2084760"/>
            <a:ext cx="365400" cy="273960"/>
          </a:xfrm>
          <a:prstGeom prst="rightArrow">
            <a:avLst>
              <a:gd name="adj1" fmla="val 50000"/>
              <a:gd name="adj2" fmla="val 50000"/>
            </a:avLst>
          </a:prstGeom>
          <a:solidFill>
            <a:srgbClr val="b9c2cb"/>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6" name="Shape 8"/>
          <p:cNvSpPr/>
          <p:nvPr/>
        </p:nvSpPr>
        <p:spPr>
          <a:xfrm>
            <a:off x="6382440" y="1783080"/>
            <a:ext cx="2285640" cy="822600"/>
          </a:xfrm>
          <a:prstGeom prst="roundRect">
            <a:avLst>
              <a:gd name="adj" fmla="val 10000"/>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7" name="Text 9"/>
          <p:cNvSpPr/>
          <p:nvPr/>
        </p:nvSpPr>
        <p:spPr>
          <a:xfrm>
            <a:off x="6382440" y="1783080"/>
            <a:ext cx="2285640" cy="822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trike="noStrike" u="none">
                <a:solidFill>
                  <a:srgbClr val="25323d"/>
                </a:solidFill>
                <a:effectLst/>
                <a:uFillTx/>
                <a:latin typeface="Calibri"/>
                <a:ea typeface="Calibri"/>
              </a:rPr>
              <a:t>backward pass</a:t>
            </a:r>
            <a:endParaRPr b="0" lang="en-US" sz="1500" strike="noStrike" u="none">
              <a:solidFill>
                <a:srgbClr val="000000"/>
              </a:solidFill>
              <a:effectLst/>
              <a:uFillTx/>
              <a:latin typeface="Arial"/>
            </a:endParaRPr>
          </a:p>
        </p:txBody>
      </p:sp>
      <p:sp>
        <p:nvSpPr>
          <p:cNvPr id="1028" name="Shape 10"/>
          <p:cNvSpPr/>
          <p:nvPr/>
        </p:nvSpPr>
        <p:spPr>
          <a:xfrm>
            <a:off x="8778240" y="2084760"/>
            <a:ext cx="365400" cy="273960"/>
          </a:xfrm>
          <a:prstGeom prst="rightArrow">
            <a:avLst>
              <a:gd name="adj1" fmla="val 50000"/>
              <a:gd name="adj2" fmla="val 50000"/>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29" name="Shape 11"/>
          <p:cNvSpPr/>
          <p:nvPr/>
        </p:nvSpPr>
        <p:spPr>
          <a:xfrm>
            <a:off x="9253800" y="1783080"/>
            <a:ext cx="2285640" cy="822600"/>
          </a:xfrm>
          <a:prstGeom prst="roundRect">
            <a:avLst>
              <a:gd name="adj" fmla="val 10000"/>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30" name="Text 12"/>
          <p:cNvSpPr/>
          <p:nvPr/>
        </p:nvSpPr>
        <p:spPr>
          <a:xfrm>
            <a:off x="9253800" y="1783080"/>
            <a:ext cx="2285640" cy="822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trike="noStrike" u="none">
                <a:solidFill>
                  <a:srgbClr val="ffffff"/>
                </a:solidFill>
                <a:effectLst/>
                <a:uFillTx/>
                <a:latin typeface="Calibri"/>
                <a:ea typeface="Calibri"/>
              </a:rPr>
              <a:t>update every weight</a:t>
            </a:r>
            <a:endParaRPr b="0" lang="en-US" sz="1500" strike="noStrike" u="none">
              <a:solidFill>
                <a:srgbClr val="000000"/>
              </a:solidFill>
              <a:effectLst/>
              <a:uFillTx/>
              <a:latin typeface="Arial"/>
            </a:endParaRPr>
          </a:p>
        </p:txBody>
      </p:sp>
      <p:sp>
        <p:nvSpPr>
          <p:cNvPr id="1031" name="Shape 13"/>
          <p:cNvSpPr/>
          <p:nvPr/>
        </p:nvSpPr>
        <p:spPr>
          <a:xfrm>
            <a:off x="640080" y="2880360"/>
            <a:ext cx="5266440" cy="2651400"/>
          </a:xfrm>
          <a:prstGeom prst="roundRect">
            <a:avLst>
              <a:gd name="adj" fmla="val 2759"/>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32" name="Text 14"/>
          <p:cNvSpPr/>
          <p:nvPr/>
        </p:nvSpPr>
        <p:spPr>
          <a:xfrm>
            <a:off x="960120" y="3063240"/>
            <a:ext cx="45716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00" strike="noStrike" u="none">
                <a:solidFill>
                  <a:srgbClr val="14202b"/>
                </a:solidFill>
                <a:effectLst/>
                <a:uFillTx/>
                <a:latin typeface="Cambria"/>
                <a:ea typeface="Cambria"/>
              </a:rPr>
              <a:t>The chain rule does the bookkeeping</a:t>
            </a:r>
            <a:endParaRPr b="0" lang="en-US" sz="2100" strike="noStrike" u="none">
              <a:solidFill>
                <a:srgbClr val="000000"/>
              </a:solidFill>
              <a:effectLst/>
              <a:uFillTx/>
              <a:latin typeface="Arial"/>
            </a:endParaRPr>
          </a:p>
        </p:txBody>
      </p:sp>
      <p:sp>
        <p:nvSpPr>
          <p:cNvPr id="1033" name="Text 15"/>
          <p:cNvSpPr/>
          <p:nvPr/>
        </p:nvSpPr>
        <p:spPr>
          <a:xfrm>
            <a:off x="960120" y="3611880"/>
            <a:ext cx="4571640" cy="1737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trike="noStrike" u="none">
                <a:solidFill>
                  <a:srgbClr val="5d6e7c"/>
                </a:solidFill>
                <a:effectLst/>
                <a:uFillTx/>
                <a:latin typeface="Calibri"/>
                <a:ea typeface="Calibri"/>
              </a:rPr>
              <a:t>The loss is still one number at the very end. The chain rule walks it backwards through the network and hands every single weight its own slope. Once a weight has a slope, you are back on the update slide: subtract the learning rate times that slope.</a:t>
            </a:r>
            <a:endParaRPr b="0" lang="en-US" sz="1500" strike="noStrike" u="none">
              <a:solidFill>
                <a:srgbClr val="000000"/>
              </a:solidFill>
              <a:effectLst/>
              <a:uFillTx/>
              <a:latin typeface="Arial"/>
            </a:endParaRPr>
          </a:p>
        </p:txBody>
      </p:sp>
      <p:sp>
        <p:nvSpPr>
          <p:cNvPr id="1034" name="Shape 16"/>
          <p:cNvSpPr/>
          <p:nvPr/>
        </p:nvSpPr>
        <p:spPr>
          <a:xfrm>
            <a:off x="6282000" y="2880360"/>
            <a:ext cx="5266440" cy="2651400"/>
          </a:xfrm>
          <a:prstGeom prst="roundRect">
            <a:avLst>
              <a:gd name="adj" fmla="val 2759"/>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35" name="Text 17"/>
          <p:cNvSpPr/>
          <p:nvPr/>
        </p:nvSpPr>
        <p:spPr>
          <a:xfrm>
            <a:off x="6602040" y="3063240"/>
            <a:ext cx="45716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00" strike="noStrike" u="none">
                <a:solidFill>
                  <a:srgbClr val="14202b"/>
                </a:solidFill>
                <a:effectLst/>
                <a:uFillTx/>
                <a:latin typeface="Cambria"/>
                <a:ea typeface="Cambria"/>
              </a:rPr>
              <a:t>It is still error times input</a:t>
            </a:r>
            <a:endParaRPr b="0" lang="en-US" sz="2100" strike="noStrike" u="none">
              <a:solidFill>
                <a:srgbClr val="000000"/>
              </a:solidFill>
              <a:effectLst/>
              <a:uFillTx/>
              <a:latin typeface="Arial"/>
            </a:endParaRPr>
          </a:p>
        </p:txBody>
      </p:sp>
      <p:sp>
        <p:nvSpPr>
          <p:cNvPr id="1036" name="Text 18"/>
          <p:cNvSpPr/>
          <p:nvPr/>
        </p:nvSpPr>
        <p:spPr>
          <a:xfrm>
            <a:off x="6602040" y="3611880"/>
            <a:ext cx="4571640" cy="1737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trike="noStrike" u="none">
                <a:solidFill>
                  <a:srgbClr val="5d6e7c"/>
                </a:solidFill>
                <a:effectLst/>
                <a:uFillTx/>
                <a:latin typeface="Calibri"/>
                <a:ea typeface="Calibri"/>
              </a:rPr>
              <a:t>Same credit assignment as before. A weight buried three layers deep gets blamed in proportion to how much its output mattered downstream. Nothing here is a new idea — there are just a great many weights being blamed at once.</a:t>
            </a:r>
            <a:endParaRPr b="0" lang="en-US" sz="1500" strike="noStrike" u="none">
              <a:solidFill>
                <a:srgbClr val="000000"/>
              </a:solidFill>
              <a:effectLst/>
              <a:uFillTx/>
              <a:latin typeface="Arial"/>
            </a:endParaRPr>
          </a:p>
        </p:txBody>
      </p:sp>
      <p:sp>
        <p:nvSpPr>
          <p:cNvPr id="1037" name="Shape 19"/>
          <p:cNvSpPr/>
          <p:nvPr/>
        </p:nvSpPr>
        <p:spPr>
          <a:xfrm>
            <a:off x="640080" y="5669280"/>
            <a:ext cx="10911240" cy="731160"/>
          </a:xfrm>
          <a:prstGeom prst="roundRect">
            <a:avLst>
              <a:gd name="adj" fmla="val 10000"/>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38" name="Text 20"/>
          <p:cNvSpPr/>
          <p:nvPr/>
        </p:nvSpPr>
        <p:spPr>
          <a:xfrm>
            <a:off x="960120" y="5669280"/>
            <a:ext cx="1027116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ff6b35"/>
                </a:solidFill>
                <a:effectLst/>
                <a:uFillTx/>
                <a:latin typeface="Calibri"/>
                <a:ea typeface="Calibri"/>
              </a:rPr>
              <a:t>Scale check. </a:t>
            </a:r>
            <a:r>
              <a:rPr b="0" lang="en-US" sz="1550" strike="noStrike" u="none">
                <a:solidFill>
                  <a:srgbClr val="d6e0e8"/>
                </a:solidFill>
                <a:effectLst/>
                <a:uFillTx/>
                <a:latin typeface="Calibri"/>
                <a:ea typeface="Calibri"/>
              </a:rPr>
              <a:t>The network we drew had about twenty weights. A frontier language model has hundreds of billions. The unit does not change, and neither does this loop.</a:t>
            </a:r>
            <a:endParaRPr b="0" lang="en-US" sz="15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4202b"/>
        </a:solidFill>
      </p:bgPr>
    </p:bg>
    <p:spTree>
      <p:nvGrpSpPr>
        <p:cNvPr id="1" name=""/>
        <p:cNvGrpSpPr/>
        <p:nvPr/>
      </p:nvGrpSpPr>
      <p:grpSpPr>
        <a:xfrm>
          <a:off x="0" y="0"/>
          <a:ext cx="0" cy="0"/>
          <a:chOff x="0" y="0"/>
          <a:chExt cx="0" cy="0"/>
        </a:xfrm>
      </p:grpSpPr>
      <p:sp>
        <p:nvSpPr>
          <p:cNvPr id="1039" name="Text 46"/>
          <p:cNvSpPr/>
          <p:nvPr/>
        </p:nvSpPr>
        <p:spPr>
          <a:xfrm>
            <a:off x="640080" y="45720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THE PIPELINE</a:t>
            </a:r>
            <a:endParaRPr b="0" lang="en-US" sz="1200" strike="noStrike" u="none">
              <a:solidFill>
                <a:srgbClr val="ffffff"/>
              </a:solidFill>
              <a:effectLst/>
              <a:uFillTx/>
              <a:latin typeface="Arial"/>
            </a:endParaRPr>
          </a:p>
        </p:txBody>
      </p:sp>
      <p:sp>
        <p:nvSpPr>
          <p:cNvPr id="1040" name="Text 48"/>
          <p:cNvSpPr/>
          <p:nvPr/>
        </p:nvSpPr>
        <p:spPr>
          <a:xfrm>
            <a:off x="640080" y="77724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ffffff"/>
                </a:solidFill>
                <a:effectLst/>
                <a:uFillTx/>
                <a:latin typeface="Cambria"/>
                <a:ea typeface="Cambria"/>
              </a:rPr>
              <a:t>Everything you actually do, in order</a:t>
            </a:r>
            <a:endParaRPr b="0" lang="en-US" sz="3200" strike="noStrike" u="none">
              <a:solidFill>
                <a:srgbClr val="ffffff"/>
              </a:solidFill>
              <a:effectLst/>
              <a:uFillTx/>
              <a:latin typeface="Arial"/>
            </a:endParaRPr>
          </a:p>
        </p:txBody>
      </p:sp>
      <p:sp>
        <p:nvSpPr>
          <p:cNvPr id="1041" name="Shape 145"/>
          <p:cNvSpPr/>
          <p:nvPr/>
        </p:nvSpPr>
        <p:spPr>
          <a:xfrm>
            <a:off x="640080" y="2011680"/>
            <a:ext cx="3428640" cy="1782720"/>
          </a:xfrm>
          <a:prstGeom prst="roundRect">
            <a:avLst>
              <a:gd name="adj" fmla="val 5128"/>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42" name="Shape 146"/>
          <p:cNvSpPr/>
          <p:nvPr/>
        </p:nvSpPr>
        <p:spPr>
          <a:xfrm>
            <a:off x="960120" y="2304360"/>
            <a:ext cx="456840" cy="45684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43" name="Text 49"/>
          <p:cNvSpPr/>
          <p:nvPr/>
        </p:nvSpPr>
        <p:spPr>
          <a:xfrm>
            <a:off x="960120" y="230436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1</a:t>
            </a:r>
            <a:endParaRPr b="0" lang="en-US" sz="1600" strike="noStrike" u="none">
              <a:solidFill>
                <a:srgbClr val="ffffff"/>
              </a:solidFill>
              <a:effectLst/>
              <a:uFillTx/>
              <a:latin typeface="Arial"/>
            </a:endParaRPr>
          </a:p>
        </p:txBody>
      </p:sp>
      <p:sp>
        <p:nvSpPr>
          <p:cNvPr id="1044" name="Text 50"/>
          <p:cNvSpPr/>
          <p:nvPr/>
        </p:nvSpPr>
        <p:spPr>
          <a:xfrm>
            <a:off x="1554480" y="2286000"/>
            <a:ext cx="237708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trike="noStrike" u="none">
                <a:solidFill>
                  <a:srgbClr val="ffffff"/>
                </a:solidFill>
                <a:effectLst/>
                <a:uFillTx/>
                <a:latin typeface="Cambria"/>
                <a:ea typeface="Cambria"/>
              </a:rPr>
              <a:t>Get data</a:t>
            </a:r>
            <a:endParaRPr b="0" lang="en-US" sz="2200" strike="noStrike" u="none">
              <a:solidFill>
                <a:srgbClr val="ffffff"/>
              </a:solidFill>
              <a:effectLst/>
              <a:uFillTx/>
              <a:latin typeface="Arial"/>
            </a:endParaRPr>
          </a:p>
        </p:txBody>
      </p:sp>
      <p:sp>
        <p:nvSpPr>
          <p:cNvPr id="1045" name="Text 51"/>
          <p:cNvSpPr/>
          <p:nvPr/>
        </p:nvSpPr>
        <p:spPr>
          <a:xfrm>
            <a:off x="960120" y="3017520"/>
            <a:ext cx="283428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trike="noStrike" u="none">
                <a:solidFill>
                  <a:srgbClr val="aebecb"/>
                </a:solidFill>
                <a:effectLst/>
                <a:uFillTx/>
                <a:latin typeface="Calibri"/>
                <a:ea typeface="Calibri"/>
              </a:rPr>
              <a:t>Collect, clean, label</a:t>
            </a:r>
            <a:endParaRPr b="0" lang="en-US" sz="1500" strike="noStrike" u="none">
              <a:solidFill>
                <a:srgbClr val="ffffff"/>
              </a:solidFill>
              <a:effectLst/>
              <a:uFillTx/>
              <a:latin typeface="Arial"/>
            </a:endParaRPr>
          </a:p>
        </p:txBody>
      </p:sp>
      <p:sp>
        <p:nvSpPr>
          <p:cNvPr id="1046" name="Shape 213"/>
          <p:cNvSpPr/>
          <p:nvPr/>
        </p:nvSpPr>
        <p:spPr>
          <a:xfrm>
            <a:off x="4370760" y="2011680"/>
            <a:ext cx="3428640" cy="1782720"/>
          </a:xfrm>
          <a:prstGeom prst="roundRect">
            <a:avLst>
              <a:gd name="adj" fmla="val 5128"/>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47" name="Shape 215"/>
          <p:cNvSpPr/>
          <p:nvPr/>
        </p:nvSpPr>
        <p:spPr>
          <a:xfrm>
            <a:off x="4690800" y="2304360"/>
            <a:ext cx="456840" cy="45684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48" name="Text 52"/>
          <p:cNvSpPr/>
          <p:nvPr/>
        </p:nvSpPr>
        <p:spPr>
          <a:xfrm>
            <a:off x="4690800" y="230436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2</a:t>
            </a:r>
            <a:endParaRPr b="0" lang="en-US" sz="1600" strike="noStrike" u="none">
              <a:solidFill>
                <a:srgbClr val="ffffff"/>
              </a:solidFill>
              <a:effectLst/>
              <a:uFillTx/>
              <a:latin typeface="Arial"/>
            </a:endParaRPr>
          </a:p>
        </p:txBody>
      </p:sp>
      <p:sp>
        <p:nvSpPr>
          <p:cNvPr id="1049" name="Text 53"/>
          <p:cNvSpPr/>
          <p:nvPr/>
        </p:nvSpPr>
        <p:spPr>
          <a:xfrm>
            <a:off x="5285160" y="2286000"/>
            <a:ext cx="237708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trike="noStrike" u="none">
                <a:solidFill>
                  <a:srgbClr val="ffffff"/>
                </a:solidFill>
                <a:effectLst/>
                <a:uFillTx/>
                <a:latin typeface="Cambria"/>
                <a:ea typeface="Cambria"/>
              </a:rPr>
              <a:t>Split it</a:t>
            </a:r>
            <a:endParaRPr b="0" lang="en-US" sz="2200" strike="noStrike" u="none">
              <a:solidFill>
                <a:srgbClr val="ffffff"/>
              </a:solidFill>
              <a:effectLst/>
              <a:uFillTx/>
              <a:latin typeface="Arial"/>
            </a:endParaRPr>
          </a:p>
        </p:txBody>
      </p:sp>
      <p:sp>
        <p:nvSpPr>
          <p:cNvPr id="1050" name="Text 77"/>
          <p:cNvSpPr/>
          <p:nvPr/>
        </p:nvSpPr>
        <p:spPr>
          <a:xfrm>
            <a:off x="4690800" y="3017520"/>
            <a:ext cx="283428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trike="noStrike" u="none">
                <a:solidFill>
                  <a:srgbClr val="aebecb"/>
                </a:solidFill>
                <a:effectLst/>
                <a:uFillTx/>
                <a:latin typeface="Calibri"/>
                <a:ea typeface="Calibri"/>
              </a:rPr>
              <a:t>Train / validate / test</a:t>
            </a:r>
            <a:endParaRPr b="0" lang="en-US" sz="1500" strike="noStrike" u="none">
              <a:solidFill>
                <a:srgbClr val="ffffff"/>
              </a:solidFill>
              <a:effectLst/>
              <a:uFillTx/>
              <a:latin typeface="Arial"/>
            </a:endParaRPr>
          </a:p>
        </p:txBody>
      </p:sp>
      <p:sp>
        <p:nvSpPr>
          <p:cNvPr id="1051" name="Shape 216"/>
          <p:cNvSpPr/>
          <p:nvPr/>
        </p:nvSpPr>
        <p:spPr>
          <a:xfrm>
            <a:off x="8101440" y="2011680"/>
            <a:ext cx="3428640" cy="1782720"/>
          </a:xfrm>
          <a:prstGeom prst="roundRect">
            <a:avLst>
              <a:gd name="adj" fmla="val 5128"/>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52" name="Shape 217"/>
          <p:cNvSpPr/>
          <p:nvPr/>
        </p:nvSpPr>
        <p:spPr>
          <a:xfrm>
            <a:off x="8421480" y="2304360"/>
            <a:ext cx="456840" cy="45684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53" name="Text 80"/>
          <p:cNvSpPr/>
          <p:nvPr/>
        </p:nvSpPr>
        <p:spPr>
          <a:xfrm>
            <a:off x="8421480" y="230436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3</a:t>
            </a:r>
            <a:endParaRPr b="0" lang="en-US" sz="1600" strike="noStrike" u="none">
              <a:solidFill>
                <a:srgbClr val="ffffff"/>
              </a:solidFill>
              <a:effectLst/>
              <a:uFillTx/>
              <a:latin typeface="Arial"/>
            </a:endParaRPr>
          </a:p>
        </p:txBody>
      </p:sp>
      <p:sp>
        <p:nvSpPr>
          <p:cNvPr id="1054" name="Text 83"/>
          <p:cNvSpPr/>
          <p:nvPr/>
        </p:nvSpPr>
        <p:spPr>
          <a:xfrm>
            <a:off x="9015840" y="2286000"/>
            <a:ext cx="237708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trike="noStrike" u="none">
                <a:solidFill>
                  <a:srgbClr val="ffffff"/>
                </a:solidFill>
                <a:effectLst/>
                <a:uFillTx/>
                <a:latin typeface="Cambria"/>
                <a:ea typeface="Cambria"/>
              </a:rPr>
              <a:t>Train</a:t>
            </a:r>
            <a:endParaRPr b="0" lang="en-US" sz="2200" strike="noStrike" u="none">
              <a:solidFill>
                <a:srgbClr val="ffffff"/>
              </a:solidFill>
              <a:effectLst/>
              <a:uFillTx/>
              <a:latin typeface="Arial"/>
            </a:endParaRPr>
          </a:p>
        </p:txBody>
      </p:sp>
      <p:sp>
        <p:nvSpPr>
          <p:cNvPr id="1055" name="Text 85"/>
          <p:cNvSpPr/>
          <p:nvPr/>
        </p:nvSpPr>
        <p:spPr>
          <a:xfrm>
            <a:off x="8421480" y="3017520"/>
            <a:ext cx="283428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trike="noStrike" u="none">
                <a:solidFill>
                  <a:srgbClr val="aebecb"/>
                </a:solidFill>
                <a:effectLst/>
                <a:uFillTx/>
                <a:latin typeface="Calibri"/>
                <a:ea typeface="Calibri"/>
              </a:rPr>
              <a:t>Minimize the loss</a:t>
            </a:r>
            <a:endParaRPr b="0" lang="en-US" sz="1500" strike="noStrike" u="none">
              <a:solidFill>
                <a:srgbClr val="ffffff"/>
              </a:solidFill>
              <a:effectLst/>
              <a:uFillTx/>
              <a:latin typeface="Arial"/>
            </a:endParaRPr>
          </a:p>
        </p:txBody>
      </p:sp>
      <p:sp>
        <p:nvSpPr>
          <p:cNvPr id="1056" name="Shape 218"/>
          <p:cNvSpPr/>
          <p:nvPr/>
        </p:nvSpPr>
        <p:spPr>
          <a:xfrm>
            <a:off x="640080" y="4160520"/>
            <a:ext cx="3428640" cy="1782720"/>
          </a:xfrm>
          <a:prstGeom prst="roundRect">
            <a:avLst>
              <a:gd name="adj" fmla="val 5128"/>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57" name="Shape 219"/>
          <p:cNvSpPr/>
          <p:nvPr/>
        </p:nvSpPr>
        <p:spPr>
          <a:xfrm>
            <a:off x="960120" y="4453200"/>
            <a:ext cx="456840" cy="45684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58" name="Text 86"/>
          <p:cNvSpPr/>
          <p:nvPr/>
        </p:nvSpPr>
        <p:spPr>
          <a:xfrm>
            <a:off x="960120" y="445320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4</a:t>
            </a:r>
            <a:endParaRPr b="0" lang="en-US" sz="1600" strike="noStrike" u="none">
              <a:solidFill>
                <a:srgbClr val="ffffff"/>
              </a:solidFill>
              <a:effectLst/>
              <a:uFillTx/>
              <a:latin typeface="Arial"/>
            </a:endParaRPr>
          </a:p>
        </p:txBody>
      </p:sp>
      <p:sp>
        <p:nvSpPr>
          <p:cNvPr id="1059" name="Text 87"/>
          <p:cNvSpPr/>
          <p:nvPr/>
        </p:nvSpPr>
        <p:spPr>
          <a:xfrm>
            <a:off x="1554480" y="4434840"/>
            <a:ext cx="237708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trike="noStrike" u="none">
                <a:solidFill>
                  <a:srgbClr val="ffffff"/>
                </a:solidFill>
                <a:effectLst/>
                <a:uFillTx/>
                <a:latin typeface="Cambria"/>
                <a:ea typeface="Cambria"/>
              </a:rPr>
              <a:t>Evaluate</a:t>
            </a:r>
            <a:endParaRPr b="0" lang="en-US" sz="2200" strike="noStrike" u="none">
              <a:solidFill>
                <a:srgbClr val="ffffff"/>
              </a:solidFill>
              <a:effectLst/>
              <a:uFillTx/>
              <a:latin typeface="Arial"/>
            </a:endParaRPr>
          </a:p>
        </p:txBody>
      </p:sp>
      <p:sp>
        <p:nvSpPr>
          <p:cNvPr id="1060" name="Text 88"/>
          <p:cNvSpPr/>
          <p:nvPr/>
        </p:nvSpPr>
        <p:spPr>
          <a:xfrm>
            <a:off x="960120" y="5166360"/>
            <a:ext cx="283428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trike="noStrike" u="none">
                <a:solidFill>
                  <a:srgbClr val="aebecb"/>
                </a:solidFill>
                <a:effectLst/>
                <a:uFillTx/>
                <a:latin typeface="Calibri"/>
                <a:ea typeface="Calibri"/>
              </a:rPr>
              <a:t>On data it never saw</a:t>
            </a:r>
            <a:endParaRPr b="0" lang="en-US" sz="1500" strike="noStrike" u="none">
              <a:solidFill>
                <a:srgbClr val="ffffff"/>
              </a:solidFill>
              <a:effectLst/>
              <a:uFillTx/>
              <a:latin typeface="Arial"/>
            </a:endParaRPr>
          </a:p>
        </p:txBody>
      </p:sp>
      <p:sp>
        <p:nvSpPr>
          <p:cNvPr id="1061" name="Shape 220"/>
          <p:cNvSpPr/>
          <p:nvPr/>
        </p:nvSpPr>
        <p:spPr>
          <a:xfrm>
            <a:off x="4370760" y="4160520"/>
            <a:ext cx="3428640" cy="1782720"/>
          </a:xfrm>
          <a:prstGeom prst="roundRect">
            <a:avLst>
              <a:gd name="adj" fmla="val 5128"/>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62" name="Shape 221"/>
          <p:cNvSpPr/>
          <p:nvPr/>
        </p:nvSpPr>
        <p:spPr>
          <a:xfrm>
            <a:off x="4690800" y="4453200"/>
            <a:ext cx="456840" cy="45684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63" name="Text 89"/>
          <p:cNvSpPr/>
          <p:nvPr/>
        </p:nvSpPr>
        <p:spPr>
          <a:xfrm>
            <a:off x="4690800" y="445320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5</a:t>
            </a:r>
            <a:endParaRPr b="0" lang="en-US" sz="1600" strike="noStrike" u="none">
              <a:solidFill>
                <a:srgbClr val="ffffff"/>
              </a:solidFill>
              <a:effectLst/>
              <a:uFillTx/>
              <a:latin typeface="Arial"/>
            </a:endParaRPr>
          </a:p>
        </p:txBody>
      </p:sp>
      <p:sp>
        <p:nvSpPr>
          <p:cNvPr id="1064" name="Text 90"/>
          <p:cNvSpPr/>
          <p:nvPr/>
        </p:nvSpPr>
        <p:spPr>
          <a:xfrm>
            <a:off x="5285160" y="4434840"/>
            <a:ext cx="237708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trike="noStrike" u="none">
                <a:solidFill>
                  <a:srgbClr val="ffffff"/>
                </a:solidFill>
                <a:effectLst/>
                <a:uFillTx/>
                <a:latin typeface="Cambria"/>
                <a:ea typeface="Cambria"/>
              </a:rPr>
              <a:t>Infer</a:t>
            </a:r>
            <a:endParaRPr b="0" lang="en-US" sz="2200" strike="noStrike" u="none">
              <a:solidFill>
                <a:srgbClr val="ffffff"/>
              </a:solidFill>
              <a:effectLst/>
              <a:uFillTx/>
              <a:latin typeface="Arial"/>
            </a:endParaRPr>
          </a:p>
        </p:txBody>
      </p:sp>
      <p:sp>
        <p:nvSpPr>
          <p:cNvPr id="1065" name="Text 91"/>
          <p:cNvSpPr/>
          <p:nvPr/>
        </p:nvSpPr>
        <p:spPr>
          <a:xfrm>
            <a:off x="4690800" y="5166360"/>
            <a:ext cx="283428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trike="noStrike" u="none">
                <a:solidFill>
                  <a:srgbClr val="aebecb"/>
                </a:solidFill>
                <a:effectLst/>
                <a:uFillTx/>
                <a:latin typeface="Calibri"/>
                <a:ea typeface="Calibri"/>
              </a:rPr>
              <a:t>Serve real predictions</a:t>
            </a:r>
            <a:endParaRPr b="0" lang="en-US" sz="1500" strike="noStrike" u="none">
              <a:solidFill>
                <a:srgbClr val="ffffff"/>
              </a:solidFill>
              <a:effectLst/>
              <a:uFillTx/>
              <a:latin typeface="Arial"/>
            </a:endParaRPr>
          </a:p>
        </p:txBody>
      </p:sp>
      <p:sp>
        <p:nvSpPr>
          <p:cNvPr id="1066" name="Shape 222"/>
          <p:cNvSpPr/>
          <p:nvPr/>
        </p:nvSpPr>
        <p:spPr>
          <a:xfrm>
            <a:off x="8101440" y="4160520"/>
            <a:ext cx="3428640" cy="1782720"/>
          </a:xfrm>
          <a:prstGeom prst="roundRect">
            <a:avLst>
              <a:gd name="adj" fmla="val 5128"/>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67" name="Shape 223"/>
          <p:cNvSpPr/>
          <p:nvPr/>
        </p:nvSpPr>
        <p:spPr>
          <a:xfrm>
            <a:off x="8421480" y="4453200"/>
            <a:ext cx="456840" cy="45684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68" name="Text 92"/>
          <p:cNvSpPr/>
          <p:nvPr/>
        </p:nvSpPr>
        <p:spPr>
          <a:xfrm>
            <a:off x="8421480" y="445320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6</a:t>
            </a:r>
            <a:endParaRPr b="0" lang="en-US" sz="1600" strike="noStrike" u="none">
              <a:solidFill>
                <a:srgbClr val="ffffff"/>
              </a:solidFill>
              <a:effectLst/>
              <a:uFillTx/>
              <a:latin typeface="Arial"/>
            </a:endParaRPr>
          </a:p>
        </p:txBody>
      </p:sp>
      <p:sp>
        <p:nvSpPr>
          <p:cNvPr id="1069" name="Text 93"/>
          <p:cNvSpPr/>
          <p:nvPr/>
        </p:nvSpPr>
        <p:spPr>
          <a:xfrm>
            <a:off x="9015840" y="4434840"/>
            <a:ext cx="237708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trike="noStrike" u="none">
                <a:solidFill>
                  <a:srgbClr val="ffffff"/>
                </a:solidFill>
                <a:effectLst/>
                <a:uFillTx/>
                <a:latin typeface="Cambria"/>
                <a:ea typeface="Cambria"/>
              </a:rPr>
              <a:t>Retrain</a:t>
            </a:r>
            <a:endParaRPr b="0" lang="en-US" sz="2200" strike="noStrike" u="none">
              <a:solidFill>
                <a:srgbClr val="ffffff"/>
              </a:solidFill>
              <a:effectLst/>
              <a:uFillTx/>
              <a:latin typeface="Arial"/>
            </a:endParaRPr>
          </a:p>
        </p:txBody>
      </p:sp>
      <p:sp>
        <p:nvSpPr>
          <p:cNvPr id="1070" name="Text 94"/>
          <p:cNvSpPr/>
          <p:nvPr/>
        </p:nvSpPr>
        <p:spPr>
          <a:xfrm>
            <a:off x="8421480" y="5166360"/>
            <a:ext cx="283428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trike="noStrike" u="none">
                <a:solidFill>
                  <a:srgbClr val="aebecb"/>
                </a:solidFill>
                <a:effectLst/>
                <a:uFillTx/>
                <a:latin typeface="Calibri"/>
                <a:ea typeface="Calibri"/>
              </a:rPr>
              <a:t>The world moved again</a:t>
            </a:r>
            <a:endParaRPr b="0" lang="en-US" sz="15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71" name="Text 95"/>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STEP 1</a:t>
            </a:r>
            <a:endParaRPr b="0" lang="en-US" sz="1200" strike="noStrike" u="none">
              <a:solidFill>
                <a:srgbClr val="000000"/>
              </a:solidFill>
              <a:effectLst/>
              <a:uFillTx/>
              <a:latin typeface="Arial"/>
            </a:endParaRPr>
          </a:p>
        </p:txBody>
      </p:sp>
      <p:sp>
        <p:nvSpPr>
          <p:cNvPr id="1072" name="Text 96"/>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Get data</a:t>
            </a:r>
            <a:endParaRPr b="0" lang="en-US" sz="3200" strike="noStrike" u="none">
              <a:solidFill>
                <a:srgbClr val="000000"/>
              </a:solidFill>
              <a:effectLst/>
              <a:uFillTx/>
              <a:latin typeface="Arial"/>
            </a:endParaRPr>
          </a:p>
        </p:txBody>
      </p:sp>
      <p:graphicFrame>
        <p:nvGraphicFramePr>
          <p:cNvPr id="1073" name="Table 2"/>
          <p:cNvGraphicFramePr/>
          <p:nvPr/>
        </p:nvGraphicFramePr>
        <p:xfrm>
          <a:off x="640080" y="1828800"/>
          <a:ext cx="5394600" cy="2286000"/>
        </p:xfrm>
        <a:graphic>
          <a:graphicData uri="http://schemas.openxmlformats.org/drawingml/2006/table">
            <a:tbl>
              <a:tblPr/>
              <a:tblGrid>
                <a:gridCol w="1371600"/>
                <a:gridCol w="1280160"/>
                <a:gridCol w="1280160"/>
                <a:gridCol w="1463040"/>
              </a:tblGrid>
              <a:tr h="457200">
                <a:tc>
                  <a:txBody>
                    <a:bodyPr lIns="109440" rIns="109440" tIns="109440" bIns="109440" anchor="ctr">
                      <a:noAutofit/>
                    </a:bodyPr>
                    <a:p>
                      <a:pPr algn="ctr" defTabSz="914400">
                        <a:lnSpc>
                          <a:spcPct val="100000"/>
                        </a:lnSpc>
                        <a:tabLst>
                          <a:tab algn="l" pos="0"/>
                        </a:tabLst>
                      </a:pPr>
                      <a:r>
                        <a:rPr b="1" lang="en-US" sz="1400" strike="noStrike" u="none">
                          <a:solidFill>
                            <a:srgbClr val="ffffff"/>
                          </a:solidFill>
                          <a:effectLst/>
                          <a:uFillTx/>
                          <a:latin typeface="Courier New"/>
                          <a:ea typeface="Courier New"/>
                        </a:rPr>
                        <a:t>x1 sqft</a:t>
                      </a:r>
                      <a:endParaRPr b="0" lang="en-US" sz="1400" strike="noStrike" u="none">
                        <a:solidFill>
                          <a:srgbClr val="ffffff"/>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solidFill>
                      <a:srgbClr val="14202b"/>
                    </a:solidFill>
                  </a:tcPr>
                </a:tc>
                <a:tc>
                  <a:txBody>
                    <a:bodyPr lIns="109440" rIns="109440" tIns="109440" bIns="109440" anchor="ctr">
                      <a:noAutofit/>
                    </a:bodyPr>
                    <a:p>
                      <a:pPr algn="ctr" defTabSz="914400">
                        <a:lnSpc>
                          <a:spcPct val="100000"/>
                        </a:lnSpc>
                        <a:tabLst>
                          <a:tab algn="l" pos="0"/>
                        </a:tabLst>
                      </a:pPr>
                      <a:r>
                        <a:rPr b="1" lang="en-US" sz="1400" strike="noStrike" u="none">
                          <a:solidFill>
                            <a:srgbClr val="ffffff"/>
                          </a:solidFill>
                          <a:effectLst/>
                          <a:uFillTx/>
                          <a:latin typeface="Courier New"/>
                          <a:ea typeface="Courier New"/>
                        </a:rPr>
                        <a:t>x2 beds</a:t>
                      </a:r>
                      <a:endParaRPr b="0" lang="en-US" sz="1400" strike="noStrike" u="none">
                        <a:solidFill>
                          <a:srgbClr val="ffffff"/>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solidFill>
                      <a:srgbClr val="14202b"/>
                    </a:solidFill>
                  </a:tcPr>
                </a:tc>
                <a:tc>
                  <a:txBody>
                    <a:bodyPr lIns="109440" rIns="109440" tIns="109440" bIns="109440" anchor="ctr">
                      <a:noAutofit/>
                    </a:bodyPr>
                    <a:p>
                      <a:pPr algn="ctr" defTabSz="914400">
                        <a:lnSpc>
                          <a:spcPct val="100000"/>
                        </a:lnSpc>
                        <a:tabLst>
                          <a:tab algn="l" pos="0"/>
                        </a:tabLst>
                      </a:pPr>
                      <a:r>
                        <a:rPr b="1" lang="en-US" sz="1400" strike="noStrike" u="none">
                          <a:solidFill>
                            <a:srgbClr val="ffffff"/>
                          </a:solidFill>
                          <a:effectLst/>
                          <a:uFillTx/>
                          <a:latin typeface="Courier New"/>
                          <a:ea typeface="Courier New"/>
                        </a:rPr>
                        <a:t>x3 age</a:t>
                      </a:r>
                      <a:endParaRPr b="0" lang="en-US" sz="1400" strike="noStrike" u="none">
                        <a:solidFill>
                          <a:srgbClr val="ffffff"/>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solidFill>
                      <a:srgbClr val="14202b"/>
                    </a:solidFill>
                  </a:tcPr>
                </a:tc>
                <a:tc>
                  <a:txBody>
                    <a:bodyPr lIns="109440" rIns="109440" tIns="109440" bIns="109440" anchor="ctr">
                      <a:noAutofit/>
                    </a:bodyPr>
                    <a:p>
                      <a:pPr algn="ctr" defTabSz="914400">
                        <a:lnSpc>
                          <a:spcPct val="100000"/>
                        </a:lnSpc>
                        <a:tabLst>
                          <a:tab algn="l" pos="0"/>
                        </a:tabLst>
                      </a:pPr>
                      <a:r>
                        <a:rPr b="1" lang="en-US" sz="1400" strike="noStrike" u="none">
                          <a:solidFill>
                            <a:srgbClr val="ffffff"/>
                          </a:solidFill>
                          <a:effectLst/>
                          <a:uFillTx/>
                          <a:latin typeface="Courier New"/>
                          <a:ea typeface="Courier New"/>
                        </a:rPr>
                        <a:t>y price</a:t>
                      </a:r>
                      <a:endParaRPr b="0" lang="en-US" sz="1400" strike="noStrike" u="none">
                        <a:solidFill>
                          <a:srgbClr val="ffffff"/>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solidFill>
                      <a:srgbClr val="ff6b35"/>
                    </a:solidFill>
                  </a:tcPr>
                </a:tc>
              </a:tr>
              <a:tr h="457200">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1040</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2</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38</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152000</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457200">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1380</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3</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12</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221500</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457200">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1610</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3</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25</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238000</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r h="457200">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2050</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4</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8</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c>
                  <a:txBody>
                    <a:bodyPr lIns="109440" rIns="109440" tIns="109440" bIns="109440" anchor="ctr">
                      <a:noAutofit/>
                    </a:bodyPr>
                    <a:p>
                      <a:pPr algn="ctr" defTabSz="914400">
                        <a:lnSpc>
                          <a:spcPct val="100000"/>
                        </a:lnSpc>
                        <a:tabLst>
                          <a:tab algn="l" pos="0"/>
                        </a:tabLst>
                      </a:pPr>
                      <a:r>
                        <a:rPr b="0" lang="en-US" sz="1400" strike="noStrike" u="none">
                          <a:solidFill>
                            <a:srgbClr val="25323d"/>
                          </a:solidFill>
                          <a:effectLst/>
                          <a:uFillTx/>
                          <a:latin typeface="Courier New"/>
                          <a:ea typeface="Courier New"/>
                        </a:rPr>
                        <a:t>319900</a:t>
                      </a:r>
                      <a:endParaRPr b="0" lang="en-US" sz="1400" strike="noStrike" u="none">
                        <a:solidFill>
                          <a:srgbClr val="000000"/>
                        </a:solidFill>
                        <a:effectLst/>
                        <a:uFillTx/>
                        <a:latin typeface="Times New Roman"/>
                      </a:endParaRPr>
                    </a:p>
                  </a:txBody>
                  <a:tcPr anchor="ctr" marL="109440" marR="109440">
                    <a:lnL w="12240">
                      <a:solidFill>
                        <a:srgbClr val="dde4ea"/>
                      </a:solidFill>
                      <a:prstDash val="solid"/>
                    </a:lnL>
                    <a:lnR w="12240">
                      <a:solidFill>
                        <a:srgbClr val="dde4ea"/>
                      </a:solidFill>
                      <a:prstDash val="solid"/>
                    </a:lnR>
                    <a:lnT w="12240">
                      <a:solidFill>
                        <a:srgbClr val="dde4ea"/>
                      </a:solidFill>
                      <a:prstDash val="solid"/>
                    </a:lnT>
                    <a:lnB w="12240">
                      <a:solidFill>
                        <a:srgbClr val="dde4ea"/>
                      </a:solidFill>
                      <a:prstDash val="solid"/>
                    </a:lnB>
                    <a:noFill/>
                  </a:tcPr>
                </a:tc>
              </a:tr>
            </a:tbl>
          </a:graphicData>
        </a:graphic>
      </p:graphicFrame>
      <p:sp>
        <p:nvSpPr>
          <p:cNvPr id="1074" name="Text 97"/>
          <p:cNvSpPr/>
          <p:nvPr/>
        </p:nvSpPr>
        <p:spPr>
          <a:xfrm>
            <a:off x="640080" y="4160520"/>
            <a:ext cx="53946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0e7c86"/>
                </a:solidFill>
                <a:effectLst/>
                <a:uFillTx/>
                <a:latin typeface="Calibri"/>
                <a:ea typeface="Calibri"/>
              </a:rPr>
              <a:t>features</a:t>
            </a:r>
            <a:r>
              <a:rPr b="0" lang="en-US" sz="1500" strike="noStrike" u="none">
                <a:solidFill>
                  <a:srgbClr val="5d6e7c"/>
                </a:solidFill>
                <a:effectLst/>
                <a:uFillTx/>
                <a:latin typeface="Calibri"/>
                <a:ea typeface="Calibri"/>
              </a:rPr>
              <a:t>  are what you know.   </a:t>
            </a:r>
            <a:r>
              <a:rPr b="1" lang="en-US" sz="1500" strike="noStrike" u="none">
                <a:solidFill>
                  <a:srgbClr val="ff6b35"/>
                </a:solidFill>
                <a:effectLst/>
                <a:uFillTx/>
                <a:latin typeface="Calibri"/>
                <a:ea typeface="Calibri"/>
              </a:rPr>
              <a:t>label</a:t>
            </a:r>
            <a:r>
              <a:rPr b="0" lang="en-US" sz="1500" strike="noStrike" u="none">
                <a:solidFill>
                  <a:srgbClr val="5d6e7c"/>
                </a:solidFill>
                <a:effectLst/>
                <a:uFillTx/>
                <a:latin typeface="Calibri"/>
                <a:ea typeface="Calibri"/>
              </a:rPr>
              <a:t>  is the answer.</a:t>
            </a:r>
            <a:endParaRPr b="0" lang="en-US" sz="1500" strike="noStrike" u="none">
              <a:solidFill>
                <a:srgbClr val="000000"/>
              </a:solidFill>
              <a:effectLst/>
              <a:uFillTx/>
              <a:latin typeface="Arial"/>
            </a:endParaRPr>
          </a:p>
        </p:txBody>
      </p:sp>
      <p:sp>
        <p:nvSpPr>
          <p:cNvPr id="1075" name="Shape 224"/>
          <p:cNvSpPr/>
          <p:nvPr/>
        </p:nvSpPr>
        <p:spPr>
          <a:xfrm>
            <a:off x="6355080" y="188352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76" name="Text 98"/>
          <p:cNvSpPr/>
          <p:nvPr/>
        </p:nvSpPr>
        <p:spPr>
          <a:xfrm>
            <a:off x="6720840" y="1783080"/>
            <a:ext cx="484596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14202b"/>
                </a:solidFill>
                <a:effectLst/>
                <a:uFillTx/>
                <a:latin typeface="Calibri"/>
                <a:ea typeface="Calibri"/>
              </a:rPr>
              <a:t>More rows beat cleverness</a:t>
            </a:r>
            <a:endParaRPr b="0" lang="en-US" sz="1700" strike="noStrike" u="none">
              <a:solidFill>
                <a:srgbClr val="000000"/>
              </a:solidFill>
              <a:effectLst/>
              <a:uFillTx/>
              <a:latin typeface="Arial"/>
            </a:endParaRPr>
          </a:p>
        </p:txBody>
      </p:sp>
      <p:sp>
        <p:nvSpPr>
          <p:cNvPr id="1077" name="Text 99"/>
          <p:cNvSpPr/>
          <p:nvPr/>
        </p:nvSpPr>
        <p:spPr>
          <a:xfrm>
            <a:off x="6720840" y="2130480"/>
            <a:ext cx="4845960" cy="658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A simple model with 10,000 rows usually beats a clever one with 200.</a:t>
            </a:r>
            <a:endParaRPr b="0" lang="en-US" sz="1400" strike="noStrike" u="none">
              <a:solidFill>
                <a:srgbClr val="000000"/>
              </a:solidFill>
              <a:effectLst/>
              <a:uFillTx/>
              <a:latin typeface="Arial"/>
            </a:endParaRPr>
          </a:p>
        </p:txBody>
      </p:sp>
      <p:sp>
        <p:nvSpPr>
          <p:cNvPr id="1078" name="Shape 225"/>
          <p:cNvSpPr/>
          <p:nvPr/>
        </p:nvSpPr>
        <p:spPr>
          <a:xfrm>
            <a:off x="6355080" y="296280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79" name="Text 100"/>
          <p:cNvSpPr/>
          <p:nvPr/>
        </p:nvSpPr>
        <p:spPr>
          <a:xfrm>
            <a:off x="6720840" y="2862000"/>
            <a:ext cx="484596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14202b"/>
                </a:solidFill>
                <a:effectLst/>
                <a:uFillTx/>
                <a:latin typeface="Calibri"/>
                <a:ea typeface="Calibri"/>
              </a:rPr>
              <a:t>Bad labels poison everything</a:t>
            </a:r>
            <a:endParaRPr b="0" lang="en-US" sz="1700" strike="noStrike" u="none">
              <a:solidFill>
                <a:srgbClr val="000000"/>
              </a:solidFill>
              <a:effectLst/>
              <a:uFillTx/>
              <a:latin typeface="Arial"/>
            </a:endParaRPr>
          </a:p>
        </p:txBody>
      </p:sp>
      <p:sp>
        <p:nvSpPr>
          <p:cNvPr id="1080" name="Text 102"/>
          <p:cNvSpPr/>
          <p:nvPr/>
        </p:nvSpPr>
        <p:spPr>
          <a:xfrm>
            <a:off x="6720840" y="3209400"/>
            <a:ext cx="4845960" cy="658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The model learns the answer column exactly as given, mistakes included.</a:t>
            </a:r>
            <a:endParaRPr b="0" lang="en-US" sz="1400" strike="noStrike" u="none">
              <a:solidFill>
                <a:srgbClr val="000000"/>
              </a:solidFill>
              <a:effectLst/>
              <a:uFillTx/>
              <a:latin typeface="Arial"/>
            </a:endParaRPr>
          </a:p>
        </p:txBody>
      </p:sp>
      <p:sp>
        <p:nvSpPr>
          <p:cNvPr id="1081" name="Shape 226"/>
          <p:cNvSpPr/>
          <p:nvPr/>
        </p:nvSpPr>
        <p:spPr>
          <a:xfrm>
            <a:off x="6355080" y="404172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82" name="Text 103"/>
          <p:cNvSpPr/>
          <p:nvPr/>
        </p:nvSpPr>
        <p:spPr>
          <a:xfrm>
            <a:off x="6720840" y="3940920"/>
            <a:ext cx="484596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14202b"/>
                </a:solidFill>
                <a:effectLst/>
                <a:uFillTx/>
                <a:latin typeface="Calibri"/>
                <a:ea typeface="Calibri"/>
              </a:rPr>
              <a:t>Handle missing values</a:t>
            </a:r>
            <a:endParaRPr b="0" lang="en-US" sz="1700" strike="noStrike" u="none">
              <a:solidFill>
                <a:srgbClr val="000000"/>
              </a:solidFill>
              <a:effectLst/>
              <a:uFillTx/>
              <a:latin typeface="Arial"/>
            </a:endParaRPr>
          </a:p>
        </p:txBody>
      </p:sp>
      <p:sp>
        <p:nvSpPr>
          <p:cNvPr id="1083" name="Text 104"/>
          <p:cNvSpPr/>
          <p:nvPr/>
        </p:nvSpPr>
        <p:spPr>
          <a:xfrm>
            <a:off x="6720840" y="4288680"/>
            <a:ext cx="4845960" cy="658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Drop the row, or fill it in - but decide on purpose, not by accident.</a:t>
            </a:r>
            <a:endParaRPr b="0" lang="en-US" sz="1400" strike="noStrike" u="none">
              <a:solidFill>
                <a:srgbClr val="000000"/>
              </a:solidFill>
              <a:effectLst/>
              <a:uFillTx/>
              <a:latin typeface="Arial"/>
            </a:endParaRPr>
          </a:p>
        </p:txBody>
      </p:sp>
      <p:sp>
        <p:nvSpPr>
          <p:cNvPr id="1084" name="Shape 227"/>
          <p:cNvSpPr/>
          <p:nvPr/>
        </p:nvSpPr>
        <p:spPr>
          <a:xfrm>
            <a:off x="6355080" y="512064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85" name="Text 105"/>
          <p:cNvSpPr/>
          <p:nvPr/>
        </p:nvSpPr>
        <p:spPr>
          <a:xfrm>
            <a:off x="6720840" y="5020200"/>
            <a:ext cx="484596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14202b"/>
                </a:solidFill>
                <a:effectLst/>
                <a:uFillTx/>
                <a:latin typeface="Calibri"/>
                <a:ea typeface="Calibri"/>
              </a:rPr>
              <a:t>Scale your features</a:t>
            </a:r>
            <a:endParaRPr b="0" lang="en-US" sz="1700" strike="noStrike" u="none">
              <a:solidFill>
                <a:srgbClr val="000000"/>
              </a:solidFill>
              <a:effectLst/>
              <a:uFillTx/>
              <a:latin typeface="Arial"/>
            </a:endParaRPr>
          </a:p>
        </p:txBody>
      </p:sp>
      <p:sp>
        <p:nvSpPr>
          <p:cNvPr id="1086" name="Text 106"/>
          <p:cNvSpPr/>
          <p:nvPr/>
        </p:nvSpPr>
        <p:spPr>
          <a:xfrm>
            <a:off x="6720840" y="5367600"/>
            <a:ext cx="4845960" cy="658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Square footage is in thousands, bedrooms in single digits. Rescale so no feature dominates just by being big.</a:t>
            </a:r>
            <a:endParaRPr b="0" lang="en-US" sz="1400" strike="noStrike" u="none">
              <a:solidFill>
                <a:srgbClr val="000000"/>
              </a:solidFill>
              <a:effectLst/>
              <a:uFillTx/>
              <a:latin typeface="Arial"/>
            </a:endParaRPr>
          </a:p>
        </p:txBody>
      </p:sp>
      <p:sp>
        <p:nvSpPr>
          <p:cNvPr id="1087" name="Text 107"/>
          <p:cNvSpPr/>
          <p:nvPr/>
        </p:nvSpPr>
        <p:spPr>
          <a:xfrm>
            <a:off x="640080" y="5120640"/>
            <a:ext cx="539460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25323d"/>
                </a:solidFill>
                <a:effectLst/>
                <a:uFillTx/>
                <a:latin typeface="Calibri"/>
                <a:ea typeface="Calibri"/>
              </a:rPr>
              <a:t>Garbage in, garbage out — and the model will not tell you.</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88" name="Text 108"/>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STEP 2</a:t>
            </a:r>
            <a:endParaRPr b="0" lang="en-US" sz="1200" strike="noStrike" u="none">
              <a:solidFill>
                <a:srgbClr val="000000"/>
              </a:solidFill>
              <a:effectLst/>
              <a:uFillTx/>
              <a:latin typeface="Arial"/>
            </a:endParaRPr>
          </a:p>
        </p:txBody>
      </p:sp>
      <p:sp>
        <p:nvSpPr>
          <p:cNvPr id="1089" name="Text 109"/>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Split the data before you touch it</a:t>
            </a:r>
            <a:endParaRPr b="0" lang="en-US" sz="3200" strike="noStrike" u="none">
              <a:solidFill>
                <a:srgbClr val="000000"/>
              </a:solidFill>
              <a:effectLst/>
              <a:uFillTx/>
              <a:latin typeface="Arial"/>
            </a:endParaRPr>
          </a:p>
        </p:txBody>
      </p:sp>
      <p:sp>
        <p:nvSpPr>
          <p:cNvPr id="1090" name="Shape 228"/>
          <p:cNvSpPr/>
          <p:nvPr/>
        </p:nvSpPr>
        <p:spPr>
          <a:xfrm>
            <a:off x="640080" y="1828800"/>
            <a:ext cx="6857640" cy="1371240"/>
          </a:xfrm>
          <a:prstGeom prst="roundRect">
            <a:avLst>
              <a:gd name="adj" fmla="val 4000"/>
            </a:avLst>
          </a:prstGeom>
          <a:solidFill>
            <a:srgbClr val="0e7c86"/>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91" name="Text 110"/>
          <p:cNvSpPr/>
          <p:nvPr/>
        </p:nvSpPr>
        <p:spPr>
          <a:xfrm>
            <a:off x="640080" y="2084760"/>
            <a:ext cx="685764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trike="noStrike" u="none">
                <a:solidFill>
                  <a:srgbClr val="ffffff"/>
                </a:solidFill>
                <a:effectLst/>
                <a:uFillTx/>
                <a:latin typeface="Calibri"/>
                <a:ea typeface="Calibri"/>
              </a:rPr>
              <a:t>Train</a:t>
            </a:r>
            <a:endParaRPr b="0" lang="en-US" sz="2000" strike="noStrike" u="none">
              <a:solidFill>
                <a:srgbClr val="000000"/>
              </a:solidFill>
              <a:effectLst/>
              <a:uFillTx/>
              <a:latin typeface="Arial"/>
            </a:endParaRPr>
          </a:p>
        </p:txBody>
      </p:sp>
      <p:sp>
        <p:nvSpPr>
          <p:cNvPr id="1092" name="Text 111"/>
          <p:cNvSpPr/>
          <p:nvPr/>
        </p:nvSpPr>
        <p:spPr>
          <a:xfrm>
            <a:off x="640080" y="2523600"/>
            <a:ext cx="685764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600" strike="noStrike" u="none">
                <a:solidFill>
                  <a:srgbClr val="ffffff"/>
                </a:solidFill>
                <a:effectLst/>
                <a:uFillTx/>
                <a:latin typeface="Calibri"/>
                <a:ea typeface="Calibri"/>
              </a:rPr>
              <a:t>70%</a:t>
            </a:r>
            <a:endParaRPr b="0" lang="en-US" sz="1600" strike="noStrike" u="none">
              <a:solidFill>
                <a:srgbClr val="000000"/>
              </a:solidFill>
              <a:effectLst/>
              <a:uFillTx/>
              <a:latin typeface="Arial"/>
            </a:endParaRPr>
          </a:p>
        </p:txBody>
      </p:sp>
      <p:sp>
        <p:nvSpPr>
          <p:cNvPr id="1093" name="Text 112"/>
          <p:cNvSpPr/>
          <p:nvPr/>
        </p:nvSpPr>
        <p:spPr>
          <a:xfrm>
            <a:off x="640080" y="3310200"/>
            <a:ext cx="68576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Fit the weights on this.</a:t>
            </a:r>
            <a:endParaRPr b="0" lang="en-US" sz="1350" strike="noStrike" u="none">
              <a:solidFill>
                <a:srgbClr val="000000"/>
              </a:solidFill>
              <a:effectLst/>
              <a:uFillTx/>
              <a:latin typeface="Arial"/>
            </a:endParaRPr>
          </a:p>
        </p:txBody>
      </p:sp>
      <p:sp>
        <p:nvSpPr>
          <p:cNvPr id="1094" name="Shape 229"/>
          <p:cNvSpPr/>
          <p:nvPr/>
        </p:nvSpPr>
        <p:spPr>
          <a:xfrm>
            <a:off x="7790760" y="1828800"/>
            <a:ext cx="1737000" cy="1371240"/>
          </a:xfrm>
          <a:prstGeom prst="roundRect">
            <a:avLst>
              <a:gd name="adj" fmla="val 4000"/>
            </a:avLst>
          </a:prstGeom>
          <a:solidFill>
            <a:srgbClr val="7d4e9e"/>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95" name="Text 113"/>
          <p:cNvSpPr/>
          <p:nvPr/>
        </p:nvSpPr>
        <p:spPr>
          <a:xfrm>
            <a:off x="7790760" y="2084760"/>
            <a:ext cx="173700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trike="noStrike" u="none">
                <a:solidFill>
                  <a:srgbClr val="ffffff"/>
                </a:solidFill>
                <a:effectLst/>
                <a:uFillTx/>
                <a:latin typeface="Calibri"/>
                <a:ea typeface="Calibri"/>
              </a:rPr>
              <a:t>Validation</a:t>
            </a:r>
            <a:endParaRPr b="0" lang="en-US" sz="2000" strike="noStrike" u="none">
              <a:solidFill>
                <a:srgbClr val="000000"/>
              </a:solidFill>
              <a:effectLst/>
              <a:uFillTx/>
              <a:latin typeface="Arial"/>
            </a:endParaRPr>
          </a:p>
        </p:txBody>
      </p:sp>
      <p:sp>
        <p:nvSpPr>
          <p:cNvPr id="1096" name="Text 114"/>
          <p:cNvSpPr/>
          <p:nvPr/>
        </p:nvSpPr>
        <p:spPr>
          <a:xfrm>
            <a:off x="7790760" y="2523600"/>
            <a:ext cx="17370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600" strike="noStrike" u="none">
                <a:solidFill>
                  <a:srgbClr val="ffffff"/>
                </a:solidFill>
                <a:effectLst/>
                <a:uFillTx/>
                <a:latin typeface="Calibri"/>
                <a:ea typeface="Calibri"/>
              </a:rPr>
              <a:t>15%</a:t>
            </a:r>
            <a:endParaRPr b="0" lang="en-US" sz="1600" strike="noStrike" u="none">
              <a:solidFill>
                <a:srgbClr val="000000"/>
              </a:solidFill>
              <a:effectLst/>
              <a:uFillTx/>
              <a:latin typeface="Arial"/>
            </a:endParaRPr>
          </a:p>
        </p:txBody>
      </p:sp>
      <p:sp>
        <p:nvSpPr>
          <p:cNvPr id="1097" name="Text 115"/>
          <p:cNvSpPr/>
          <p:nvPr/>
        </p:nvSpPr>
        <p:spPr>
          <a:xfrm>
            <a:off x="7790760" y="3310200"/>
            <a:ext cx="173700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Tune settings like learning rate.</a:t>
            </a:r>
            <a:endParaRPr b="0" lang="en-US" sz="1350" strike="noStrike" u="none">
              <a:solidFill>
                <a:srgbClr val="000000"/>
              </a:solidFill>
              <a:effectLst/>
              <a:uFillTx/>
              <a:latin typeface="Arial"/>
            </a:endParaRPr>
          </a:p>
        </p:txBody>
      </p:sp>
      <p:sp>
        <p:nvSpPr>
          <p:cNvPr id="1098" name="Shape 230"/>
          <p:cNvSpPr/>
          <p:nvPr/>
        </p:nvSpPr>
        <p:spPr>
          <a:xfrm>
            <a:off x="9820800" y="1828800"/>
            <a:ext cx="1737000" cy="1371240"/>
          </a:xfrm>
          <a:prstGeom prst="roundRect">
            <a:avLst>
              <a:gd name="adj" fmla="val 4000"/>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99" name="Text 116"/>
          <p:cNvSpPr/>
          <p:nvPr/>
        </p:nvSpPr>
        <p:spPr>
          <a:xfrm>
            <a:off x="9820800" y="2084760"/>
            <a:ext cx="173700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trike="noStrike" u="none">
                <a:solidFill>
                  <a:srgbClr val="ffffff"/>
                </a:solidFill>
                <a:effectLst/>
                <a:uFillTx/>
                <a:latin typeface="Calibri"/>
                <a:ea typeface="Calibri"/>
              </a:rPr>
              <a:t>Test</a:t>
            </a:r>
            <a:endParaRPr b="0" lang="en-US" sz="2000" strike="noStrike" u="none">
              <a:solidFill>
                <a:srgbClr val="000000"/>
              </a:solidFill>
              <a:effectLst/>
              <a:uFillTx/>
              <a:latin typeface="Arial"/>
            </a:endParaRPr>
          </a:p>
        </p:txBody>
      </p:sp>
      <p:sp>
        <p:nvSpPr>
          <p:cNvPr id="1100" name="Text 117"/>
          <p:cNvSpPr/>
          <p:nvPr/>
        </p:nvSpPr>
        <p:spPr>
          <a:xfrm>
            <a:off x="9820800" y="2523600"/>
            <a:ext cx="17370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600" strike="noStrike" u="none">
                <a:solidFill>
                  <a:srgbClr val="ffffff"/>
                </a:solidFill>
                <a:effectLst/>
                <a:uFillTx/>
                <a:latin typeface="Calibri"/>
                <a:ea typeface="Calibri"/>
              </a:rPr>
              <a:t>15%</a:t>
            </a:r>
            <a:endParaRPr b="0" lang="en-US" sz="1600" strike="noStrike" u="none">
              <a:solidFill>
                <a:srgbClr val="000000"/>
              </a:solidFill>
              <a:effectLst/>
              <a:uFillTx/>
              <a:latin typeface="Arial"/>
            </a:endParaRPr>
          </a:p>
        </p:txBody>
      </p:sp>
      <p:sp>
        <p:nvSpPr>
          <p:cNvPr id="1101" name="Text 118"/>
          <p:cNvSpPr/>
          <p:nvPr/>
        </p:nvSpPr>
        <p:spPr>
          <a:xfrm>
            <a:off x="9820800" y="3310200"/>
            <a:ext cx="173700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Touch once, at the very end.</a:t>
            </a:r>
            <a:endParaRPr b="0" lang="en-US" sz="1350" strike="noStrike" u="none">
              <a:solidFill>
                <a:srgbClr val="000000"/>
              </a:solidFill>
              <a:effectLst/>
              <a:uFillTx/>
              <a:latin typeface="Arial"/>
            </a:endParaRPr>
          </a:p>
        </p:txBody>
      </p:sp>
      <p:sp>
        <p:nvSpPr>
          <p:cNvPr id="1102" name="Shape 231"/>
          <p:cNvSpPr/>
          <p:nvPr/>
        </p:nvSpPr>
        <p:spPr>
          <a:xfrm>
            <a:off x="640080" y="4160520"/>
            <a:ext cx="5266440" cy="1782720"/>
          </a:xfrm>
          <a:prstGeom prst="roundRect">
            <a:avLst>
              <a:gd name="adj" fmla="val 4103"/>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03" name="Text 119"/>
          <p:cNvSpPr/>
          <p:nvPr/>
        </p:nvSpPr>
        <p:spPr>
          <a:xfrm>
            <a:off x="960120" y="4389120"/>
            <a:ext cx="4663080" cy="1416960"/>
          </a:xfrm>
          <a:prstGeom prst="rect">
            <a:avLst/>
          </a:prstGeom>
          <a:noFill/>
          <a:ln w="0">
            <a:noFill/>
          </a:ln>
        </p:spPr>
        <p:style>
          <a:lnRef idx="0"/>
          <a:fillRef idx="0"/>
          <a:effectRef idx="0"/>
          <a:fontRef idx="minor"/>
        </p:style>
        <p:txBody>
          <a:bodyPr lIns="0" rIns="0" tIns="0" bIns="0" anchor="ctr">
            <a:noAutofit/>
          </a:bodyPr>
          <a:p>
            <a:r>
              <a:rPr b="1" lang="en-US" sz="2200" strike="noStrike" u="none">
                <a:solidFill>
                  <a:srgbClr val="ff6b35"/>
                </a:solidFill>
                <a:effectLst/>
                <a:uFillTx/>
                <a:latin typeface="Cambria"/>
                <a:ea typeface="Cambria"/>
              </a:rPr>
              <a:t>The rule</a:t>
            </a:r>
            <a:endParaRPr b="0" lang="en-US" sz="2200" strike="noStrike" u="none">
              <a:solidFill>
                <a:srgbClr val="000000"/>
              </a:solidFill>
              <a:effectLst/>
              <a:uFillTx/>
              <a:latin typeface="Arial"/>
            </a:endParaRPr>
          </a:p>
          <a:p>
            <a:pPr defTabSz="914400">
              <a:lnSpc>
                <a:spcPct val="100000"/>
              </a:lnSpc>
              <a:tabLst>
                <a:tab algn="l" pos="0"/>
              </a:tabLst>
            </a:pPr>
            <a:endParaRPr b="0" lang="en-US" sz="2200" strike="noStrike" u="none">
              <a:solidFill>
                <a:srgbClr val="000000"/>
              </a:solidFill>
              <a:effectLst/>
              <a:uFillTx/>
              <a:latin typeface="Arial"/>
            </a:endParaRPr>
          </a:p>
          <a:p>
            <a:pPr defTabSz="914400">
              <a:lnSpc>
                <a:spcPct val="100000"/>
              </a:lnSpc>
              <a:tabLst>
                <a:tab algn="l" pos="0"/>
              </a:tabLst>
            </a:pPr>
            <a:r>
              <a:rPr b="0" lang="en-US" sz="1500" strike="noStrike" u="none">
                <a:solidFill>
                  <a:srgbClr val="d6e0e8"/>
                </a:solidFill>
                <a:effectLst/>
                <a:uFillTx/>
                <a:latin typeface="Calibri"/>
                <a:ea typeface="Calibri"/>
              </a:rPr>
              <a:t>Never train on test data. If you tune against the test set, it stops being a measure of anything — you have just memorized the exam.</a:t>
            </a:r>
            <a:endParaRPr b="0" lang="en-US" sz="1500" strike="noStrike" u="none">
              <a:solidFill>
                <a:srgbClr val="000000"/>
              </a:solidFill>
              <a:effectLst/>
              <a:uFillTx/>
              <a:latin typeface="Arial"/>
            </a:endParaRPr>
          </a:p>
        </p:txBody>
      </p:sp>
      <p:sp>
        <p:nvSpPr>
          <p:cNvPr id="1104" name="Shape 232"/>
          <p:cNvSpPr/>
          <p:nvPr/>
        </p:nvSpPr>
        <p:spPr>
          <a:xfrm>
            <a:off x="6282000" y="4160520"/>
            <a:ext cx="5266440" cy="1782720"/>
          </a:xfrm>
          <a:prstGeom prst="roundRect">
            <a:avLst>
              <a:gd name="adj" fmla="val 4103"/>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05" name="Text 120"/>
          <p:cNvSpPr/>
          <p:nvPr/>
        </p:nvSpPr>
        <p:spPr>
          <a:xfrm>
            <a:off x="6602040" y="4389120"/>
            <a:ext cx="4663080" cy="1416960"/>
          </a:xfrm>
          <a:prstGeom prst="rect">
            <a:avLst/>
          </a:prstGeom>
          <a:noFill/>
          <a:ln w="0">
            <a:noFill/>
          </a:ln>
        </p:spPr>
        <p:style>
          <a:lnRef idx="0"/>
          <a:fillRef idx="0"/>
          <a:effectRef idx="0"/>
          <a:fontRef idx="minor"/>
        </p:style>
        <p:txBody>
          <a:bodyPr lIns="0" rIns="0" tIns="0" bIns="0" anchor="ctr">
            <a:noAutofit/>
          </a:bodyPr>
          <a:p>
            <a:r>
              <a:rPr b="1" lang="en-US" sz="2200" strike="noStrike" u="none">
                <a:solidFill>
                  <a:srgbClr val="14202b"/>
                </a:solidFill>
                <a:effectLst/>
                <a:uFillTx/>
                <a:latin typeface="Cambria"/>
                <a:ea typeface="Cambria"/>
              </a:rPr>
              <a:t>Why bother</a:t>
            </a:r>
            <a:endParaRPr b="0" lang="en-US" sz="2200" strike="noStrike" u="none">
              <a:solidFill>
                <a:srgbClr val="000000"/>
              </a:solidFill>
              <a:effectLst/>
              <a:uFillTx/>
              <a:latin typeface="Arial"/>
            </a:endParaRPr>
          </a:p>
          <a:p>
            <a:pPr defTabSz="914400">
              <a:lnSpc>
                <a:spcPct val="100000"/>
              </a:lnSpc>
              <a:tabLst>
                <a:tab algn="l" pos="0"/>
              </a:tabLst>
            </a:pPr>
            <a:endParaRPr b="0" lang="en-US" sz="2200" strike="noStrike" u="none">
              <a:solidFill>
                <a:srgbClr val="000000"/>
              </a:solidFill>
              <a:effectLst/>
              <a:uFillTx/>
              <a:latin typeface="Arial"/>
            </a:endParaRPr>
          </a:p>
          <a:p>
            <a:pPr defTabSz="914400">
              <a:lnSpc>
                <a:spcPct val="100000"/>
              </a:lnSpc>
              <a:tabLst>
                <a:tab algn="l" pos="0"/>
              </a:tabLst>
            </a:pPr>
            <a:r>
              <a:rPr b="0" lang="en-US" sz="1500" strike="noStrike" u="none">
                <a:solidFill>
                  <a:srgbClr val="5d6e7c"/>
                </a:solidFill>
                <a:effectLst/>
                <a:uFillTx/>
                <a:latin typeface="Calibri"/>
                <a:ea typeface="Calibri"/>
              </a:rPr>
              <a:t>Scoring a model on rows it trained on measures memory, not skill. The only honest question is: how does it do on a house it has never seen?</a:t>
            </a:r>
            <a:endParaRPr b="0" lang="en-US" sz="15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06" name="Text 121"/>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STEP 3</a:t>
            </a:r>
            <a:endParaRPr b="0" lang="en-US" sz="1200" strike="noStrike" u="none">
              <a:solidFill>
                <a:srgbClr val="000000"/>
              </a:solidFill>
              <a:effectLst/>
              <a:uFillTx/>
              <a:latin typeface="Arial"/>
            </a:endParaRPr>
          </a:p>
        </p:txBody>
      </p:sp>
      <p:sp>
        <p:nvSpPr>
          <p:cNvPr id="1107" name="Text 122"/>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Train: the loop that finds the numbers</a:t>
            </a:r>
            <a:endParaRPr b="0" lang="en-US" sz="3200" strike="noStrike" u="none">
              <a:solidFill>
                <a:srgbClr val="000000"/>
              </a:solidFill>
              <a:effectLst/>
              <a:uFillTx/>
              <a:latin typeface="Arial"/>
            </a:endParaRPr>
          </a:p>
        </p:txBody>
      </p:sp>
      <p:sp>
        <p:nvSpPr>
          <p:cNvPr id="1108" name="Shape 233"/>
          <p:cNvSpPr/>
          <p:nvPr/>
        </p:nvSpPr>
        <p:spPr>
          <a:xfrm>
            <a:off x="640080" y="1920240"/>
            <a:ext cx="2395440" cy="2377080"/>
          </a:xfrm>
          <a:prstGeom prst="roundRect">
            <a:avLst>
              <a:gd name="adj" fmla="val 3077"/>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09" name="Shape 234"/>
          <p:cNvSpPr/>
          <p:nvPr/>
        </p:nvSpPr>
        <p:spPr>
          <a:xfrm>
            <a:off x="914400" y="2194560"/>
            <a:ext cx="420120" cy="420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10" name="Text 123"/>
          <p:cNvSpPr/>
          <p:nvPr/>
        </p:nvSpPr>
        <p:spPr>
          <a:xfrm>
            <a:off x="914400" y="2194560"/>
            <a:ext cx="420120" cy="420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1</a:t>
            </a:r>
            <a:endParaRPr b="0" lang="en-US" sz="1600" strike="noStrike" u="none">
              <a:solidFill>
                <a:srgbClr val="000000"/>
              </a:solidFill>
              <a:effectLst/>
              <a:uFillTx/>
              <a:latin typeface="Arial"/>
            </a:endParaRPr>
          </a:p>
        </p:txBody>
      </p:sp>
      <p:sp>
        <p:nvSpPr>
          <p:cNvPr id="1111" name="Text 124"/>
          <p:cNvSpPr/>
          <p:nvPr/>
        </p:nvSpPr>
        <p:spPr>
          <a:xfrm>
            <a:off x="914400" y="2743200"/>
            <a:ext cx="191988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00" strike="noStrike" u="none">
                <a:solidFill>
                  <a:srgbClr val="14202b"/>
                </a:solidFill>
                <a:effectLst/>
                <a:uFillTx/>
                <a:latin typeface="Cambria"/>
                <a:ea typeface="Cambria"/>
              </a:rPr>
              <a:t>Guess</a:t>
            </a:r>
            <a:endParaRPr b="0" lang="en-US" sz="2100" strike="noStrike" u="none">
              <a:solidFill>
                <a:srgbClr val="000000"/>
              </a:solidFill>
              <a:effectLst/>
              <a:uFillTx/>
              <a:latin typeface="Arial"/>
            </a:endParaRPr>
          </a:p>
        </p:txBody>
      </p:sp>
      <p:sp>
        <p:nvSpPr>
          <p:cNvPr id="1112" name="Text 125"/>
          <p:cNvSpPr/>
          <p:nvPr/>
        </p:nvSpPr>
        <p:spPr>
          <a:xfrm>
            <a:off x="914400" y="3154680"/>
            <a:ext cx="191988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Start w and b at zero or random.</a:t>
            </a:r>
            <a:endParaRPr b="0" lang="en-US" sz="1400" strike="noStrike" u="none">
              <a:solidFill>
                <a:srgbClr val="000000"/>
              </a:solidFill>
              <a:effectLst/>
              <a:uFillTx/>
              <a:latin typeface="Arial"/>
            </a:endParaRPr>
          </a:p>
        </p:txBody>
      </p:sp>
      <p:sp>
        <p:nvSpPr>
          <p:cNvPr id="1113" name="Shape 235"/>
          <p:cNvSpPr/>
          <p:nvPr/>
        </p:nvSpPr>
        <p:spPr>
          <a:xfrm>
            <a:off x="3127320" y="2944440"/>
            <a:ext cx="255600" cy="310680"/>
          </a:xfrm>
          <a:prstGeom prst="rightArrow">
            <a:avLst>
              <a:gd name="adj1" fmla="val 50000"/>
              <a:gd name="adj2" fmla="val 50000"/>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14" name="Shape 236"/>
          <p:cNvSpPr/>
          <p:nvPr/>
        </p:nvSpPr>
        <p:spPr>
          <a:xfrm>
            <a:off x="3410640" y="1920240"/>
            <a:ext cx="2395440" cy="2377080"/>
          </a:xfrm>
          <a:prstGeom prst="roundRect">
            <a:avLst>
              <a:gd name="adj" fmla="val 3077"/>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15" name="Shape 237"/>
          <p:cNvSpPr/>
          <p:nvPr/>
        </p:nvSpPr>
        <p:spPr>
          <a:xfrm>
            <a:off x="3684960" y="2194560"/>
            <a:ext cx="420120" cy="420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16" name="Text 126"/>
          <p:cNvSpPr/>
          <p:nvPr/>
        </p:nvSpPr>
        <p:spPr>
          <a:xfrm>
            <a:off x="3684960" y="2194560"/>
            <a:ext cx="420120" cy="420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2</a:t>
            </a:r>
            <a:endParaRPr b="0" lang="en-US" sz="1600" strike="noStrike" u="none">
              <a:solidFill>
                <a:srgbClr val="000000"/>
              </a:solidFill>
              <a:effectLst/>
              <a:uFillTx/>
              <a:latin typeface="Arial"/>
            </a:endParaRPr>
          </a:p>
        </p:txBody>
      </p:sp>
      <p:sp>
        <p:nvSpPr>
          <p:cNvPr id="1117" name="Text 127"/>
          <p:cNvSpPr/>
          <p:nvPr/>
        </p:nvSpPr>
        <p:spPr>
          <a:xfrm>
            <a:off x="3684960" y="2743200"/>
            <a:ext cx="191988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00" strike="noStrike" u="none">
                <a:solidFill>
                  <a:srgbClr val="14202b"/>
                </a:solidFill>
                <a:effectLst/>
                <a:uFillTx/>
                <a:latin typeface="Cambria"/>
                <a:ea typeface="Cambria"/>
              </a:rPr>
              <a:t>Predict</a:t>
            </a:r>
            <a:endParaRPr b="0" lang="en-US" sz="2100" strike="noStrike" u="none">
              <a:solidFill>
                <a:srgbClr val="000000"/>
              </a:solidFill>
              <a:effectLst/>
              <a:uFillTx/>
              <a:latin typeface="Arial"/>
            </a:endParaRPr>
          </a:p>
        </p:txBody>
      </p:sp>
      <p:sp>
        <p:nvSpPr>
          <p:cNvPr id="1118" name="Text 128"/>
          <p:cNvSpPr/>
          <p:nvPr/>
        </p:nvSpPr>
        <p:spPr>
          <a:xfrm>
            <a:off x="3684960" y="3154680"/>
            <a:ext cx="191988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Run ŷ = w · x + b on the training rows.</a:t>
            </a:r>
            <a:endParaRPr b="0" lang="en-US" sz="1400" strike="noStrike" u="none">
              <a:solidFill>
                <a:srgbClr val="000000"/>
              </a:solidFill>
              <a:effectLst/>
              <a:uFillTx/>
              <a:latin typeface="Arial"/>
            </a:endParaRPr>
          </a:p>
        </p:txBody>
      </p:sp>
      <p:sp>
        <p:nvSpPr>
          <p:cNvPr id="1119" name="Shape 238"/>
          <p:cNvSpPr/>
          <p:nvPr/>
        </p:nvSpPr>
        <p:spPr>
          <a:xfrm>
            <a:off x="5897880" y="2944440"/>
            <a:ext cx="255600" cy="310680"/>
          </a:xfrm>
          <a:prstGeom prst="rightArrow">
            <a:avLst>
              <a:gd name="adj1" fmla="val 50000"/>
              <a:gd name="adj2" fmla="val 50000"/>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20" name="Shape 239"/>
          <p:cNvSpPr/>
          <p:nvPr/>
        </p:nvSpPr>
        <p:spPr>
          <a:xfrm>
            <a:off x="6181200" y="1920240"/>
            <a:ext cx="2395440" cy="2377080"/>
          </a:xfrm>
          <a:prstGeom prst="roundRect">
            <a:avLst>
              <a:gd name="adj" fmla="val 3077"/>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21" name="Shape 240"/>
          <p:cNvSpPr/>
          <p:nvPr/>
        </p:nvSpPr>
        <p:spPr>
          <a:xfrm>
            <a:off x="6455520" y="2194560"/>
            <a:ext cx="420120" cy="420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22" name="Text 129"/>
          <p:cNvSpPr/>
          <p:nvPr/>
        </p:nvSpPr>
        <p:spPr>
          <a:xfrm>
            <a:off x="6455520" y="2194560"/>
            <a:ext cx="420120" cy="420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3</a:t>
            </a:r>
            <a:endParaRPr b="0" lang="en-US" sz="1600" strike="noStrike" u="none">
              <a:solidFill>
                <a:srgbClr val="000000"/>
              </a:solidFill>
              <a:effectLst/>
              <a:uFillTx/>
              <a:latin typeface="Arial"/>
            </a:endParaRPr>
          </a:p>
        </p:txBody>
      </p:sp>
      <p:sp>
        <p:nvSpPr>
          <p:cNvPr id="1123" name="Text 130"/>
          <p:cNvSpPr/>
          <p:nvPr/>
        </p:nvSpPr>
        <p:spPr>
          <a:xfrm>
            <a:off x="6455520" y="2743200"/>
            <a:ext cx="191988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00" strike="noStrike" u="none">
                <a:solidFill>
                  <a:srgbClr val="14202b"/>
                </a:solidFill>
                <a:effectLst/>
                <a:uFillTx/>
                <a:latin typeface="Cambria"/>
                <a:ea typeface="Cambria"/>
              </a:rPr>
              <a:t>Measure</a:t>
            </a:r>
            <a:endParaRPr b="0" lang="en-US" sz="2100" strike="noStrike" u="none">
              <a:solidFill>
                <a:srgbClr val="000000"/>
              </a:solidFill>
              <a:effectLst/>
              <a:uFillTx/>
              <a:latin typeface="Arial"/>
            </a:endParaRPr>
          </a:p>
        </p:txBody>
      </p:sp>
      <p:sp>
        <p:nvSpPr>
          <p:cNvPr id="1124" name="Text 131"/>
          <p:cNvSpPr/>
          <p:nvPr/>
        </p:nvSpPr>
        <p:spPr>
          <a:xfrm>
            <a:off x="6455520" y="3154680"/>
            <a:ext cx="191988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Compute the loss against the true y.</a:t>
            </a:r>
            <a:endParaRPr b="0" lang="en-US" sz="1400" strike="noStrike" u="none">
              <a:solidFill>
                <a:srgbClr val="000000"/>
              </a:solidFill>
              <a:effectLst/>
              <a:uFillTx/>
              <a:latin typeface="Arial"/>
            </a:endParaRPr>
          </a:p>
        </p:txBody>
      </p:sp>
      <p:sp>
        <p:nvSpPr>
          <p:cNvPr id="1125" name="Shape 241"/>
          <p:cNvSpPr/>
          <p:nvPr/>
        </p:nvSpPr>
        <p:spPr>
          <a:xfrm>
            <a:off x="8668440" y="2944440"/>
            <a:ext cx="255600" cy="310680"/>
          </a:xfrm>
          <a:prstGeom prst="rightArrow">
            <a:avLst>
              <a:gd name="adj1" fmla="val 50000"/>
              <a:gd name="adj2" fmla="val 50000"/>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26" name="Shape 242"/>
          <p:cNvSpPr/>
          <p:nvPr/>
        </p:nvSpPr>
        <p:spPr>
          <a:xfrm>
            <a:off x="8952120" y="1920240"/>
            <a:ext cx="2395440" cy="2377080"/>
          </a:xfrm>
          <a:prstGeom prst="roundRect">
            <a:avLst>
              <a:gd name="adj" fmla="val 3077"/>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27" name="Shape 243"/>
          <p:cNvSpPr/>
          <p:nvPr/>
        </p:nvSpPr>
        <p:spPr>
          <a:xfrm>
            <a:off x="9226440" y="2194560"/>
            <a:ext cx="420120" cy="420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28" name="Text 132"/>
          <p:cNvSpPr/>
          <p:nvPr/>
        </p:nvSpPr>
        <p:spPr>
          <a:xfrm>
            <a:off x="9226440" y="2194560"/>
            <a:ext cx="420120" cy="420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4</a:t>
            </a:r>
            <a:endParaRPr b="0" lang="en-US" sz="1600" strike="noStrike" u="none">
              <a:solidFill>
                <a:srgbClr val="000000"/>
              </a:solidFill>
              <a:effectLst/>
              <a:uFillTx/>
              <a:latin typeface="Arial"/>
            </a:endParaRPr>
          </a:p>
        </p:txBody>
      </p:sp>
      <p:sp>
        <p:nvSpPr>
          <p:cNvPr id="1129" name="Text 133"/>
          <p:cNvSpPr/>
          <p:nvPr/>
        </p:nvSpPr>
        <p:spPr>
          <a:xfrm>
            <a:off x="9226440" y="2743200"/>
            <a:ext cx="191988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00" strike="noStrike" u="none">
                <a:solidFill>
                  <a:srgbClr val="14202b"/>
                </a:solidFill>
                <a:effectLst/>
                <a:uFillTx/>
                <a:latin typeface="Cambria"/>
                <a:ea typeface="Cambria"/>
              </a:rPr>
              <a:t>Nudge</a:t>
            </a:r>
            <a:endParaRPr b="0" lang="en-US" sz="2100" strike="noStrike" u="none">
              <a:solidFill>
                <a:srgbClr val="000000"/>
              </a:solidFill>
              <a:effectLst/>
              <a:uFillTx/>
              <a:latin typeface="Arial"/>
            </a:endParaRPr>
          </a:p>
        </p:txBody>
      </p:sp>
      <p:sp>
        <p:nvSpPr>
          <p:cNvPr id="1130" name="Text 134"/>
          <p:cNvSpPr/>
          <p:nvPr/>
        </p:nvSpPr>
        <p:spPr>
          <a:xfrm>
            <a:off x="9226440" y="3154680"/>
            <a:ext cx="191988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Move every weight a little downhill.</a:t>
            </a:r>
            <a:endParaRPr b="0" lang="en-US" sz="1400" strike="noStrike" u="none">
              <a:solidFill>
                <a:srgbClr val="000000"/>
              </a:solidFill>
              <a:effectLst/>
              <a:uFillTx/>
              <a:latin typeface="Arial"/>
            </a:endParaRPr>
          </a:p>
        </p:txBody>
      </p:sp>
      <p:sp>
        <p:nvSpPr>
          <p:cNvPr id="1131" name="Shape 244"/>
          <p:cNvSpPr/>
          <p:nvPr/>
        </p:nvSpPr>
        <p:spPr>
          <a:xfrm rot="5400000">
            <a:off x="9866520" y="4563360"/>
            <a:ext cx="566640" cy="35280"/>
          </a:xfrm>
          <a:prstGeom prst="rect">
            <a:avLst/>
          </a:prstGeom>
          <a:solidFill>
            <a:srgbClr val="c3ccd4"/>
          </a:solidFill>
          <a:ln w="0">
            <a:noFill/>
          </a:ln>
        </p:spPr>
        <p:style>
          <a:lnRef idx="0"/>
          <a:fillRef idx="0"/>
          <a:effectRef idx="0"/>
          <a:fontRef idx="minor"/>
        </p:style>
        <p:txBody>
          <a:bodyPr lIns="90000" rIns="90000" tIns="-9360" bIns="-9360" anchor="t">
            <a:noAutofit/>
          </a:bodyPr>
          <a:p>
            <a:endParaRPr b="0" lang="en-US" sz="1800" strike="noStrike" u="none">
              <a:solidFill>
                <a:srgbClr val="000000"/>
              </a:solidFill>
              <a:effectLst/>
              <a:uFillTx/>
              <a:latin typeface="Arial"/>
            </a:endParaRPr>
          </a:p>
        </p:txBody>
      </p:sp>
      <p:sp>
        <p:nvSpPr>
          <p:cNvPr id="1132" name="Shape 245"/>
          <p:cNvSpPr/>
          <p:nvPr/>
        </p:nvSpPr>
        <p:spPr>
          <a:xfrm>
            <a:off x="1837800" y="4846680"/>
            <a:ext cx="8311680" cy="35280"/>
          </a:xfrm>
          <a:prstGeom prst="rect">
            <a:avLst/>
          </a:prstGeom>
          <a:solidFill>
            <a:srgbClr val="c3ccd4"/>
          </a:solidFill>
          <a:ln w="0">
            <a:noFill/>
          </a:ln>
        </p:spPr>
        <p:style>
          <a:lnRef idx="0"/>
          <a:fillRef idx="0"/>
          <a:effectRef idx="0"/>
          <a:fontRef idx="minor"/>
        </p:style>
        <p:txBody>
          <a:bodyPr lIns="90000" rIns="90000" tIns="-9360" bIns="-9360" anchor="t">
            <a:noAutofit/>
          </a:bodyPr>
          <a:p>
            <a:endParaRPr b="0" lang="en-US" sz="1800" strike="noStrike" u="none">
              <a:solidFill>
                <a:srgbClr val="000000"/>
              </a:solidFill>
              <a:effectLst/>
              <a:uFillTx/>
              <a:latin typeface="Arial"/>
            </a:endParaRPr>
          </a:p>
        </p:txBody>
      </p:sp>
      <p:sp>
        <p:nvSpPr>
          <p:cNvPr id="1133" name="Shape 246"/>
          <p:cNvSpPr/>
          <p:nvPr/>
        </p:nvSpPr>
        <p:spPr>
          <a:xfrm rot="5400000">
            <a:off x="1655280" y="4663800"/>
            <a:ext cx="365400" cy="35280"/>
          </a:xfrm>
          <a:prstGeom prst="rect">
            <a:avLst/>
          </a:prstGeom>
          <a:solidFill>
            <a:srgbClr val="c3ccd4"/>
          </a:solidFill>
          <a:ln w="0">
            <a:noFill/>
          </a:ln>
        </p:spPr>
        <p:style>
          <a:lnRef idx="0"/>
          <a:fillRef idx="0"/>
          <a:effectRef idx="0"/>
          <a:fontRef idx="minor"/>
        </p:style>
        <p:txBody>
          <a:bodyPr lIns="90000" rIns="90000" tIns="-9360" bIns="-9360" anchor="t">
            <a:noAutofit/>
          </a:bodyPr>
          <a:p>
            <a:endParaRPr b="0" lang="en-US" sz="1800" strike="noStrike" u="none">
              <a:solidFill>
                <a:srgbClr val="000000"/>
              </a:solidFill>
              <a:effectLst/>
              <a:uFillTx/>
              <a:latin typeface="Arial"/>
            </a:endParaRPr>
          </a:p>
        </p:txBody>
      </p:sp>
      <p:sp>
        <p:nvSpPr>
          <p:cNvPr id="1134" name="Shape 247"/>
          <p:cNvSpPr/>
          <p:nvPr/>
        </p:nvSpPr>
        <p:spPr>
          <a:xfrm>
            <a:off x="1710000" y="4297680"/>
            <a:ext cx="255600" cy="209880"/>
          </a:xfrm>
          <a:prstGeom prst="triangle">
            <a:avLst>
              <a:gd name="adj" fmla="val 50000"/>
            </a:avLst>
          </a:prstGeom>
          <a:solidFill>
            <a:srgbClr val="c3ccd4"/>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35" name="Text 136"/>
          <p:cNvSpPr/>
          <p:nvPr/>
        </p:nvSpPr>
        <p:spPr>
          <a:xfrm>
            <a:off x="4114800" y="4956120"/>
            <a:ext cx="40230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1400" strike="noStrike" u="none">
                <a:solidFill>
                  <a:srgbClr val="5d6e7c"/>
                </a:solidFill>
                <a:effectLst/>
                <a:uFillTx/>
                <a:latin typeface="Calibri"/>
                <a:ea typeface="Calibri"/>
              </a:rPr>
              <a:t>repeat for thousands of passes</a:t>
            </a:r>
            <a:endParaRPr b="0" lang="en-US" sz="1400" strike="noStrike" u="none">
              <a:solidFill>
                <a:srgbClr val="000000"/>
              </a:solidFill>
              <a:effectLst/>
              <a:uFillTx/>
              <a:latin typeface="Arial"/>
            </a:endParaRPr>
          </a:p>
        </p:txBody>
      </p:sp>
      <p:sp>
        <p:nvSpPr>
          <p:cNvPr id="1136" name="Shape 248"/>
          <p:cNvSpPr/>
          <p:nvPr/>
        </p:nvSpPr>
        <p:spPr>
          <a:xfrm>
            <a:off x="640080" y="5394960"/>
            <a:ext cx="10911240" cy="868320"/>
          </a:xfrm>
          <a:prstGeom prst="roundRect">
            <a:avLst>
              <a:gd name="adj" fmla="val 8421"/>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37" name="Text 139"/>
          <p:cNvSpPr/>
          <p:nvPr/>
        </p:nvSpPr>
        <p:spPr>
          <a:xfrm>
            <a:off x="960120" y="5394960"/>
            <a:ext cx="10271160" cy="868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600" strike="noStrike" u="none">
                <a:solidFill>
                  <a:srgbClr val="5d6e7c"/>
                </a:solidFill>
                <a:effectLst/>
                <a:uFillTx/>
                <a:latin typeface="Calibri"/>
                <a:ea typeface="Calibri"/>
              </a:rPr>
              <a:t>Output of training:  </a:t>
            </a:r>
            <a:r>
              <a:rPr b="1" lang="en-US" sz="1800" strike="noStrike" u="none">
                <a:solidFill>
                  <a:srgbClr val="14202b"/>
                </a:solidFill>
                <a:effectLst/>
                <a:uFillTx/>
                <a:latin typeface="Calibri"/>
                <a:ea typeface="Calibri"/>
              </a:rPr>
              <a:t>a list of numbers.</a:t>
            </a:r>
            <a:r>
              <a:rPr b="0" lang="en-US" sz="1600" strike="noStrike" u="none">
                <a:solidFill>
                  <a:srgbClr val="5d6e7c"/>
                </a:solidFill>
                <a:effectLst/>
                <a:uFillTx/>
                <a:latin typeface="Calibri"/>
                <a:ea typeface="Calibri"/>
              </a:rPr>
              <a:t>   For our house model: four of them — w1, w2, w3, b.</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38" name="Text 142"/>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STEP 4</a:t>
            </a:r>
            <a:endParaRPr b="0" lang="en-US" sz="1200" strike="noStrike" u="none">
              <a:solidFill>
                <a:srgbClr val="000000"/>
              </a:solidFill>
              <a:effectLst/>
              <a:uFillTx/>
              <a:latin typeface="Arial"/>
            </a:endParaRPr>
          </a:p>
        </p:txBody>
      </p:sp>
      <p:sp>
        <p:nvSpPr>
          <p:cNvPr id="1139" name="Text 147"/>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Evaluate on data it has never seen</a:t>
            </a:r>
            <a:endParaRPr b="0" lang="en-US" sz="3200" strike="noStrike" u="none">
              <a:solidFill>
                <a:srgbClr val="000000"/>
              </a:solidFill>
              <a:effectLst/>
              <a:uFillTx/>
              <a:latin typeface="Arial"/>
            </a:endParaRPr>
          </a:p>
        </p:txBody>
      </p:sp>
      <p:sp>
        <p:nvSpPr>
          <p:cNvPr id="1140" name="Shape 249"/>
          <p:cNvSpPr/>
          <p:nvPr/>
        </p:nvSpPr>
        <p:spPr>
          <a:xfrm>
            <a:off x="640080" y="1737360"/>
            <a:ext cx="5266440" cy="3702960"/>
          </a:xfrm>
          <a:prstGeom prst="roundRect">
            <a:avLst>
              <a:gd name="adj" fmla="val 1975"/>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41" name="Text 148"/>
          <p:cNvSpPr/>
          <p:nvPr/>
        </p:nvSpPr>
        <p:spPr>
          <a:xfrm>
            <a:off x="987480" y="1965960"/>
            <a:ext cx="45716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trike="noStrike" u="none">
                <a:solidFill>
                  <a:srgbClr val="0e7c86"/>
                </a:solidFill>
                <a:effectLst/>
                <a:uFillTx/>
                <a:latin typeface="Cambria"/>
                <a:ea typeface="Cambria"/>
              </a:rPr>
              <a:t>Regression metrics</a:t>
            </a:r>
            <a:endParaRPr b="0" lang="en-US" sz="2200" strike="noStrike" u="none">
              <a:solidFill>
                <a:srgbClr val="000000"/>
              </a:solidFill>
              <a:effectLst/>
              <a:uFillTx/>
              <a:latin typeface="Arial"/>
            </a:endParaRPr>
          </a:p>
        </p:txBody>
      </p:sp>
      <p:sp>
        <p:nvSpPr>
          <p:cNvPr id="1142" name="Text 149"/>
          <p:cNvSpPr/>
          <p:nvPr/>
        </p:nvSpPr>
        <p:spPr>
          <a:xfrm>
            <a:off x="987480" y="2560320"/>
            <a:ext cx="45716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MAE</a:t>
            </a:r>
            <a:endParaRPr b="0" lang="en-US" sz="1650" strike="noStrike" u="none">
              <a:solidFill>
                <a:srgbClr val="000000"/>
              </a:solidFill>
              <a:effectLst/>
              <a:uFillTx/>
              <a:latin typeface="Arial"/>
            </a:endParaRPr>
          </a:p>
        </p:txBody>
      </p:sp>
      <p:sp>
        <p:nvSpPr>
          <p:cNvPr id="1143" name="Text 150"/>
          <p:cNvSpPr/>
          <p:nvPr/>
        </p:nvSpPr>
        <p:spPr>
          <a:xfrm>
            <a:off x="987480" y="2862000"/>
            <a:ext cx="457164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Average miss, in real units. "Off by $18k."</a:t>
            </a:r>
            <a:endParaRPr b="0" lang="en-US" sz="1400" strike="noStrike" u="none">
              <a:solidFill>
                <a:srgbClr val="000000"/>
              </a:solidFill>
              <a:effectLst/>
              <a:uFillTx/>
              <a:latin typeface="Arial"/>
            </a:endParaRPr>
          </a:p>
        </p:txBody>
      </p:sp>
      <p:sp>
        <p:nvSpPr>
          <p:cNvPr id="1144" name="Text 151"/>
          <p:cNvSpPr/>
          <p:nvPr/>
        </p:nvSpPr>
        <p:spPr>
          <a:xfrm>
            <a:off x="987480" y="3493080"/>
            <a:ext cx="45716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RMSE</a:t>
            </a:r>
            <a:endParaRPr b="0" lang="en-US" sz="1650" strike="noStrike" u="none">
              <a:solidFill>
                <a:srgbClr val="000000"/>
              </a:solidFill>
              <a:effectLst/>
              <a:uFillTx/>
              <a:latin typeface="Arial"/>
            </a:endParaRPr>
          </a:p>
        </p:txBody>
      </p:sp>
      <p:sp>
        <p:nvSpPr>
          <p:cNvPr id="1145" name="Text 152"/>
          <p:cNvSpPr/>
          <p:nvPr/>
        </p:nvSpPr>
        <p:spPr>
          <a:xfrm>
            <a:off x="987480" y="3794760"/>
            <a:ext cx="457164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Same idea, but big misses hurt more.</a:t>
            </a:r>
            <a:endParaRPr b="0" lang="en-US" sz="1400" strike="noStrike" u="none">
              <a:solidFill>
                <a:srgbClr val="000000"/>
              </a:solidFill>
              <a:effectLst/>
              <a:uFillTx/>
              <a:latin typeface="Arial"/>
            </a:endParaRPr>
          </a:p>
        </p:txBody>
      </p:sp>
      <p:sp>
        <p:nvSpPr>
          <p:cNvPr id="1146" name="Text 153"/>
          <p:cNvSpPr/>
          <p:nvPr/>
        </p:nvSpPr>
        <p:spPr>
          <a:xfrm>
            <a:off x="987480" y="4425840"/>
            <a:ext cx="45716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R²</a:t>
            </a:r>
            <a:endParaRPr b="0" lang="en-US" sz="1650" strike="noStrike" u="none">
              <a:solidFill>
                <a:srgbClr val="000000"/>
              </a:solidFill>
              <a:effectLst/>
              <a:uFillTx/>
              <a:latin typeface="Arial"/>
            </a:endParaRPr>
          </a:p>
        </p:txBody>
      </p:sp>
      <p:sp>
        <p:nvSpPr>
          <p:cNvPr id="1147" name="Text 154"/>
          <p:cNvSpPr/>
          <p:nvPr/>
        </p:nvSpPr>
        <p:spPr>
          <a:xfrm>
            <a:off x="987480" y="4727520"/>
            <a:ext cx="457164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Fraction of the variation explained. 1.0 is perfect.</a:t>
            </a:r>
            <a:endParaRPr b="0" lang="en-US" sz="1400" strike="noStrike" u="none">
              <a:solidFill>
                <a:srgbClr val="000000"/>
              </a:solidFill>
              <a:effectLst/>
              <a:uFillTx/>
              <a:latin typeface="Arial"/>
            </a:endParaRPr>
          </a:p>
        </p:txBody>
      </p:sp>
      <p:sp>
        <p:nvSpPr>
          <p:cNvPr id="1148" name="Shape 250"/>
          <p:cNvSpPr/>
          <p:nvPr/>
        </p:nvSpPr>
        <p:spPr>
          <a:xfrm>
            <a:off x="6282000" y="1737360"/>
            <a:ext cx="5266440" cy="3702960"/>
          </a:xfrm>
          <a:prstGeom prst="roundRect">
            <a:avLst>
              <a:gd name="adj" fmla="val 1975"/>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49" name="Text 155"/>
          <p:cNvSpPr/>
          <p:nvPr/>
        </p:nvSpPr>
        <p:spPr>
          <a:xfrm>
            <a:off x="6629400" y="1965960"/>
            <a:ext cx="45716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trike="noStrike" u="none">
                <a:solidFill>
                  <a:srgbClr val="7d4e9e"/>
                </a:solidFill>
                <a:effectLst/>
                <a:uFillTx/>
                <a:latin typeface="Cambria"/>
                <a:ea typeface="Cambria"/>
              </a:rPr>
              <a:t>Classification metrics</a:t>
            </a:r>
            <a:endParaRPr b="0" lang="en-US" sz="2200" strike="noStrike" u="none">
              <a:solidFill>
                <a:srgbClr val="000000"/>
              </a:solidFill>
              <a:effectLst/>
              <a:uFillTx/>
              <a:latin typeface="Arial"/>
            </a:endParaRPr>
          </a:p>
        </p:txBody>
      </p:sp>
      <p:sp>
        <p:nvSpPr>
          <p:cNvPr id="1150" name="Text 156"/>
          <p:cNvSpPr/>
          <p:nvPr/>
        </p:nvSpPr>
        <p:spPr>
          <a:xfrm>
            <a:off x="6629400" y="2560320"/>
            <a:ext cx="45716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Accuracy</a:t>
            </a:r>
            <a:endParaRPr b="0" lang="en-US" sz="1650" strike="noStrike" u="none">
              <a:solidFill>
                <a:srgbClr val="000000"/>
              </a:solidFill>
              <a:effectLst/>
              <a:uFillTx/>
              <a:latin typeface="Arial"/>
            </a:endParaRPr>
          </a:p>
        </p:txBody>
      </p:sp>
      <p:sp>
        <p:nvSpPr>
          <p:cNvPr id="1151" name="Text 157"/>
          <p:cNvSpPr/>
          <p:nvPr/>
        </p:nvSpPr>
        <p:spPr>
          <a:xfrm>
            <a:off x="6629400" y="2862000"/>
            <a:ext cx="457164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Percent correct. Lies when classes are lopsided.</a:t>
            </a:r>
            <a:endParaRPr b="0" lang="en-US" sz="1400" strike="noStrike" u="none">
              <a:solidFill>
                <a:srgbClr val="000000"/>
              </a:solidFill>
              <a:effectLst/>
              <a:uFillTx/>
              <a:latin typeface="Arial"/>
            </a:endParaRPr>
          </a:p>
        </p:txBody>
      </p:sp>
      <p:sp>
        <p:nvSpPr>
          <p:cNvPr id="1152" name="Text 158"/>
          <p:cNvSpPr/>
          <p:nvPr/>
        </p:nvSpPr>
        <p:spPr>
          <a:xfrm>
            <a:off x="6629400" y="3493080"/>
            <a:ext cx="45716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Precision / Recall</a:t>
            </a:r>
            <a:endParaRPr b="0" lang="en-US" sz="1650" strike="noStrike" u="none">
              <a:solidFill>
                <a:srgbClr val="000000"/>
              </a:solidFill>
              <a:effectLst/>
              <a:uFillTx/>
              <a:latin typeface="Arial"/>
            </a:endParaRPr>
          </a:p>
        </p:txBody>
      </p:sp>
      <p:sp>
        <p:nvSpPr>
          <p:cNvPr id="1153" name="Text 159"/>
          <p:cNvSpPr/>
          <p:nvPr/>
        </p:nvSpPr>
        <p:spPr>
          <a:xfrm>
            <a:off x="6629400" y="3794760"/>
            <a:ext cx="457164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Of the ones you flagged, how many were right — and how many did you miss?</a:t>
            </a:r>
            <a:endParaRPr b="0" lang="en-US" sz="1400" strike="noStrike" u="none">
              <a:solidFill>
                <a:srgbClr val="000000"/>
              </a:solidFill>
              <a:effectLst/>
              <a:uFillTx/>
              <a:latin typeface="Arial"/>
            </a:endParaRPr>
          </a:p>
        </p:txBody>
      </p:sp>
      <p:sp>
        <p:nvSpPr>
          <p:cNvPr id="1154" name="Text 160"/>
          <p:cNvSpPr/>
          <p:nvPr/>
        </p:nvSpPr>
        <p:spPr>
          <a:xfrm>
            <a:off x="6629400" y="4425840"/>
            <a:ext cx="45716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Confusion matrix</a:t>
            </a:r>
            <a:endParaRPr b="0" lang="en-US" sz="1650" strike="noStrike" u="none">
              <a:solidFill>
                <a:srgbClr val="000000"/>
              </a:solidFill>
              <a:effectLst/>
              <a:uFillTx/>
              <a:latin typeface="Arial"/>
            </a:endParaRPr>
          </a:p>
        </p:txBody>
      </p:sp>
      <p:sp>
        <p:nvSpPr>
          <p:cNvPr id="1155" name="Text 161"/>
          <p:cNvSpPr/>
          <p:nvPr/>
        </p:nvSpPr>
        <p:spPr>
          <a:xfrm>
            <a:off x="6629400" y="4727520"/>
            <a:ext cx="457164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The raw counts. Always look at this.</a:t>
            </a:r>
            <a:endParaRPr b="0" lang="en-US" sz="1400" strike="noStrike" u="none">
              <a:solidFill>
                <a:srgbClr val="000000"/>
              </a:solidFill>
              <a:effectLst/>
              <a:uFillTx/>
              <a:latin typeface="Arial"/>
            </a:endParaRPr>
          </a:p>
        </p:txBody>
      </p:sp>
      <p:sp>
        <p:nvSpPr>
          <p:cNvPr id="1156" name="Shape 251"/>
          <p:cNvSpPr/>
          <p:nvPr/>
        </p:nvSpPr>
        <p:spPr>
          <a:xfrm>
            <a:off x="640080" y="5577840"/>
            <a:ext cx="10911240" cy="822600"/>
          </a:xfrm>
          <a:prstGeom prst="roundRect">
            <a:avLst>
              <a:gd name="adj" fmla="val 8889"/>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57" name="Text 162"/>
          <p:cNvSpPr/>
          <p:nvPr/>
        </p:nvSpPr>
        <p:spPr>
          <a:xfrm>
            <a:off x="960120" y="5577840"/>
            <a:ext cx="1027116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ff6b35"/>
                </a:solidFill>
                <a:effectLst/>
                <a:uFillTx/>
                <a:latin typeface="Calibri"/>
                <a:ea typeface="Calibri"/>
              </a:rPr>
              <a:t>Compare against a dumb baseline. </a:t>
            </a:r>
            <a:r>
              <a:rPr b="0" lang="en-US" sz="1600" strike="noStrike" u="none">
                <a:solidFill>
                  <a:srgbClr val="d6e0e8"/>
                </a:solidFill>
                <a:effectLst/>
                <a:uFillTx/>
                <a:latin typeface="Calibri"/>
                <a:ea typeface="Calibri"/>
              </a:rPr>
              <a:t>Always predicting the average price is a model too. If yours cannot beat that, it is not working.</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58" name="Text 163"/>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THE FAILURE MODE</a:t>
            </a:r>
            <a:endParaRPr b="0" lang="en-US" sz="1200" strike="noStrike" u="none">
              <a:solidFill>
                <a:srgbClr val="000000"/>
              </a:solidFill>
              <a:effectLst/>
              <a:uFillTx/>
              <a:latin typeface="Arial"/>
            </a:endParaRPr>
          </a:p>
        </p:txBody>
      </p:sp>
      <p:sp>
        <p:nvSpPr>
          <p:cNvPr id="1159" name="Text 164"/>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Underfitting and overfitting</a:t>
            </a:r>
            <a:endParaRPr b="0" lang="en-US" sz="3200" strike="noStrike" u="none">
              <a:solidFill>
                <a:srgbClr val="000000"/>
              </a:solidFill>
              <a:effectLst/>
              <a:uFillTx/>
              <a:latin typeface="Arial"/>
            </a:endParaRPr>
          </a:p>
        </p:txBody>
      </p:sp>
      <p:sp>
        <p:nvSpPr>
          <p:cNvPr id="1160" name="Text 165"/>
          <p:cNvSpPr/>
          <p:nvPr/>
        </p:nvSpPr>
        <p:spPr>
          <a:xfrm>
            <a:off x="640080" y="1645920"/>
            <a:ext cx="342864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100" strike="noStrike" u="none">
                <a:solidFill>
                  <a:srgbClr val="c0392b"/>
                </a:solidFill>
                <a:effectLst/>
                <a:uFillTx/>
                <a:latin typeface="Cambria"/>
                <a:ea typeface="Cambria"/>
              </a:rPr>
              <a:t>Underfit</a:t>
            </a:r>
            <a:endParaRPr b="0" lang="en-US" sz="2100" strike="noStrike" u="none">
              <a:solidFill>
                <a:srgbClr val="000000"/>
              </a:solidFill>
              <a:effectLst/>
              <a:uFillTx/>
              <a:latin typeface="Arial"/>
            </a:endParaRPr>
          </a:p>
        </p:txBody>
      </p:sp>
      <p:sp>
        <p:nvSpPr>
          <p:cNvPr id="1161" name="Shape 252"/>
          <p:cNvSpPr/>
          <p:nvPr/>
        </p:nvSpPr>
        <p:spPr>
          <a:xfrm>
            <a:off x="896040" y="4784040"/>
            <a:ext cx="301716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162" name="Shape 253"/>
          <p:cNvSpPr/>
          <p:nvPr/>
        </p:nvSpPr>
        <p:spPr>
          <a:xfrm rot="5400000">
            <a:off x="-452160" y="3435480"/>
            <a:ext cx="269712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163" name="Shape 254"/>
          <p:cNvSpPr/>
          <p:nvPr/>
        </p:nvSpPr>
        <p:spPr>
          <a:xfrm>
            <a:off x="1119600" y="3408840"/>
            <a:ext cx="279000" cy="47160"/>
          </a:xfrm>
          <a:prstGeom prst="rect">
            <a:avLst/>
          </a:prstGeom>
          <a:solidFill>
            <a:srgbClr val="c0392b"/>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64" name="Shape 255"/>
          <p:cNvSpPr/>
          <p:nvPr/>
        </p:nvSpPr>
        <p:spPr>
          <a:xfrm>
            <a:off x="1398960" y="3408840"/>
            <a:ext cx="279000" cy="47160"/>
          </a:xfrm>
          <a:prstGeom prst="rect">
            <a:avLst/>
          </a:prstGeom>
          <a:solidFill>
            <a:srgbClr val="c0392b"/>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65" name="Shape 256"/>
          <p:cNvSpPr/>
          <p:nvPr/>
        </p:nvSpPr>
        <p:spPr>
          <a:xfrm>
            <a:off x="1678320" y="3408840"/>
            <a:ext cx="279000" cy="47160"/>
          </a:xfrm>
          <a:prstGeom prst="rect">
            <a:avLst/>
          </a:prstGeom>
          <a:solidFill>
            <a:srgbClr val="c0392b"/>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66" name="Shape 257"/>
          <p:cNvSpPr/>
          <p:nvPr/>
        </p:nvSpPr>
        <p:spPr>
          <a:xfrm>
            <a:off x="1957680" y="3408840"/>
            <a:ext cx="279000" cy="47160"/>
          </a:xfrm>
          <a:prstGeom prst="rect">
            <a:avLst/>
          </a:prstGeom>
          <a:solidFill>
            <a:srgbClr val="c0392b"/>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67" name="Shape 258"/>
          <p:cNvSpPr/>
          <p:nvPr/>
        </p:nvSpPr>
        <p:spPr>
          <a:xfrm>
            <a:off x="2237400" y="3408840"/>
            <a:ext cx="279000" cy="47160"/>
          </a:xfrm>
          <a:prstGeom prst="rect">
            <a:avLst/>
          </a:prstGeom>
          <a:solidFill>
            <a:srgbClr val="c0392b"/>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68" name="Shape 259"/>
          <p:cNvSpPr/>
          <p:nvPr/>
        </p:nvSpPr>
        <p:spPr>
          <a:xfrm>
            <a:off x="2516760" y="3408840"/>
            <a:ext cx="279000" cy="47160"/>
          </a:xfrm>
          <a:prstGeom prst="rect">
            <a:avLst/>
          </a:prstGeom>
          <a:solidFill>
            <a:srgbClr val="c0392b"/>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69" name="Shape 260"/>
          <p:cNvSpPr/>
          <p:nvPr/>
        </p:nvSpPr>
        <p:spPr>
          <a:xfrm>
            <a:off x="2796120" y="3408840"/>
            <a:ext cx="279000" cy="47160"/>
          </a:xfrm>
          <a:prstGeom prst="rect">
            <a:avLst/>
          </a:prstGeom>
          <a:solidFill>
            <a:srgbClr val="c0392b"/>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70" name="Shape 261"/>
          <p:cNvSpPr/>
          <p:nvPr/>
        </p:nvSpPr>
        <p:spPr>
          <a:xfrm>
            <a:off x="3075480" y="3408840"/>
            <a:ext cx="279000" cy="47160"/>
          </a:xfrm>
          <a:prstGeom prst="rect">
            <a:avLst/>
          </a:prstGeom>
          <a:solidFill>
            <a:srgbClr val="c0392b"/>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71" name="Shape 262"/>
          <p:cNvSpPr/>
          <p:nvPr/>
        </p:nvSpPr>
        <p:spPr>
          <a:xfrm>
            <a:off x="3354840" y="3408840"/>
            <a:ext cx="279000" cy="47160"/>
          </a:xfrm>
          <a:prstGeom prst="rect">
            <a:avLst/>
          </a:prstGeom>
          <a:solidFill>
            <a:srgbClr val="c0392b"/>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72" name="Shape 263"/>
          <p:cNvSpPr/>
          <p:nvPr/>
        </p:nvSpPr>
        <p:spPr>
          <a:xfrm>
            <a:off x="1051200" y="43081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73" name="Shape 264"/>
          <p:cNvSpPr/>
          <p:nvPr/>
        </p:nvSpPr>
        <p:spPr>
          <a:xfrm>
            <a:off x="1330560" y="38070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74" name="Shape 265"/>
          <p:cNvSpPr/>
          <p:nvPr/>
        </p:nvSpPr>
        <p:spPr>
          <a:xfrm>
            <a:off x="1609920" y="396144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75" name="Shape 266"/>
          <p:cNvSpPr/>
          <p:nvPr/>
        </p:nvSpPr>
        <p:spPr>
          <a:xfrm>
            <a:off x="1889280" y="34603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76" name="Shape 267"/>
          <p:cNvSpPr/>
          <p:nvPr/>
        </p:nvSpPr>
        <p:spPr>
          <a:xfrm>
            <a:off x="2168640" y="357588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77" name="Shape 268"/>
          <p:cNvSpPr/>
          <p:nvPr/>
        </p:nvSpPr>
        <p:spPr>
          <a:xfrm>
            <a:off x="2448000" y="30751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78" name="Shape 269"/>
          <p:cNvSpPr/>
          <p:nvPr/>
        </p:nvSpPr>
        <p:spPr>
          <a:xfrm>
            <a:off x="2727360" y="32292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79" name="Shape 270"/>
          <p:cNvSpPr/>
          <p:nvPr/>
        </p:nvSpPr>
        <p:spPr>
          <a:xfrm>
            <a:off x="3006720" y="272808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80" name="Shape 271"/>
          <p:cNvSpPr/>
          <p:nvPr/>
        </p:nvSpPr>
        <p:spPr>
          <a:xfrm>
            <a:off x="3286080" y="288216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81" name="Shape 272"/>
          <p:cNvSpPr/>
          <p:nvPr/>
        </p:nvSpPr>
        <p:spPr>
          <a:xfrm>
            <a:off x="3565800" y="24199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82" name="Text 166"/>
          <p:cNvSpPr/>
          <p:nvPr/>
        </p:nvSpPr>
        <p:spPr>
          <a:xfrm>
            <a:off x="640080" y="4983480"/>
            <a:ext cx="3428640" cy="639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450" strike="noStrike" u="none">
                <a:solidFill>
                  <a:srgbClr val="5d6e7c"/>
                </a:solidFill>
                <a:effectLst/>
                <a:uFillTx/>
                <a:latin typeface="Calibri"/>
                <a:ea typeface="Calibri"/>
              </a:rPr>
              <a:t>Too rigid. Misses the pattern.</a:t>
            </a:r>
            <a:endParaRPr b="0" lang="en-US" sz="1450" strike="noStrike" u="none">
              <a:solidFill>
                <a:srgbClr val="000000"/>
              </a:solidFill>
              <a:effectLst/>
              <a:uFillTx/>
              <a:latin typeface="Arial"/>
            </a:endParaRPr>
          </a:p>
        </p:txBody>
      </p:sp>
      <p:sp>
        <p:nvSpPr>
          <p:cNvPr id="1183" name="Text 167"/>
          <p:cNvSpPr/>
          <p:nvPr/>
        </p:nvSpPr>
        <p:spPr>
          <a:xfrm>
            <a:off x="4370760" y="1645920"/>
            <a:ext cx="342864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100" strike="noStrike" u="none">
                <a:solidFill>
                  <a:srgbClr val="0e7c86"/>
                </a:solidFill>
                <a:effectLst/>
                <a:uFillTx/>
                <a:latin typeface="Cambria"/>
                <a:ea typeface="Cambria"/>
              </a:rPr>
              <a:t>Good fit</a:t>
            </a:r>
            <a:endParaRPr b="0" lang="en-US" sz="2100" strike="noStrike" u="none">
              <a:solidFill>
                <a:srgbClr val="000000"/>
              </a:solidFill>
              <a:effectLst/>
              <a:uFillTx/>
              <a:latin typeface="Arial"/>
            </a:endParaRPr>
          </a:p>
        </p:txBody>
      </p:sp>
      <p:sp>
        <p:nvSpPr>
          <p:cNvPr id="1184" name="Shape 273"/>
          <p:cNvSpPr/>
          <p:nvPr/>
        </p:nvSpPr>
        <p:spPr>
          <a:xfrm>
            <a:off x="4626720" y="4784040"/>
            <a:ext cx="301716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185" name="Shape 274"/>
          <p:cNvSpPr/>
          <p:nvPr/>
        </p:nvSpPr>
        <p:spPr>
          <a:xfrm rot="5400000">
            <a:off x="3278520" y="3435480"/>
            <a:ext cx="269712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186" name="Shape 275"/>
          <p:cNvSpPr/>
          <p:nvPr/>
        </p:nvSpPr>
        <p:spPr>
          <a:xfrm rot="19493400">
            <a:off x="4818960" y="4174560"/>
            <a:ext cx="341280" cy="47160"/>
          </a:xfrm>
          <a:prstGeom prst="rect">
            <a:avLst/>
          </a:prstGeom>
          <a:solidFill>
            <a:srgbClr val="0e7c86"/>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87" name="Shape 276"/>
          <p:cNvSpPr/>
          <p:nvPr/>
        </p:nvSpPr>
        <p:spPr>
          <a:xfrm rot="19493400">
            <a:off x="5098320" y="3978000"/>
            <a:ext cx="341280" cy="47160"/>
          </a:xfrm>
          <a:prstGeom prst="rect">
            <a:avLst/>
          </a:prstGeom>
          <a:solidFill>
            <a:srgbClr val="0e7c86"/>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88" name="Shape 277"/>
          <p:cNvSpPr/>
          <p:nvPr/>
        </p:nvSpPr>
        <p:spPr>
          <a:xfrm rot="19493400">
            <a:off x="5378040" y="3781440"/>
            <a:ext cx="341280" cy="47160"/>
          </a:xfrm>
          <a:prstGeom prst="rect">
            <a:avLst/>
          </a:prstGeom>
          <a:solidFill>
            <a:srgbClr val="0e7c86"/>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89" name="Shape 278"/>
          <p:cNvSpPr/>
          <p:nvPr/>
        </p:nvSpPr>
        <p:spPr>
          <a:xfrm rot="19493400">
            <a:off x="5657400" y="3584880"/>
            <a:ext cx="341280" cy="47160"/>
          </a:xfrm>
          <a:prstGeom prst="rect">
            <a:avLst/>
          </a:prstGeom>
          <a:solidFill>
            <a:srgbClr val="0e7c86"/>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90" name="Shape 279"/>
          <p:cNvSpPr/>
          <p:nvPr/>
        </p:nvSpPr>
        <p:spPr>
          <a:xfrm rot="19493400">
            <a:off x="5936760" y="3388320"/>
            <a:ext cx="341280" cy="47160"/>
          </a:xfrm>
          <a:prstGeom prst="rect">
            <a:avLst/>
          </a:prstGeom>
          <a:solidFill>
            <a:srgbClr val="0e7c86"/>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91" name="Shape 280"/>
          <p:cNvSpPr/>
          <p:nvPr/>
        </p:nvSpPr>
        <p:spPr>
          <a:xfrm rot="19493400">
            <a:off x="6216120" y="3191760"/>
            <a:ext cx="341280" cy="47160"/>
          </a:xfrm>
          <a:prstGeom prst="rect">
            <a:avLst/>
          </a:prstGeom>
          <a:solidFill>
            <a:srgbClr val="0e7c86"/>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92" name="Shape 281"/>
          <p:cNvSpPr/>
          <p:nvPr/>
        </p:nvSpPr>
        <p:spPr>
          <a:xfrm rot="19493400">
            <a:off x="6495480" y="2995200"/>
            <a:ext cx="341280" cy="47160"/>
          </a:xfrm>
          <a:prstGeom prst="rect">
            <a:avLst/>
          </a:prstGeom>
          <a:solidFill>
            <a:srgbClr val="0e7c86"/>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93" name="Shape 282"/>
          <p:cNvSpPr/>
          <p:nvPr/>
        </p:nvSpPr>
        <p:spPr>
          <a:xfrm rot="19493400">
            <a:off x="6774840" y="2799000"/>
            <a:ext cx="341280" cy="47160"/>
          </a:xfrm>
          <a:prstGeom prst="rect">
            <a:avLst/>
          </a:prstGeom>
          <a:solidFill>
            <a:srgbClr val="0e7c86"/>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94" name="Shape 283"/>
          <p:cNvSpPr/>
          <p:nvPr/>
        </p:nvSpPr>
        <p:spPr>
          <a:xfrm rot="19493400">
            <a:off x="7054200" y="2602440"/>
            <a:ext cx="341280" cy="47160"/>
          </a:xfrm>
          <a:prstGeom prst="rect">
            <a:avLst/>
          </a:prstGeom>
          <a:solidFill>
            <a:srgbClr val="0e7c86"/>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195" name="Shape 284"/>
          <p:cNvSpPr/>
          <p:nvPr/>
        </p:nvSpPr>
        <p:spPr>
          <a:xfrm>
            <a:off x="4781880" y="43081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96" name="Shape 285"/>
          <p:cNvSpPr/>
          <p:nvPr/>
        </p:nvSpPr>
        <p:spPr>
          <a:xfrm>
            <a:off x="5061240" y="38070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97" name="Shape 286"/>
          <p:cNvSpPr/>
          <p:nvPr/>
        </p:nvSpPr>
        <p:spPr>
          <a:xfrm>
            <a:off x="5340600" y="396144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98" name="Shape 287"/>
          <p:cNvSpPr/>
          <p:nvPr/>
        </p:nvSpPr>
        <p:spPr>
          <a:xfrm>
            <a:off x="5619960" y="34603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99" name="Shape 288"/>
          <p:cNvSpPr/>
          <p:nvPr/>
        </p:nvSpPr>
        <p:spPr>
          <a:xfrm>
            <a:off x="5899320" y="357588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00" name="Shape 289"/>
          <p:cNvSpPr/>
          <p:nvPr/>
        </p:nvSpPr>
        <p:spPr>
          <a:xfrm>
            <a:off x="6178680" y="30751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01" name="Shape 290"/>
          <p:cNvSpPr/>
          <p:nvPr/>
        </p:nvSpPr>
        <p:spPr>
          <a:xfrm>
            <a:off x="6458040" y="32292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02" name="Shape 291"/>
          <p:cNvSpPr/>
          <p:nvPr/>
        </p:nvSpPr>
        <p:spPr>
          <a:xfrm>
            <a:off x="6737760" y="272808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03" name="Shape 292"/>
          <p:cNvSpPr/>
          <p:nvPr/>
        </p:nvSpPr>
        <p:spPr>
          <a:xfrm>
            <a:off x="7017120" y="288216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04" name="Shape 293"/>
          <p:cNvSpPr/>
          <p:nvPr/>
        </p:nvSpPr>
        <p:spPr>
          <a:xfrm>
            <a:off x="7296480" y="24199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05" name="Text 168"/>
          <p:cNvSpPr/>
          <p:nvPr/>
        </p:nvSpPr>
        <p:spPr>
          <a:xfrm>
            <a:off x="4370760" y="4983480"/>
            <a:ext cx="3428640" cy="639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450" strike="noStrike" u="none">
                <a:solidFill>
                  <a:srgbClr val="5d6e7c"/>
                </a:solidFill>
                <a:effectLst/>
                <a:uFillTx/>
                <a:latin typeface="Calibri"/>
                <a:ea typeface="Calibri"/>
              </a:rPr>
              <a:t>Catches the trend, ignores the noise.</a:t>
            </a:r>
            <a:endParaRPr b="0" lang="en-US" sz="1450" strike="noStrike" u="none">
              <a:solidFill>
                <a:srgbClr val="000000"/>
              </a:solidFill>
              <a:effectLst/>
              <a:uFillTx/>
              <a:latin typeface="Arial"/>
            </a:endParaRPr>
          </a:p>
        </p:txBody>
      </p:sp>
      <p:sp>
        <p:nvSpPr>
          <p:cNvPr id="1206" name="Text 169"/>
          <p:cNvSpPr/>
          <p:nvPr/>
        </p:nvSpPr>
        <p:spPr>
          <a:xfrm>
            <a:off x="8101440" y="1645920"/>
            <a:ext cx="342864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100" strike="noStrike" u="none">
                <a:solidFill>
                  <a:srgbClr val="ff6b35"/>
                </a:solidFill>
                <a:effectLst/>
                <a:uFillTx/>
                <a:latin typeface="Cambria"/>
                <a:ea typeface="Cambria"/>
              </a:rPr>
              <a:t>Overfit</a:t>
            </a:r>
            <a:endParaRPr b="0" lang="en-US" sz="2100" strike="noStrike" u="none">
              <a:solidFill>
                <a:srgbClr val="000000"/>
              </a:solidFill>
              <a:effectLst/>
              <a:uFillTx/>
              <a:latin typeface="Arial"/>
            </a:endParaRPr>
          </a:p>
        </p:txBody>
      </p:sp>
      <p:sp>
        <p:nvSpPr>
          <p:cNvPr id="1207" name="Shape 294"/>
          <p:cNvSpPr/>
          <p:nvPr/>
        </p:nvSpPr>
        <p:spPr>
          <a:xfrm>
            <a:off x="8357760" y="4784040"/>
            <a:ext cx="301716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208" name="Shape 295"/>
          <p:cNvSpPr/>
          <p:nvPr/>
        </p:nvSpPr>
        <p:spPr>
          <a:xfrm rot="5400000">
            <a:off x="7009200" y="3435480"/>
            <a:ext cx="269712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209" name="Shape 296"/>
          <p:cNvSpPr/>
          <p:nvPr/>
        </p:nvSpPr>
        <p:spPr>
          <a:xfrm rot="17949000">
            <a:off x="8433720" y="4102560"/>
            <a:ext cx="573120" cy="47160"/>
          </a:xfrm>
          <a:prstGeom prst="rect">
            <a:avLst/>
          </a:prstGeom>
          <a:solidFill>
            <a:srgbClr val="ff6b35"/>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210" name="Shape 297"/>
          <p:cNvSpPr/>
          <p:nvPr/>
        </p:nvSpPr>
        <p:spPr>
          <a:xfrm rot="1732800">
            <a:off x="8840520" y="3928680"/>
            <a:ext cx="318600" cy="47160"/>
          </a:xfrm>
          <a:prstGeom prst="rect">
            <a:avLst/>
          </a:prstGeom>
          <a:solidFill>
            <a:srgbClr val="ff6b35"/>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211" name="Shape 298"/>
          <p:cNvSpPr/>
          <p:nvPr/>
        </p:nvSpPr>
        <p:spPr>
          <a:xfrm rot="17949000">
            <a:off x="8992440" y="3755880"/>
            <a:ext cx="573120" cy="47160"/>
          </a:xfrm>
          <a:prstGeom prst="rect">
            <a:avLst/>
          </a:prstGeom>
          <a:solidFill>
            <a:srgbClr val="ff6b35"/>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212" name="Shape 299"/>
          <p:cNvSpPr/>
          <p:nvPr/>
        </p:nvSpPr>
        <p:spPr>
          <a:xfrm rot="1348800">
            <a:off x="9407880" y="3562920"/>
            <a:ext cx="302040" cy="47160"/>
          </a:xfrm>
          <a:prstGeom prst="rect">
            <a:avLst/>
          </a:prstGeom>
          <a:solidFill>
            <a:srgbClr val="ff6b35"/>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213" name="Shape 300"/>
          <p:cNvSpPr/>
          <p:nvPr/>
        </p:nvSpPr>
        <p:spPr>
          <a:xfrm rot="17949000">
            <a:off x="9551160" y="3370680"/>
            <a:ext cx="573120" cy="47160"/>
          </a:xfrm>
          <a:prstGeom prst="rect">
            <a:avLst/>
          </a:prstGeom>
          <a:solidFill>
            <a:srgbClr val="ff6b35"/>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214" name="Shape 301"/>
          <p:cNvSpPr/>
          <p:nvPr/>
        </p:nvSpPr>
        <p:spPr>
          <a:xfrm rot="1732800">
            <a:off x="9958320" y="3196440"/>
            <a:ext cx="318600" cy="47160"/>
          </a:xfrm>
          <a:prstGeom prst="rect">
            <a:avLst/>
          </a:prstGeom>
          <a:solidFill>
            <a:srgbClr val="ff6b35"/>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215" name="Shape 302"/>
          <p:cNvSpPr/>
          <p:nvPr/>
        </p:nvSpPr>
        <p:spPr>
          <a:xfrm rot="17949000">
            <a:off x="10110240" y="3023640"/>
            <a:ext cx="573120" cy="47160"/>
          </a:xfrm>
          <a:prstGeom prst="rect">
            <a:avLst/>
          </a:prstGeom>
          <a:solidFill>
            <a:srgbClr val="ff6b35"/>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216" name="Shape 303"/>
          <p:cNvSpPr/>
          <p:nvPr/>
        </p:nvSpPr>
        <p:spPr>
          <a:xfrm rot="1732800">
            <a:off x="10517040" y="2849760"/>
            <a:ext cx="318600" cy="47160"/>
          </a:xfrm>
          <a:prstGeom prst="rect">
            <a:avLst/>
          </a:prstGeom>
          <a:solidFill>
            <a:srgbClr val="ff6b35"/>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217" name="Shape 304"/>
          <p:cNvSpPr/>
          <p:nvPr/>
        </p:nvSpPr>
        <p:spPr>
          <a:xfrm rot="18068400">
            <a:off x="10685520" y="2696040"/>
            <a:ext cx="540000" cy="47160"/>
          </a:xfrm>
          <a:prstGeom prst="rect">
            <a:avLst/>
          </a:prstGeom>
          <a:solidFill>
            <a:srgbClr val="ff6b35"/>
          </a:solidFill>
          <a:ln w="0">
            <a:noFill/>
          </a:ln>
        </p:spPr>
        <p:style>
          <a:lnRef idx="0"/>
          <a:fillRef idx="0"/>
          <a:effectRef idx="0"/>
          <a:fontRef idx="minor"/>
        </p:style>
        <p:txBody>
          <a:bodyPr lIns="90000" rIns="90000" tIns="2520" bIns="2520" anchor="t">
            <a:noAutofit/>
          </a:bodyPr>
          <a:p>
            <a:endParaRPr b="0" lang="en-US" sz="1800" strike="noStrike" u="none">
              <a:solidFill>
                <a:srgbClr val="ffffff"/>
              </a:solidFill>
              <a:effectLst/>
              <a:uFillTx/>
              <a:latin typeface="Arial"/>
            </a:endParaRPr>
          </a:p>
        </p:txBody>
      </p:sp>
      <p:sp>
        <p:nvSpPr>
          <p:cNvPr id="1218" name="Shape 305"/>
          <p:cNvSpPr/>
          <p:nvPr/>
        </p:nvSpPr>
        <p:spPr>
          <a:xfrm>
            <a:off x="8512560" y="43081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19" name="Shape 306"/>
          <p:cNvSpPr/>
          <p:nvPr/>
        </p:nvSpPr>
        <p:spPr>
          <a:xfrm>
            <a:off x="8791920" y="38070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20" name="Shape 307"/>
          <p:cNvSpPr/>
          <p:nvPr/>
        </p:nvSpPr>
        <p:spPr>
          <a:xfrm>
            <a:off x="9071280" y="396144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21" name="Shape 308"/>
          <p:cNvSpPr/>
          <p:nvPr/>
        </p:nvSpPr>
        <p:spPr>
          <a:xfrm>
            <a:off x="9350640" y="34603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22" name="Shape 309"/>
          <p:cNvSpPr/>
          <p:nvPr/>
        </p:nvSpPr>
        <p:spPr>
          <a:xfrm>
            <a:off x="9630000" y="357588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23" name="Shape 310"/>
          <p:cNvSpPr/>
          <p:nvPr/>
        </p:nvSpPr>
        <p:spPr>
          <a:xfrm>
            <a:off x="9909720" y="30751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24" name="Shape 311"/>
          <p:cNvSpPr/>
          <p:nvPr/>
        </p:nvSpPr>
        <p:spPr>
          <a:xfrm>
            <a:off x="10189080" y="322920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25" name="Shape 312"/>
          <p:cNvSpPr/>
          <p:nvPr/>
        </p:nvSpPr>
        <p:spPr>
          <a:xfrm>
            <a:off x="10468440" y="272808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26" name="Shape 313"/>
          <p:cNvSpPr/>
          <p:nvPr/>
        </p:nvSpPr>
        <p:spPr>
          <a:xfrm>
            <a:off x="10747800" y="288216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27" name="Shape 314"/>
          <p:cNvSpPr/>
          <p:nvPr/>
        </p:nvSpPr>
        <p:spPr>
          <a:xfrm>
            <a:off x="11027160" y="2419920"/>
            <a:ext cx="136800" cy="13680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28" name="Text 170"/>
          <p:cNvSpPr/>
          <p:nvPr/>
        </p:nvSpPr>
        <p:spPr>
          <a:xfrm>
            <a:off x="8101440" y="4983480"/>
            <a:ext cx="3428640" cy="639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450" strike="noStrike" u="none">
                <a:solidFill>
                  <a:srgbClr val="5d6e7c"/>
                </a:solidFill>
                <a:effectLst/>
                <a:uFillTx/>
                <a:latin typeface="Calibri"/>
                <a:ea typeface="Calibri"/>
              </a:rPr>
              <a:t>Traces every point, including the noise.</a:t>
            </a:r>
            <a:endParaRPr b="0" lang="en-US" sz="1450" strike="noStrike" u="none">
              <a:solidFill>
                <a:srgbClr val="000000"/>
              </a:solidFill>
              <a:effectLst/>
              <a:uFillTx/>
              <a:latin typeface="Arial"/>
            </a:endParaRPr>
          </a:p>
        </p:txBody>
      </p:sp>
      <p:sp>
        <p:nvSpPr>
          <p:cNvPr id="1229" name="Shape 315"/>
          <p:cNvSpPr/>
          <p:nvPr/>
        </p:nvSpPr>
        <p:spPr>
          <a:xfrm>
            <a:off x="640080" y="5715000"/>
            <a:ext cx="10911240" cy="731160"/>
          </a:xfrm>
          <a:prstGeom prst="roundRect">
            <a:avLst>
              <a:gd name="adj" fmla="val 10000"/>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30" name="Text 171"/>
          <p:cNvSpPr/>
          <p:nvPr/>
        </p:nvSpPr>
        <p:spPr>
          <a:xfrm>
            <a:off x="960120" y="5715000"/>
            <a:ext cx="1027116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25323d"/>
                </a:solidFill>
                <a:effectLst/>
                <a:uFillTx/>
                <a:latin typeface="Calibri"/>
                <a:ea typeface="Calibri"/>
              </a:rPr>
              <a:t>The test set is how you tell these apart. Overfitting looks perfect on training data — that is exactly what makes it dangerous.</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31" name="Text 172"/>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STEP 5</a:t>
            </a:r>
            <a:endParaRPr b="0" lang="en-US" sz="1200" strike="noStrike" u="none">
              <a:solidFill>
                <a:srgbClr val="000000"/>
              </a:solidFill>
              <a:effectLst/>
              <a:uFillTx/>
              <a:latin typeface="Arial"/>
            </a:endParaRPr>
          </a:p>
        </p:txBody>
      </p:sp>
      <p:sp>
        <p:nvSpPr>
          <p:cNvPr id="1232" name="Text 173"/>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Inference: actually using the thing</a:t>
            </a:r>
            <a:endParaRPr b="0" lang="en-US" sz="3200" strike="noStrike" u="none">
              <a:solidFill>
                <a:srgbClr val="000000"/>
              </a:solidFill>
              <a:effectLst/>
              <a:uFillTx/>
              <a:latin typeface="Arial"/>
            </a:endParaRPr>
          </a:p>
        </p:txBody>
      </p:sp>
      <p:sp>
        <p:nvSpPr>
          <p:cNvPr id="1233" name="Shape 316"/>
          <p:cNvSpPr/>
          <p:nvPr/>
        </p:nvSpPr>
        <p:spPr>
          <a:xfrm>
            <a:off x="640080" y="1920240"/>
            <a:ext cx="3200040" cy="2651400"/>
          </a:xfrm>
          <a:prstGeom prst="roundRect">
            <a:avLst>
              <a:gd name="adj" fmla="val 3448"/>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34" name="Text 174"/>
          <p:cNvSpPr/>
          <p:nvPr/>
        </p:nvSpPr>
        <p:spPr>
          <a:xfrm>
            <a:off x="914400" y="2148840"/>
            <a:ext cx="265140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5d6e7c"/>
                </a:solidFill>
                <a:effectLst/>
                <a:uFillTx/>
                <a:latin typeface="Calibri"/>
                <a:ea typeface="Calibri"/>
              </a:rPr>
              <a:t>New input</a:t>
            </a:r>
            <a:endParaRPr b="0" lang="en-US" sz="1500" strike="noStrike" u="none">
              <a:solidFill>
                <a:srgbClr val="000000"/>
              </a:solidFill>
              <a:effectLst/>
              <a:uFillTx/>
              <a:latin typeface="Arial"/>
            </a:endParaRPr>
          </a:p>
        </p:txBody>
      </p:sp>
      <p:sp>
        <p:nvSpPr>
          <p:cNvPr id="1235" name="Text 175"/>
          <p:cNvSpPr/>
          <p:nvPr/>
        </p:nvSpPr>
        <p:spPr>
          <a:xfrm>
            <a:off x="914400" y="2651760"/>
            <a:ext cx="2651400" cy="1737000"/>
          </a:xfrm>
          <a:prstGeom prst="rect">
            <a:avLst/>
          </a:prstGeom>
          <a:noFill/>
          <a:ln w="0">
            <a:noFill/>
          </a:ln>
        </p:spPr>
        <p:style>
          <a:lnRef idx="0"/>
          <a:fillRef idx="0"/>
          <a:effectRef idx="0"/>
          <a:fontRef idx="minor"/>
        </p:style>
        <p:txBody>
          <a:bodyPr lIns="0" rIns="0" tIns="0" bIns="0" anchor="ctr">
            <a:noAutofit/>
          </a:bodyPr>
          <a:p>
            <a:pPr defTabSz="914400">
              <a:lnSpc>
                <a:spcPct val="125000"/>
              </a:lnSpc>
              <a:tabLst>
                <a:tab algn="l" pos="0"/>
              </a:tabLst>
            </a:pPr>
            <a:r>
              <a:rPr b="0" lang="en-US" sz="1600" strike="noStrike" u="none">
                <a:solidFill>
                  <a:srgbClr val="14202b"/>
                </a:solidFill>
                <a:effectLst/>
                <a:uFillTx/>
                <a:latin typeface="Courier New"/>
                <a:ea typeface="Courier New"/>
              </a:rPr>
              <a:t>1,750 sq ft</a:t>
            </a:r>
            <a:endParaRPr b="0" lang="en-US" sz="1600" strike="noStrike" u="none">
              <a:solidFill>
                <a:srgbClr val="000000"/>
              </a:solidFill>
              <a:effectLst/>
              <a:uFillTx/>
              <a:latin typeface="Arial"/>
            </a:endParaRPr>
          </a:p>
          <a:p>
            <a:pPr defTabSz="914400">
              <a:lnSpc>
                <a:spcPct val="125000"/>
              </a:lnSpc>
              <a:tabLst>
                <a:tab algn="l" pos="0"/>
              </a:tabLst>
            </a:pPr>
            <a:r>
              <a:rPr b="0" lang="en-US" sz="1600" strike="noStrike" u="none">
                <a:solidFill>
                  <a:srgbClr val="14202b"/>
                </a:solidFill>
                <a:effectLst/>
                <a:uFillTx/>
                <a:latin typeface="Courier New"/>
                <a:ea typeface="Courier New"/>
              </a:rPr>
              <a:t>3 beds</a:t>
            </a:r>
            <a:endParaRPr b="0" lang="en-US" sz="1600" strike="noStrike" u="none">
              <a:solidFill>
                <a:srgbClr val="000000"/>
              </a:solidFill>
              <a:effectLst/>
              <a:uFillTx/>
              <a:latin typeface="Arial"/>
            </a:endParaRPr>
          </a:p>
          <a:p>
            <a:pPr defTabSz="914400">
              <a:lnSpc>
                <a:spcPct val="125000"/>
              </a:lnSpc>
              <a:tabLst>
                <a:tab algn="l" pos="0"/>
              </a:tabLst>
            </a:pPr>
            <a:r>
              <a:rPr b="0" lang="en-US" sz="1600" strike="noStrike" u="none">
                <a:solidFill>
                  <a:srgbClr val="14202b"/>
                </a:solidFill>
                <a:effectLst/>
                <a:uFillTx/>
                <a:latin typeface="Courier New"/>
                <a:ea typeface="Courier New"/>
              </a:rPr>
              <a:t>15 years old</a:t>
            </a:r>
            <a:endParaRPr b="0" lang="en-US" sz="1600" strike="noStrike" u="none">
              <a:solidFill>
                <a:srgbClr val="000000"/>
              </a:solidFill>
              <a:effectLst/>
              <a:uFillTx/>
              <a:latin typeface="Arial"/>
            </a:endParaRPr>
          </a:p>
        </p:txBody>
      </p:sp>
      <p:sp>
        <p:nvSpPr>
          <p:cNvPr id="1236" name="Shape 317"/>
          <p:cNvSpPr/>
          <p:nvPr/>
        </p:nvSpPr>
        <p:spPr>
          <a:xfrm>
            <a:off x="4023360" y="3090600"/>
            <a:ext cx="484200" cy="347040"/>
          </a:xfrm>
          <a:prstGeom prst="rightArrow">
            <a:avLst>
              <a:gd name="adj1" fmla="val 50000"/>
              <a:gd name="adj2" fmla="val 50000"/>
            </a:avLst>
          </a:prstGeom>
          <a:solidFill>
            <a:srgbClr val="0e7c86"/>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37" name="Shape 318"/>
          <p:cNvSpPr/>
          <p:nvPr/>
        </p:nvSpPr>
        <p:spPr>
          <a:xfrm>
            <a:off x="4690800" y="1920240"/>
            <a:ext cx="3200040" cy="2651400"/>
          </a:xfrm>
          <a:prstGeom prst="roundRect">
            <a:avLst>
              <a:gd name="adj" fmla="val 3448"/>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38" name="Text 176"/>
          <p:cNvSpPr/>
          <p:nvPr/>
        </p:nvSpPr>
        <p:spPr>
          <a:xfrm>
            <a:off x="4965120" y="2148840"/>
            <a:ext cx="265140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aebecb"/>
                </a:solidFill>
                <a:effectLst/>
                <a:uFillTx/>
                <a:latin typeface="Calibri"/>
                <a:ea typeface="Calibri"/>
              </a:rPr>
              <a:t>Trained weights</a:t>
            </a:r>
            <a:endParaRPr b="0" lang="en-US" sz="1500" strike="noStrike" u="none">
              <a:solidFill>
                <a:srgbClr val="000000"/>
              </a:solidFill>
              <a:effectLst/>
              <a:uFillTx/>
              <a:latin typeface="Arial"/>
            </a:endParaRPr>
          </a:p>
        </p:txBody>
      </p:sp>
      <p:sp>
        <p:nvSpPr>
          <p:cNvPr id="1239" name="Text 177"/>
          <p:cNvSpPr/>
          <p:nvPr/>
        </p:nvSpPr>
        <p:spPr>
          <a:xfrm>
            <a:off x="4965120" y="2651760"/>
            <a:ext cx="2651400" cy="1737000"/>
          </a:xfrm>
          <a:prstGeom prst="rect">
            <a:avLst/>
          </a:prstGeom>
          <a:noFill/>
          <a:ln w="0">
            <a:noFill/>
          </a:ln>
        </p:spPr>
        <p:style>
          <a:lnRef idx="0"/>
          <a:fillRef idx="0"/>
          <a:effectRef idx="0"/>
          <a:fontRef idx="minor"/>
        </p:style>
        <p:txBody>
          <a:bodyPr lIns="0" rIns="0" tIns="0" bIns="0" anchor="ctr">
            <a:noAutofit/>
          </a:bodyPr>
          <a:p>
            <a:pPr defTabSz="914400">
              <a:lnSpc>
                <a:spcPct val="125000"/>
              </a:lnSpc>
              <a:tabLst>
                <a:tab algn="l" pos="0"/>
              </a:tabLst>
            </a:pPr>
            <a:r>
              <a:rPr b="0" lang="en-US" sz="1600" strike="noStrike" u="none">
                <a:solidFill>
                  <a:srgbClr val="ffffff"/>
                </a:solidFill>
                <a:effectLst/>
                <a:uFillTx/>
                <a:latin typeface="Courier New"/>
                <a:ea typeface="Courier New"/>
              </a:rPr>
              <a:t>w1 = 118</a:t>
            </a:r>
            <a:endParaRPr b="0" lang="en-US" sz="1600" strike="noStrike" u="none">
              <a:solidFill>
                <a:srgbClr val="000000"/>
              </a:solidFill>
              <a:effectLst/>
              <a:uFillTx/>
              <a:latin typeface="Arial"/>
            </a:endParaRPr>
          </a:p>
          <a:p>
            <a:pPr defTabSz="914400">
              <a:lnSpc>
                <a:spcPct val="125000"/>
              </a:lnSpc>
              <a:tabLst>
                <a:tab algn="l" pos="0"/>
              </a:tabLst>
            </a:pPr>
            <a:r>
              <a:rPr b="0" lang="en-US" sz="1600" strike="noStrike" u="none">
                <a:solidFill>
                  <a:srgbClr val="ffffff"/>
                </a:solidFill>
                <a:effectLst/>
                <a:uFillTx/>
                <a:latin typeface="Courier New"/>
                <a:ea typeface="Courier New"/>
              </a:rPr>
              <a:t>w2 = 6,400</a:t>
            </a:r>
            <a:endParaRPr b="0" lang="en-US" sz="1600" strike="noStrike" u="none">
              <a:solidFill>
                <a:srgbClr val="000000"/>
              </a:solidFill>
              <a:effectLst/>
              <a:uFillTx/>
              <a:latin typeface="Arial"/>
            </a:endParaRPr>
          </a:p>
          <a:p>
            <a:pPr defTabSz="914400">
              <a:lnSpc>
                <a:spcPct val="125000"/>
              </a:lnSpc>
              <a:tabLst>
                <a:tab algn="l" pos="0"/>
              </a:tabLst>
            </a:pPr>
            <a:r>
              <a:rPr b="0" lang="en-US" sz="1600" strike="noStrike" u="none">
                <a:solidFill>
                  <a:srgbClr val="ffffff"/>
                </a:solidFill>
                <a:effectLst/>
                <a:uFillTx/>
                <a:latin typeface="Courier New"/>
                <a:ea typeface="Courier New"/>
              </a:rPr>
              <a:t>w3 = -1,250</a:t>
            </a:r>
            <a:endParaRPr b="0" lang="en-US" sz="1600" strike="noStrike" u="none">
              <a:solidFill>
                <a:srgbClr val="000000"/>
              </a:solidFill>
              <a:effectLst/>
              <a:uFillTx/>
              <a:latin typeface="Arial"/>
            </a:endParaRPr>
          </a:p>
          <a:p>
            <a:pPr defTabSz="914400">
              <a:lnSpc>
                <a:spcPct val="125000"/>
              </a:lnSpc>
              <a:tabLst>
                <a:tab algn="l" pos="0"/>
              </a:tabLst>
            </a:pPr>
            <a:r>
              <a:rPr b="0" lang="en-US" sz="1600" strike="noStrike" u="none">
                <a:solidFill>
                  <a:srgbClr val="ffffff"/>
                </a:solidFill>
                <a:effectLst/>
                <a:uFillTx/>
                <a:latin typeface="Courier New"/>
                <a:ea typeface="Courier New"/>
              </a:rPr>
              <a:t>b = 38,000</a:t>
            </a:r>
            <a:endParaRPr b="0" lang="en-US" sz="1600" strike="noStrike" u="none">
              <a:solidFill>
                <a:srgbClr val="000000"/>
              </a:solidFill>
              <a:effectLst/>
              <a:uFillTx/>
              <a:latin typeface="Arial"/>
            </a:endParaRPr>
          </a:p>
        </p:txBody>
      </p:sp>
      <p:sp>
        <p:nvSpPr>
          <p:cNvPr id="1240" name="Shape 319"/>
          <p:cNvSpPr/>
          <p:nvPr/>
        </p:nvSpPr>
        <p:spPr>
          <a:xfrm>
            <a:off x="8074080" y="3090600"/>
            <a:ext cx="484200" cy="347040"/>
          </a:xfrm>
          <a:prstGeom prst="rightArrow">
            <a:avLst>
              <a:gd name="adj1" fmla="val 50000"/>
              <a:gd name="adj2" fmla="val 50000"/>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41" name="Shape 320"/>
          <p:cNvSpPr/>
          <p:nvPr/>
        </p:nvSpPr>
        <p:spPr>
          <a:xfrm>
            <a:off x="8741520" y="1920240"/>
            <a:ext cx="3200040" cy="2651400"/>
          </a:xfrm>
          <a:prstGeom prst="roundRect">
            <a:avLst>
              <a:gd name="adj" fmla="val 3448"/>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42" name="Text 178"/>
          <p:cNvSpPr/>
          <p:nvPr/>
        </p:nvSpPr>
        <p:spPr>
          <a:xfrm>
            <a:off x="9015840" y="2148840"/>
            <a:ext cx="265140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ffffff"/>
                </a:solidFill>
                <a:effectLst/>
                <a:uFillTx/>
                <a:latin typeface="Calibri"/>
                <a:ea typeface="Calibri"/>
              </a:rPr>
              <a:t>Prediction</a:t>
            </a:r>
            <a:endParaRPr b="0" lang="en-US" sz="1500" strike="noStrike" u="none">
              <a:solidFill>
                <a:srgbClr val="000000"/>
              </a:solidFill>
              <a:effectLst/>
              <a:uFillTx/>
              <a:latin typeface="Arial"/>
            </a:endParaRPr>
          </a:p>
        </p:txBody>
      </p:sp>
      <p:sp>
        <p:nvSpPr>
          <p:cNvPr id="1243" name="Text 179"/>
          <p:cNvSpPr/>
          <p:nvPr/>
        </p:nvSpPr>
        <p:spPr>
          <a:xfrm>
            <a:off x="9015840" y="2651760"/>
            <a:ext cx="2651400" cy="1737000"/>
          </a:xfrm>
          <a:prstGeom prst="rect">
            <a:avLst/>
          </a:prstGeom>
          <a:noFill/>
          <a:ln w="0">
            <a:noFill/>
          </a:ln>
        </p:spPr>
        <p:style>
          <a:lnRef idx="0"/>
          <a:fillRef idx="0"/>
          <a:effectRef idx="0"/>
          <a:fontRef idx="minor"/>
        </p:style>
        <p:txBody>
          <a:bodyPr lIns="0" rIns="0" tIns="0" bIns="0" anchor="ctr">
            <a:noAutofit/>
          </a:bodyPr>
          <a:p>
            <a:pPr defTabSz="914400">
              <a:lnSpc>
                <a:spcPct val="125000"/>
              </a:lnSpc>
              <a:tabLst>
                <a:tab algn="l" pos="0"/>
              </a:tabLst>
            </a:pPr>
            <a:r>
              <a:rPr b="1" lang="en-US" sz="3200" strike="noStrike" u="none">
                <a:solidFill>
                  <a:srgbClr val="ffffff"/>
                </a:solidFill>
                <a:effectLst/>
                <a:uFillTx/>
                <a:latin typeface="Cambria"/>
                <a:ea typeface="Cambria"/>
              </a:rPr>
              <a:t>$244,950</a:t>
            </a:r>
            <a:endParaRPr b="0" lang="en-US" sz="3200" strike="noStrike" u="none">
              <a:solidFill>
                <a:srgbClr val="000000"/>
              </a:solidFill>
              <a:effectLst/>
              <a:uFillTx/>
              <a:latin typeface="Arial"/>
            </a:endParaRPr>
          </a:p>
        </p:txBody>
      </p:sp>
      <p:sp>
        <p:nvSpPr>
          <p:cNvPr id="1244" name="Shape 321"/>
          <p:cNvSpPr/>
          <p:nvPr/>
        </p:nvSpPr>
        <p:spPr>
          <a:xfrm>
            <a:off x="640080" y="4800600"/>
            <a:ext cx="3428640" cy="1416960"/>
          </a:xfrm>
          <a:prstGeom prst="roundRect">
            <a:avLst>
              <a:gd name="adj" fmla="val 5161"/>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45" name="Text 180"/>
          <p:cNvSpPr/>
          <p:nvPr/>
        </p:nvSpPr>
        <p:spPr>
          <a:xfrm>
            <a:off x="914400" y="4983480"/>
            <a:ext cx="28800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14202b"/>
                </a:solidFill>
                <a:effectLst/>
                <a:uFillTx/>
                <a:latin typeface="Calibri"/>
                <a:ea typeface="Calibri"/>
              </a:rPr>
              <a:t>Cheap</a:t>
            </a:r>
            <a:endParaRPr b="0" lang="en-US" sz="1700" strike="noStrike" u="none">
              <a:solidFill>
                <a:srgbClr val="000000"/>
              </a:solidFill>
              <a:effectLst/>
              <a:uFillTx/>
              <a:latin typeface="Arial"/>
            </a:endParaRPr>
          </a:p>
        </p:txBody>
      </p:sp>
      <p:sp>
        <p:nvSpPr>
          <p:cNvPr id="1246" name="Text 181"/>
          <p:cNvSpPr/>
          <p:nvPr/>
        </p:nvSpPr>
        <p:spPr>
          <a:xfrm>
            <a:off x="914400" y="5349240"/>
            <a:ext cx="288000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Three multiplies and three adds. Microseconds.</a:t>
            </a:r>
            <a:endParaRPr b="0" lang="en-US" sz="1400" strike="noStrike" u="none">
              <a:solidFill>
                <a:srgbClr val="000000"/>
              </a:solidFill>
              <a:effectLst/>
              <a:uFillTx/>
              <a:latin typeface="Arial"/>
            </a:endParaRPr>
          </a:p>
        </p:txBody>
      </p:sp>
      <p:sp>
        <p:nvSpPr>
          <p:cNvPr id="1247" name="Shape 322"/>
          <p:cNvSpPr/>
          <p:nvPr/>
        </p:nvSpPr>
        <p:spPr>
          <a:xfrm>
            <a:off x="4370760" y="4800600"/>
            <a:ext cx="3428640" cy="1416960"/>
          </a:xfrm>
          <a:prstGeom prst="roundRect">
            <a:avLst>
              <a:gd name="adj" fmla="val 5161"/>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48" name="Text 182"/>
          <p:cNvSpPr/>
          <p:nvPr/>
        </p:nvSpPr>
        <p:spPr>
          <a:xfrm>
            <a:off x="4645080" y="4983480"/>
            <a:ext cx="28800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14202b"/>
                </a:solidFill>
                <a:effectLst/>
                <a:uFillTx/>
                <a:latin typeface="Calibri"/>
                <a:ea typeface="Calibri"/>
              </a:rPr>
              <a:t>Stateless</a:t>
            </a:r>
            <a:endParaRPr b="0" lang="en-US" sz="1700" strike="noStrike" u="none">
              <a:solidFill>
                <a:srgbClr val="000000"/>
              </a:solidFill>
              <a:effectLst/>
              <a:uFillTx/>
              <a:latin typeface="Arial"/>
            </a:endParaRPr>
          </a:p>
        </p:txBody>
      </p:sp>
      <p:sp>
        <p:nvSpPr>
          <p:cNvPr id="1249" name="Text 183"/>
          <p:cNvSpPr/>
          <p:nvPr/>
        </p:nvSpPr>
        <p:spPr>
          <a:xfrm>
            <a:off x="4645080" y="5349240"/>
            <a:ext cx="288000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The weights are constants now. Nothing is learning.</a:t>
            </a:r>
            <a:endParaRPr b="0" lang="en-US" sz="1400" strike="noStrike" u="none">
              <a:solidFill>
                <a:srgbClr val="000000"/>
              </a:solidFill>
              <a:effectLst/>
              <a:uFillTx/>
              <a:latin typeface="Arial"/>
            </a:endParaRPr>
          </a:p>
        </p:txBody>
      </p:sp>
      <p:sp>
        <p:nvSpPr>
          <p:cNvPr id="1250" name="Shape 323"/>
          <p:cNvSpPr/>
          <p:nvPr/>
        </p:nvSpPr>
        <p:spPr>
          <a:xfrm>
            <a:off x="8101440" y="4800600"/>
            <a:ext cx="3428640" cy="1416960"/>
          </a:xfrm>
          <a:prstGeom prst="roundRect">
            <a:avLst>
              <a:gd name="adj" fmla="val 5161"/>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51" name="Text 184"/>
          <p:cNvSpPr/>
          <p:nvPr/>
        </p:nvSpPr>
        <p:spPr>
          <a:xfrm>
            <a:off x="8375760" y="4983480"/>
            <a:ext cx="28800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rgbClr val="14202b"/>
                </a:solidFill>
                <a:effectLst/>
                <a:uFillTx/>
                <a:latin typeface="Calibri"/>
                <a:ea typeface="Calibri"/>
              </a:rPr>
              <a:t>Unverified</a:t>
            </a:r>
            <a:endParaRPr b="0" lang="en-US" sz="1700" strike="noStrike" u="none">
              <a:solidFill>
                <a:srgbClr val="000000"/>
              </a:solidFill>
              <a:effectLst/>
              <a:uFillTx/>
              <a:latin typeface="Arial"/>
            </a:endParaRPr>
          </a:p>
        </p:txBody>
      </p:sp>
      <p:sp>
        <p:nvSpPr>
          <p:cNvPr id="1252" name="Text 185"/>
          <p:cNvSpPr/>
          <p:nvPr/>
        </p:nvSpPr>
        <p:spPr>
          <a:xfrm>
            <a:off x="8375760" y="5349240"/>
            <a:ext cx="288000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Nobody will tell you the real price. You get no feedback at prediction time.</a:t>
            </a:r>
            <a:endParaRPr b="0" lang="en-US"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53" name="Text 186"/>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STEP 6</a:t>
            </a:r>
            <a:endParaRPr b="0" lang="en-US" sz="1200" strike="noStrike" u="none">
              <a:solidFill>
                <a:srgbClr val="000000"/>
              </a:solidFill>
              <a:effectLst/>
              <a:uFillTx/>
              <a:latin typeface="Arial"/>
            </a:endParaRPr>
          </a:p>
        </p:txBody>
      </p:sp>
      <p:sp>
        <p:nvSpPr>
          <p:cNvPr id="1254" name="Text 187"/>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Monitor and retrain</a:t>
            </a:r>
            <a:endParaRPr b="0" lang="en-US" sz="3200" strike="noStrike" u="none">
              <a:solidFill>
                <a:srgbClr val="000000"/>
              </a:solidFill>
              <a:effectLst/>
              <a:uFillTx/>
              <a:latin typeface="Arial"/>
            </a:endParaRPr>
          </a:p>
        </p:txBody>
      </p:sp>
      <p:sp>
        <p:nvSpPr>
          <p:cNvPr id="1255" name="Shape 324"/>
          <p:cNvSpPr/>
          <p:nvPr/>
        </p:nvSpPr>
        <p:spPr>
          <a:xfrm>
            <a:off x="640080" y="1783080"/>
            <a:ext cx="5266440" cy="1965600"/>
          </a:xfrm>
          <a:prstGeom prst="roundRect">
            <a:avLst>
              <a:gd name="adj" fmla="val 3721"/>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56" name="Text 188"/>
          <p:cNvSpPr/>
          <p:nvPr/>
        </p:nvSpPr>
        <p:spPr>
          <a:xfrm>
            <a:off x="960120" y="2011680"/>
            <a:ext cx="4663080" cy="1599840"/>
          </a:xfrm>
          <a:prstGeom prst="rect">
            <a:avLst/>
          </a:prstGeom>
          <a:noFill/>
          <a:ln w="0">
            <a:noFill/>
          </a:ln>
        </p:spPr>
        <p:style>
          <a:lnRef idx="0"/>
          <a:fillRef idx="0"/>
          <a:effectRef idx="0"/>
          <a:fontRef idx="minor"/>
        </p:style>
        <p:txBody>
          <a:bodyPr lIns="0" rIns="0" tIns="0" bIns="0" anchor="ctr">
            <a:noAutofit/>
          </a:bodyPr>
          <a:p>
            <a:r>
              <a:rPr b="1" lang="en-US" sz="2200" strike="noStrike" u="none">
                <a:solidFill>
                  <a:srgbClr val="14202b"/>
                </a:solidFill>
                <a:effectLst/>
                <a:uFillTx/>
                <a:latin typeface="Cambria"/>
                <a:ea typeface="Cambria"/>
              </a:rPr>
              <a:t>Remember problem 3?</a:t>
            </a:r>
            <a:endParaRPr b="0" lang="en-US" sz="2200" strike="noStrike" u="none">
              <a:solidFill>
                <a:srgbClr val="000000"/>
              </a:solidFill>
              <a:effectLst/>
              <a:uFillTx/>
              <a:latin typeface="Arial"/>
            </a:endParaRPr>
          </a:p>
          <a:p>
            <a:pPr defTabSz="914400">
              <a:lnSpc>
                <a:spcPct val="100000"/>
              </a:lnSpc>
              <a:tabLst>
                <a:tab algn="l" pos="0"/>
              </a:tabLst>
            </a:pPr>
            <a:endParaRPr b="0" lang="en-US" sz="2200" strike="noStrike" u="none">
              <a:solidFill>
                <a:srgbClr val="000000"/>
              </a:solidFill>
              <a:effectLst/>
              <a:uFillTx/>
              <a:latin typeface="Arial"/>
            </a:endParaRPr>
          </a:p>
          <a:p>
            <a:pPr defTabSz="914400">
              <a:lnSpc>
                <a:spcPct val="100000"/>
              </a:lnSpc>
              <a:tabLst>
                <a:tab algn="l" pos="0"/>
              </a:tabLst>
            </a:pPr>
            <a:r>
              <a:rPr b="0" i="1" lang="en-US" sz="1600" strike="noStrike" u="none">
                <a:solidFill>
                  <a:srgbClr val="5d6e7c"/>
                </a:solidFill>
                <a:effectLst/>
                <a:uFillTx/>
                <a:latin typeface="Calibri"/>
                <a:ea typeface="Calibri"/>
              </a:rPr>
              <a:t>"The market goes up 10% and every constant in the file is wrong."</a:t>
            </a:r>
            <a:endParaRPr b="0" lang="en-US" sz="1600" strike="noStrike" u="none">
              <a:solidFill>
                <a:srgbClr val="000000"/>
              </a:solidFill>
              <a:effectLst/>
              <a:uFillTx/>
              <a:latin typeface="Arial"/>
            </a:endParaRPr>
          </a:p>
        </p:txBody>
      </p:sp>
      <p:sp>
        <p:nvSpPr>
          <p:cNvPr id="1257" name="Shape 325"/>
          <p:cNvSpPr/>
          <p:nvPr/>
        </p:nvSpPr>
        <p:spPr>
          <a:xfrm>
            <a:off x="6282000" y="1783080"/>
            <a:ext cx="5266440" cy="1965600"/>
          </a:xfrm>
          <a:prstGeom prst="roundRect">
            <a:avLst>
              <a:gd name="adj" fmla="val 3721"/>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58" name="Text 189"/>
          <p:cNvSpPr/>
          <p:nvPr/>
        </p:nvSpPr>
        <p:spPr>
          <a:xfrm>
            <a:off x="6602040" y="2011680"/>
            <a:ext cx="4663080" cy="1599840"/>
          </a:xfrm>
          <a:prstGeom prst="rect">
            <a:avLst/>
          </a:prstGeom>
          <a:noFill/>
          <a:ln w="0">
            <a:noFill/>
          </a:ln>
        </p:spPr>
        <p:style>
          <a:lnRef idx="0"/>
          <a:fillRef idx="0"/>
          <a:effectRef idx="0"/>
          <a:fontRef idx="minor"/>
        </p:style>
        <p:txBody>
          <a:bodyPr lIns="0" rIns="0" tIns="0" bIns="0" anchor="ctr">
            <a:noAutofit/>
          </a:bodyPr>
          <a:p>
            <a:r>
              <a:rPr b="1" lang="en-US" sz="2200" strike="noStrike" u="none">
                <a:solidFill>
                  <a:srgbClr val="ff6b35"/>
                </a:solidFill>
                <a:effectLst/>
                <a:uFillTx/>
                <a:latin typeface="Cambria"/>
                <a:ea typeface="Cambria"/>
              </a:rPr>
              <a:t>Now the fix is free.</a:t>
            </a:r>
            <a:endParaRPr b="0" lang="en-US" sz="2200" strike="noStrike" u="none">
              <a:solidFill>
                <a:srgbClr val="000000"/>
              </a:solidFill>
              <a:effectLst/>
              <a:uFillTx/>
              <a:latin typeface="Arial"/>
            </a:endParaRPr>
          </a:p>
          <a:p>
            <a:pPr defTabSz="914400">
              <a:lnSpc>
                <a:spcPct val="100000"/>
              </a:lnSpc>
              <a:tabLst>
                <a:tab algn="l" pos="0"/>
              </a:tabLst>
            </a:pPr>
            <a:endParaRPr b="0" lang="en-US" sz="2200" strike="noStrike" u="none">
              <a:solidFill>
                <a:srgbClr val="000000"/>
              </a:solidFill>
              <a:effectLst/>
              <a:uFillTx/>
              <a:latin typeface="Arial"/>
            </a:endParaRPr>
          </a:p>
          <a:p>
            <a:pPr defTabSz="914400">
              <a:lnSpc>
                <a:spcPct val="100000"/>
              </a:lnSpc>
              <a:tabLst>
                <a:tab algn="l" pos="0"/>
              </a:tabLst>
            </a:pPr>
            <a:r>
              <a:rPr b="0" lang="en-US" sz="1600" strike="noStrike" u="none">
                <a:solidFill>
                  <a:srgbClr val="d6e0e8"/>
                </a:solidFill>
                <a:effectLst/>
                <a:uFillTx/>
                <a:latin typeface="Calibri"/>
                <a:ea typeface="Calibri"/>
              </a:rPr>
              <a:t>Feed in this year's sales and run training again. The code does not change. Only the numbers do.</a:t>
            </a:r>
            <a:endParaRPr b="0" lang="en-US" sz="1600" strike="noStrike" u="none">
              <a:solidFill>
                <a:srgbClr val="000000"/>
              </a:solidFill>
              <a:effectLst/>
              <a:uFillTx/>
              <a:latin typeface="Arial"/>
            </a:endParaRPr>
          </a:p>
        </p:txBody>
      </p:sp>
      <p:sp>
        <p:nvSpPr>
          <p:cNvPr id="1259" name="Shape 326"/>
          <p:cNvSpPr/>
          <p:nvPr/>
        </p:nvSpPr>
        <p:spPr>
          <a:xfrm>
            <a:off x="640080" y="4023360"/>
            <a:ext cx="3428640" cy="1919880"/>
          </a:xfrm>
          <a:prstGeom prst="roundRect">
            <a:avLst>
              <a:gd name="adj" fmla="val 3810"/>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60" name="Shape 327"/>
          <p:cNvSpPr/>
          <p:nvPr/>
        </p:nvSpPr>
        <p:spPr>
          <a:xfrm>
            <a:off x="914400" y="4251960"/>
            <a:ext cx="402120" cy="402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61" name="Text 190"/>
          <p:cNvSpPr/>
          <p:nvPr/>
        </p:nvSpPr>
        <p:spPr>
          <a:xfrm>
            <a:off x="914400" y="4251960"/>
            <a:ext cx="402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1</a:t>
            </a:r>
            <a:endParaRPr b="0" lang="en-US" sz="1600" strike="noStrike" u="none">
              <a:solidFill>
                <a:srgbClr val="000000"/>
              </a:solidFill>
              <a:effectLst/>
              <a:uFillTx/>
              <a:latin typeface="Arial"/>
            </a:endParaRPr>
          </a:p>
        </p:txBody>
      </p:sp>
      <p:sp>
        <p:nvSpPr>
          <p:cNvPr id="1262" name="Text 191"/>
          <p:cNvSpPr/>
          <p:nvPr/>
        </p:nvSpPr>
        <p:spPr>
          <a:xfrm>
            <a:off x="914400" y="4754880"/>
            <a:ext cx="28800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Drift</a:t>
            </a:r>
            <a:endParaRPr b="0" lang="en-US" sz="1800" strike="noStrike" u="none">
              <a:solidFill>
                <a:srgbClr val="000000"/>
              </a:solidFill>
              <a:effectLst/>
              <a:uFillTx/>
              <a:latin typeface="Arial"/>
            </a:endParaRPr>
          </a:p>
        </p:txBody>
      </p:sp>
      <p:sp>
        <p:nvSpPr>
          <p:cNvPr id="1263" name="Text 192"/>
          <p:cNvSpPr/>
          <p:nvPr/>
        </p:nvSpPr>
        <p:spPr>
          <a:xfrm>
            <a:off x="914400" y="5120640"/>
            <a:ext cx="288000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Reality shifts away from your training data. Accuracy quietly decays.</a:t>
            </a:r>
            <a:endParaRPr b="0" lang="en-US" sz="1400" strike="noStrike" u="none">
              <a:solidFill>
                <a:srgbClr val="000000"/>
              </a:solidFill>
              <a:effectLst/>
              <a:uFillTx/>
              <a:latin typeface="Arial"/>
            </a:endParaRPr>
          </a:p>
        </p:txBody>
      </p:sp>
      <p:sp>
        <p:nvSpPr>
          <p:cNvPr id="1264" name="Shape 328"/>
          <p:cNvSpPr/>
          <p:nvPr/>
        </p:nvSpPr>
        <p:spPr>
          <a:xfrm>
            <a:off x="4370760" y="4023360"/>
            <a:ext cx="3428640" cy="1919880"/>
          </a:xfrm>
          <a:prstGeom prst="roundRect">
            <a:avLst>
              <a:gd name="adj" fmla="val 3810"/>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65" name="Shape 329"/>
          <p:cNvSpPr/>
          <p:nvPr/>
        </p:nvSpPr>
        <p:spPr>
          <a:xfrm>
            <a:off x="4645080" y="4251960"/>
            <a:ext cx="402120" cy="402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66" name="Text 193"/>
          <p:cNvSpPr/>
          <p:nvPr/>
        </p:nvSpPr>
        <p:spPr>
          <a:xfrm>
            <a:off x="4645080" y="4251960"/>
            <a:ext cx="402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2</a:t>
            </a:r>
            <a:endParaRPr b="0" lang="en-US" sz="1600" strike="noStrike" u="none">
              <a:solidFill>
                <a:srgbClr val="000000"/>
              </a:solidFill>
              <a:effectLst/>
              <a:uFillTx/>
              <a:latin typeface="Arial"/>
            </a:endParaRPr>
          </a:p>
        </p:txBody>
      </p:sp>
      <p:sp>
        <p:nvSpPr>
          <p:cNvPr id="1267" name="Text 194"/>
          <p:cNvSpPr/>
          <p:nvPr/>
        </p:nvSpPr>
        <p:spPr>
          <a:xfrm>
            <a:off x="4645080" y="4754880"/>
            <a:ext cx="28800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Monitoring</a:t>
            </a:r>
            <a:endParaRPr b="0" lang="en-US" sz="1800" strike="noStrike" u="none">
              <a:solidFill>
                <a:srgbClr val="000000"/>
              </a:solidFill>
              <a:effectLst/>
              <a:uFillTx/>
              <a:latin typeface="Arial"/>
            </a:endParaRPr>
          </a:p>
        </p:txBody>
      </p:sp>
      <p:sp>
        <p:nvSpPr>
          <p:cNvPr id="1268" name="Text 195"/>
          <p:cNvSpPr/>
          <p:nvPr/>
        </p:nvSpPr>
        <p:spPr>
          <a:xfrm>
            <a:off x="4645080" y="5120640"/>
            <a:ext cx="288000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Track error on fresh labeled data. Alert when it climbs.</a:t>
            </a:r>
            <a:endParaRPr b="0" lang="en-US" sz="1400" strike="noStrike" u="none">
              <a:solidFill>
                <a:srgbClr val="000000"/>
              </a:solidFill>
              <a:effectLst/>
              <a:uFillTx/>
              <a:latin typeface="Arial"/>
            </a:endParaRPr>
          </a:p>
        </p:txBody>
      </p:sp>
      <p:sp>
        <p:nvSpPr>
          <p:cNvPr id="1269" name="Shape 330"/>
          <p:cNvSpPr/>
          <p:nvPr/>
        </p:nvSpPr>
        <p:spPr>
          <a:xfrm>
            <a:off x="8101440" y="4023360"/>
            <a:ext cx="3428640" cy="1919880"/>
          </a:xfrm>
          <a:prstGeom prst="roundRect">
            <a:avLst>
              <a:gd name="adj" fmla="val 3810"/>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70" name="Shape 331"/>
          <p:cNvSpPr/>
          <p:nvPr/>
        </p:nvSpPr>
        <p:spPr>
          <a:xfrm>
            <a:off x="8375760" y="4251960"/>
            <a:ext cx="402120" cy="402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71" name="Text 196"/>
          <p:cNvSpPr/>
          <p:nvPr/>
        </p:nvSpPr>
        <p:spPr>
          <a:xfrm>
            <a:off x="8375760" y="4251960"/>
            <a:ext cx="402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3</a:t>
            </a:r>
            <a:endParaRPr b="0" lang="en-US" sz="1600" strike="noStrike" u="none">
              <a:solidFill>
                <a:srgbClr val="000000"/>
              </a:solidFill>
              <a:effectLst/>
              <a:uFillTx/>
              <a:latin typeface="Arial"/>
            </a:endParaRPr>
          </a:p>
        </p:txBody>
      </p:sp>
      <p:sp>
        <p:nvSpPr>
          <p:cNvPr id="1272" name="Text 197"/>
          <p:cNvSpPr/>
          <p:nvPr/>
        </p:nvSpPr>
        <p:spPr>
          <a:xfrm>
            <a:off x="8375760" y="4754880"/>
            <a:ext cx="28800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4202b"/>
                </a:solidFill>
                <a:effectLst/>
                <a:uFillTx/>
                <a:latin typeface="Calibri"/>
                <a:ea typeface="Calibri"/>
              </a:rPr>
              <a:t>Retraining</a:t>
            </a:r>
            <a:endParaRPr b="0" lang="en-US" sz="1800" strike="noStrike" u="none">
              <a:solidFill>
                <a:srgbClr val="000000"/>
              </a:solidFill>
              <a:effectLst/>
              <a:uFillTx/>
              <a:latin typeface="Arial"/>
            </a:endParaRPr>
          </a:p>
        </p:txBody>
      </p:sp>
      <p:sp>
        <p:nvSpPr>
          <p:cNvPr id="1273" name="Text 198"/>
          <p:cNvSpPr/>
          <p:nvPr/>
        </p:nvSpPr>
        <p:spPr>
          <a:xfrm>
            <a:off x="8375760" y="5120640"/>
            <a:ext cx="288000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Scheduled, or triggered when the metric slips.</a:t>
            </a:r>
            <a:endParaRPr b="0" lang="en-US" sz="1400" strike="noStrike" u="none">
              <a:solidFill>
                <a:srgbClr val="000000"/>
              </a:solidFill>
              <a:effectLst/>
              <a:uFillTx/>
              <a:latin typeface="Arial"/>
            </a:endParaRPr>
          </a:p>
        </p:txBody>
      </p:sp>
      <p:sp>
        <p:nvSpPr>
          <p:cNvPr id="1274" name="Text 199"/>
          <p:cNvSpPr/>
          <p:nvPr/>
        </p:nvSpPr>
        <p:spPr>
          <a:xfrm>
            <a:off x="640080" y="6035040"/>
            <a:ext cx="1091124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0e7c86"/>
                </a:solidFill>
                <a:effectLst/>
                <a:uFillTx/>
                <a:latin typeface="Calibri"/>
                <a:ea typeface="Calibri"/>
              </a:rPr>
              <a:t>The pipeline is a loop, not a line.</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4202b"/>
        </a:solidFill>
      </p:bgPr>
    </p:bg>
    <p:spTree>
      <p:nvGrpSpPr>
        <p:cNvPr id="1" name=""/>
        <p:cNvGrpSpPr/>
        <p:nvPr/>
      </p:nvGrpSpPr>
      <p:grpSpPr>
        <a:xfrm>
          <a:off x="0" y="0"/>
          <a:ext cx="0" cy="0"/>
          <a:chOff x="0" y="0"/>
          <a:chExt cx="0" cy="0"/>
        </a:xfrm>
      </p:grpSpPr>
      <p:sp>
        <p:nvSpPr>
          <p:cNvPr id="1275" name="Text 0"/>
          <p:cNvSpPr/>
          <p:nvPr/>
        </p:nvSpPr>
        <p:spPr>
          <a:xfrm>
            <a:off x="640080" y="1645920"/>
            <a:ext cx="1088100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3800" strike="noStrike" u="none">
                <a:solidFill>
                  <a:srgbClr val="ffffff"/>
                </a:solidFill>
                <a:effectLst/>
                <a:uFillTx/>
                <a:latin typeface="Cambria"/>
                <a:ea typeface="Cambria"/>
              </a:rPr>
              <a:t>Everything so far had an answer key.</a:t>
            </a:r>
            <a:endParaRPr b="0" lang="en-US" sz="3800" strike="noStrike" u="none">
              <a:solidFill>
                <a:srgbClr val="ffffff"/>
              </a:solidFill>
              <a:effectLst/>
              <a:uFillTx/>
              <a:latin typeface="Arial"/>
            </a:endParaRPr>
          </a:p>
        </p:txBody>
      </p:sp>
      <p:sp>
        <p:nvSpPr>
          <p:cNvPr id="1276" name="Text 1"/>
          <p:cNvSpPr/>
          <p:nvPr/>
        </p:nvSpPr>
        <p:spPr>
          <a:xfrm>
            <a:off x="640080" y="2468880"/>
            <a:ext cx="1088100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400" strike="noStrike" u="none">
                <a:solidFill>
                  <a:srgbClr val="ff6b35"/>
                </a:solidFill>
                <a:effectLst/>
                <a:uFillTx/>
                <a:latin typeface="Cambria"/>
                <a:ea typeface="Cambria"/>
              </a:rPr>
              <a:t>What if there isn't one?</a:t>
            </a:r>
            <a:endParaRPr b="0" lang="en-US" sz="4400" strike="noStrike" u="none">
              <a:solidFill>
                <a:srgbClr val="ffffff"/>
              </a:solidFill>
              <a:effectLst/>
              <a:uFillTx/>
              <a:latin typeface="Arial"/>
            </a:endParaRPr>
          </a:p>
        </p:txBody>
      </p:sp>
      <p:sp>
        <p:nvSpPr>
          <p:cNvPr id="1277" name="Text 2"/>
          <p:cNvSpPr/>
          <p:nvPr/>
        </p:nvSpPr>
        <p:spPr>
          <a:xfrm>
            <a:off x="640080" y="3703320"/>
            <a:ext cx="10881000" cy="1051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900" strike="noStrike" u="none">
                <a:solidFill>
                  <a:srgbClr val="aebecb"/>
                </a:solidFill>
                <a:effectLst/>
                <a:uFillTx/>
                <a:latin typeface="Calibri"/>
                <a:ea typeface="Calibri"/>
              </a:rPr>
              <a:t>Delete the price column. You still have a thousand houses and three numbers each. There is structure in that table, and you can go find it without anyone telling you the right answer.</a:t>
            </a:r>
            <a:endParaRPr b="0" lang="en-US" sz="1900" strike="noStrike" u="none">
              <a:solidFill>
                <a:srgbClr val="ffffff"/>
              </a:solidFill>
              <a:effectLst/>
              <a:uFillTx/>
              <a:latin typeface="Arial"/>
            </a:endParaRPr>
          </a:p>
        </p:txBody>
      </p:sp>
      <p:sp>
        <p:nvSpPr>
          <p:cNvPr id="1278" name="Shape 3"/>
          <p:cNvSpPr/>
          <p:nvPr/>
        </p:nvSpPr>
        <p:spPr>
          <a:xfrm>
            <a:off x="640080" y="493776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79" name="Text 4"/>
          <p:cNvSpPr/>
          <p:nvPr/>
        </p:nvSpPr>
        <p:spPr>
          <a:xfrm>
            <a:off x="640080" y="493776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ff6b35"/>
                </a:solidFill>
                <a:effectLst/>
                <a:uFillTx/>
                <a:latin typeface="Calibri"/>
                <a:ea typeface="Calibri"/>
              </a:rPr>
              <a:t>No labels</a:t>
            </a:r>
            <a:endParaRPr b="0" lang="en-US" sz="1800" strike="noStrike" u="none">
              <a:solidFill>
                <a:srgbClr val="ffffff"/>
              </a:solidFill>
              <a:effectLst/>
              <a:uFillTx/>
              <a:latin typeface="Arial"/>
            </a:endParaRPr>
          </a:p>
        </p:txBody>
      </p:sp>
      <p:sp>
        <p:nvSpPr>
          <p:cNvPr id="1280" name="Shape 5"/>
          <p:cNvSpPr/>
          <p:nvPr/>
        </p:nvSpPr>
        <p:spPr>
          <a:xfrm>
            <a:off x="4370760" y="493776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81" name="Text 6"/>
          <p:cNvSpPr/>
          <p:nvPr/>
        </p:nvSpPr>
        <p:spPr>
          <a:xfrm>
            <a:off x="4370760" y="493776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d6e0e8"/>
                </a:solidFill>
                <a:effectLst/>
                <a:uFillTx/>
                <a:latin typeface="Calibri"/>
                <a:ea typeface="Calibri"/>
              </a:rPr>
              <a:t>Clustering</a:t>
            </a:r>
            <a:endParaRPr b="0" lang="en-US" sz="1800" strike="noStrike" u="none">
              <a:solidFill>
                <a:srgbClr val="ffffff"/>
              </a:solidFill>
              <a:effectLst/>
              <a:uFillTx/>
              <a:latin typeface="Arial"/>
            </a:endParaRPr>
          </a:p>
        </p:txBody>
      </p:sp>
      <p:sp>
        <p:nvSpPr>
          <p:cNvPr id="1282" name="Shape 7"/>
          <p:cNvSpPr/>
          <p:nvPr/>
        </p:nvSpPr>
        <p:spPr>
          <a:xfrm>
            <a:off x="8101440" y="4937760"/>
            <a:ext cx="3428640" cy="868320"/>
          </a:xfrm>
          <a:prstGeom prst="roundRect">
            <a:avLst>
              <a:gd name="adj" fmla="val 10526"/>
            </a:avLst>
          </a:prstGeom>
          <a:solidFill>
            <a:srgbClr val="1f2e3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83" name="Text 8"/>
          <p:cNvSpPr/>
          <p:nvPr/>
        </p:nvSpPr>
        <p:spPr>
          <a:xfrm>
            <a:off x="8101440" y="4937760"/>
            <a:ext cx="3428640" cy="868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d6e0e8"/>
                </a:solidFill>
                <a:effectLst/>
                <a:uFillTx/>
                <a:latin typeface="Calibri"/>
                <a:ea typeface="Calibri"/>
              </a:rPr>
              <a:t>Fewer columns</a:t>
            </a:r>
            <a:endParaRPr b="0" lang="en-US" sz="18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84"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CLUSTERING</a:t>
            </a:r>
            <a:endParaRPr b="0" lang="en-US" sz="1200" strike="noStrike" u="none">
              <a:solidFill>
                <a:srgbClr val="000000"/>
              </a:solidFill>
              <a:effectLst/>
              <a:uFillTx/>
              <a:latin typeface="Arial"/>
            </a:endParaRPr>
          </a:p>
        </p:txBody>
      </p:sp>
      <p:sp>
        <p:nvSpPr>
          <p:cNvPr id="1285"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Find the groups nobody labelled</a:t>
            </a:r>
            <a:endParaRPr b="0" lang="en-US" sz="3200" strike="noStrike" u="none">
              <a:solidFill>
                <a:srgbClr val="000000"/>
              </a:solidFill>
              <a:effectLst/>
              <a:uFillTx/>
              <a:latin typeface="Arial"/>
            </a:endParaRPr>
          </a:p>
        </p:txBody>
      </p:sp>
      <p:sp>
        <p:nvSpPr>
          <p:cNvPr id="1286" name="Shape 2"/>
          <p:cNvSpPr/>
          <p:nvPr/>
        </p:nvSpPr>
        <p:spPr>
          <a:xfrm>
            <a:off x="1097280" y="4875480"/>
            <a:ext cx="55774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287" name="Shape 3"/>
          <p:cNvSpPr/>
          <p:nvPr/>
        </p:nvSpPr>
        <p:spPr>
          <a:xfrm rot="5400000">
            <a:off x="-410760" y="3366720"/>
            <a:ext cx="301716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288" name="Shape 4"/>
          <p:cNvSpPr/>
          <p:nvPr/>
        </p:nvSpPr>
        <p:spPr>
          <a:xfrm>
            <a:off x="1800360" y="2309760"/>
            <a:ext cx="155160" cy="15516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89" name="Shape 5"/>
          <p:cNvSpPr/>
          <p:nvPr/>
        </p:nvSpPr>
        <p:spPr>
          <a:xfrm>
            <a:off x="2135160" y="2671920"/>
            <a:ext cx="155160" cy="15516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90" name="Shape 6"/>
          <p:cNvSpPr/>
          <p:nvPr/>
        </p:nvSpPr>
        <p:spPr>
          <a:xfrm>
            <a:off x="2469960" y="2340000"/>
            <a:ext cx="155160" cy="15516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91" name="Shape 7"/>
          <p:cNvSpPr/>
          <p:nvPr/>
        </p:nvSpPr>
        <p:spPr>
          <a:xfrm>
            <a:off x="2023560" y="2853000"/>
            <a:ext cx="155160" cy="15516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92" name="Shape 8"/>
          <p:cNvSpPr/>
          <p:nvPr/>
        </p:nvSpPr>
        <p:spPr>
          <a:xfrm>
            <a:off x="2692800" y="2521080"/>
            <a:ext cx="155160" cy="15516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93" name="Shape 9"/>
          <p:cNvSpPr/>
          <p:nvPr/>
        </p:nvSpPr>
        <p:spPr>
          <a:xfrm>
            <a:off x="2302560" y="2158920"/>
            <a:ext cx="155160" cy="15516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94" name="Shape 10"/>
          <p:cNvSpPr/>
          <p:nvPr/>
        </p:nvSpPr>
        <p:spPr>
          <a:xfrm>
            <a:off x="1688760" y="2611440"/>
            <a:ext cx="155160" cy="15516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95" name="Shape 11"/>
          <p:cNvSpPr/>
          <p:nvPr/>
        </p:nvSpPr>
        <p:spPr>
          <a:xfrm>
            <a:off x="2637000" y="2822760"/>
            <a:ext cx="155160" cy="15516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96" name="Shape 12"/>
          <p:cNvSpPr/>
          <p:nvPr/>
        </p:nvSpPr>
        <p:spPr>
          <a:xfrm rot="1704600">
            <a:off x="1849680" y="2488680"/>
            <a:ext cx="47520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297" name="Shape 13"/>
          <p:cNvSpPr/>
          <p:nvPr/>
        </p:nvSpPr>
        <p:spPr>
          <a:xfrm rot="18098400">
            <a:off x="2174760" y="2670120"/>
            <a:ext cx="15912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298" name="Shape 14"/>
          <p:cNvSpPr/>
          <p:nvPr/>
        </p:nvSpPr>
        <p:spPr>
          <a:xfrm rot="8520000">
            <a:off x="2262960" y="2504160"/>
            <a:ext cx="31824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299" name="Shape 15"/>
          <p:cNvSpPr/>
          <p:nvPr/>
        </p:nvSpPr>
        <p:spPr>
          <a:xfrm rot="18098400">
            <a:off x="2012760" y="2760120"/>
            <a:ext cx="37188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00" name="Shape 16"/>
          <p:cNvSpPr/>
          <p:nvPr/>
        </p:nvSpPr>
        <p:spPr>
          <a:xfrm rot="10690800">
            <a:off x="2296440" y="2594520"/>
            <a:ext cx="47412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01" name="Shape 17"/>
          <p:cNvSpPr/>
          <p:nvPr/>
        </p:nvSpPr>
        <p:spPr>
          <a:xfrm rot="6150600">
            <a:off x="2145600" y="2413080"/>
            <a:ext cx="38592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02" name="Shape 18"/>
          <p:cNvSpPr/>
          <p:nvPr/>
        </p:nvSpPr>
        <p:spPr>
          <a:xfrm rot="21114000">
            <a:off x="1764000" y="2639520"/>
            <a:ext cx="53496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03" name="Shape 19"/>
          <p:cNvSpPr/>
          <p:nvPr/>
        </p:nvSpPr>
        <p:spPr>
          <a:xfrm rot="12865200">
            <a:off x="2252160" y="2745360"/>
            <a:ext cx="50688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04" name="Shape 20"/>
          <p:cNvSpPr/>
          <p:nvPr/>
        </p:nvSpPr>
        <p:spPr>
          <a:xfrm>
            <a:off x="4645080" y="2460600"/>
            <a:ext cx="155160" cy="15516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05" name="Shape 21"/>
          <p:cNvSpPr/>
          <p:nvPr/>
        </p:nvSpPr>
        <p:spPr>
          <a:xfrm>
            <a:off x="5091480" y="2853000"/>
            <a:ext cx="155160" cy="15516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06" name="Shape 22"/>
          <p:cNvSpPr/>
          <p:nvPr/>
        </p:nvSpPr>
        <p:spPr>
          <a:xfrm>
            <a:off x="5537520" y="2581200"/>
            <a:ext cx="155160" cy="15516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07" name="Shape 23"/>
          <p:cNvSpPr/>
          <p:nvPr/>
        </p:nvSpPr>
        <p:spPr>
          <a:xfrm>
            <a:off x="4868280" y="3003840"/>
            <a:ext cx="155160" cy="15516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08" name="Shape 24"/>
          <p:cNvSpPr/>
          <p:nvPr/>
        </p:nvSpPr>
        <p:spPr>
          <a:xfrm>
            <a:off x="5370120" y="2309760"/>
            <a:ext cx="155160" cy="15516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09" name="Shape 25"/>
          <p:cNvSpPr/>
          <p:nvPr/>
        </p:nvSpPr>
        <p:spPr>
          <a:xfrm>
            <a:off x="5760720" y="2822760"/>
            <a:ext cx="155160" cy="15516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10" name="Shape 26"/>
          <p:cNvSpPr/>
          <p:nvPr/>
        </p:nvSpPr>
        <p:spPr>
          <a:xfrm>
            <a:off x="4533480" y="2732400"/>
            <a:ext cx="155160" cy="15516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11" name="Shape 27"/>
          <p:cNvSpPr/>
          <p:nvPr/>
        </p:nvSpPr>
        <p:spPr>
          <a:xfrm>
            <a:off x="5258880" y="2641680"/>
            <a:ext cx="155160" cy="15516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12" name="Shape 28"/>
          <p:cNvSpPr/>
          <p:nvPr/>
        </p:nvSpPr>
        <p:spPr>
          <a:xfrm rot="1414800">
            <a:off x="4700160" y="2633400"/>
            <a:ext cx="53532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13" name="Shape 29"/>
          <p:cNvSpPr/>
          <p:nvPr/>
        </p:nvSpPr>
        <p:spPr>
          <a:xfrm rot="17044200">
            <a:off x="5099400" y="2829960"/>
            <a:ext cx="18324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14" name="Shape 30"/>
          <p:cNvSpPr/>
          <p:nvPr/>
        </p:nvSpPr>
        <p:spPr>
          <a:xfrm rot="10013400">
            <a:off x="5208840" y="2693880"/>
            <a:ext cx="41184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15" name="Shape 31"/>
          <p:cNvSpPr/>
          <p:nvPr/>
        </p:nvSpPr>
        <p:spPr>
          <a:xfrm rot="18549000">
            <a:off x="4867560" y="2905200"/>
            <a:ext cx="42372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16" name="Shape 32"/>
          <p:cNvSpPr/>
          <p:nvPr/>
        </p:nvSpPr>
        <p:spPr>
          <a:xfrm rot="7361400">
            <a:off x="5114160" y="2558160"/>
            <a:ext cx="43344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17" name="Shape 33"/>
          <p:cNvSpPr/>
          <p:nvPr/>
        </p:nvSpPr>
        <p:spPr>
          <a:xfrm rot="11599200">
            <a:off x="5205240" y="2814840"/>
            <a:ext cx="64152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18" name="Shape 34"/>
          <p:cNvSpPr/>
          <p:nvPr/>
        </p:nvSpPr>
        <p:spPr>
          <a:xfrm rot="21273600">
            <a:off x="4609800" y="2769480"/>
            <a:ext cx="60480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19" name="Shape 35"/>
          <p:cNvSpPr/>
          <p:nvPr/>
        </p:nvSpPr>
        <p:spPr>
          <a:xfrm rot="9891600">
            <a:off x="5211720" y="2724480"/>
            <a:ext cx="12672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20" name="Shape 36"/>
          <p:cNvSpPr/>
          <p:nvPr/>
        </p:nvSpPr>
        <p:spPr>
          <a:xfrm>
            <a:off x="3362400" y="4180680"/>
            <a:ext cx="155160" cy="15516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21" name="Shape 37"/>
          <p:cNvSpPr/>
          <p:nvPr/>
        </p:nvSpPr>
        <p:spPr>
          <a:xfrm>
            <a:off x="3752640" y="3848760"/>
            <a:ext cx="155160" cy="15516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22" name="Shape 38"/>
          <p:cNvSpPr/>
          <p:nvPr/>
        </p:nvSpPr>
        <p:spPr>
          <a:xfrm>
            <a:off x="4143240" y="4089960"/>
            <a:ext cx="155160" cy="15516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23" name="Shape 39"/>
          <p:cNvSpPr/>
          <p:nvPr/>
        </p:nvSpPr>
        <p:spPr>
          <a:xfrm>
            <a:off x="3473640" y="3788280"/>
            <a:ext cx="155160" cy="15516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24" name="Shape 40"/>
          <p:cNvSpPr/>
          <p:nvPr/>
        </p:nvSpPr>
        <p:spPr>
          <a:xfrm>
            <a:off x="3975840" y="4331520"/>
            <a:ext cx="155160" cy="15516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25" name="Shape 41"/>
          <p:cNvSpPr/>
          <p:nvPr/>
        </p:nvSpPr>
        <p:spPr>
          <a:xfrm>
            <a:off x="4310640" y="3909240"/>
            <a:ext cx="155160" cy="15516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26" name="Shape 42"/>
          <p:cNvSpPr/>
          <p:nvPr/>
        </p:nvSpPr>
        <p:spPr>
          <a:xfrm>
            <a:off x="3250800" y="3939120"/>
            <a:ext cx="155160" cy="15516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27" name="Shape 43"/>
          <p:cNvSpPr/>
          <p:nvPr/>
        </p:nvSpPr>
        <p:spPr>
          <a:xfrm>
            <a:off x="3864240" y="4150440"/>
            <a:ext cx="155160" cy="15516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28" name="Shape 44"/>
          <p:cNvSpPr/>
          <p:nvPr/>
        </p:nvSpPr>
        <p:spPr>
          <a:xfrm rot="20380800">
            <a:off x="3426120" y="4170960"/>
            <a:ext cx="43380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29" name="Shape 45"/>
          <p:cNvSpPr/>
          <p:nvPr/>
        </p:nvSpPr>
        <p:spPr>
          <a:xfrm rot="5083800">
            <a:off x="3747960" y="4005000"/>
            <a:ext cx="18144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30" name="Shape 46"/>
          <p:cNvSpPr/>
          <p:nvPr/>
        </p:nvSpPr>
        <p:spPr>
          <a:xfrm rot="11350200">
            <a:off x="3844440" y="4125960"/>
            <a:ext cx="37836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31" name="Shape 47"/>
          <p:cNvSpPr/>
          <p:nvPr/>
        </p:nvSpPr>
        <p:spPr>
          <a:xfrm rot="2353800">
            <a:off x="3508560" y="3974760"/>
            <a:ext cx="38124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32" name="Shape 48"/>
          <p:cNvSpPr/>
          <p:nvPr/>
        </p:nvSpPr>
        <p:spPr>
          <a:xfrm rot="14137800">
            <a:off x="3767760" y="4246560"/>
            <a:ext cx="36504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33" name="Shape 49"/>
          <p:cNvSpPr/>
          <p:nvPr/>
        </p:nvSpPr>
        <p:spPr>
          <a:xfrm rot="10045200">
            <a:off x="3840840" y="4035600"/>
            <a:ext cx="55404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34" name="Shape 50"/>
          <p:cNvSpPr/>
          <p:nvPr/>
        </p:nvSpPr>
        <p:spPr>
          <a:xfrm rot="594000">
            <a:off x="3324240" y="4050360"/>
            <a:ext cx="52632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35" name="Shape 51"/>
          <p:cNvSpPr/>
          <p:nvPr/>
        </p:nvSpPr>
        <p:spPr>
          <a:xfrm rot="13911000">
            <a:off x="3817800" y="4156200"/>
            <a:ext cx="153000" cy="23400"/>
          </a:xfrm>
          <a:prstGeom prst="rect">
            <a:avLst/>
          </a:prstGeom>
          <a:solidFill>
            <a:srgbClr val="d5dde4"/>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336" name="Shape 52"/>
          <p:cNvSpPr/>
          <p:nvPr/>
        </p:nvSpPr>
        <p:spPr>
          <a:xfrm>
            <a:off x="2131920" y="2449080"/>
            <a:ext cx="328680" cy="32868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37" name="Shape 53"/>
          <p:cNvSpPr/>
          <p:nvPr/>
        </p:nvSpPr>
        <p:spPr>
          <a:xfrm>
            <a:off x="2228040" y="2545200"/>
            <a:ext cx="136800" cy="13680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38" name="Shape 54"/>
          <p:cNvSpPr/>
          <p:nvPr/>
        </p:nvSpPr>
        <p:spPr>
          <a:xfrm>
            <a:off x="5049000" y="2588040"/>
            <a:ext cx="328680" cy="32868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39" name="Shape 55"/>
          <p:cNvSpPr/>
          <p:nvPr/>
        </p:nvSpPr>
        <p:spPr>
          <a:xfrm>
            <a:off x="5145120" y="2684160"/>
            <a:ext cx="136800" cy="13680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40" name="Shape 56"/>
          <p:cNvSpPr/>
          <p:nvPr/>
        </p:nvSpPr>
        <p:spPr>
          <a:xfrm>
            <a:off x="3682440" y="3942720"/>
            <a:ext cx="328680" cy="32868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41" name="Shape 57"/>
          <p:cNvSpPr/>
          <p:nvPr/>
        </p:nvSpPr>
        <p:spPr>
          <a:xfrm>
            <a:off x="3778560" y="4038840"/>
            <a:ext cx="136800" cy="13680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42" name="Text 58"/>
          <p:cNvSpPr/>
          <p:nvPr/>
        </p:nvSpPr>
        <p:spPr>
          <a:xfrm>
            <a:off x="694800" y="1572840"/>
            <a:ext cx="16455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age in years</a:t>
            </a:r>
            <a:endParaRPr b="0" lang="en-US" sz="1300" strike="noStrike" u="none">
              <a:solidFill>
                <a:srgbClr val="000000"/>
              </a:solidFill>
              <a:effectLst/>
              <a:uFillTx/>
              <a:latin typeface="Arial"/>
            </a:endParaRPr>
          </a:p>
        </p:txBody>
      </p:sp>
      <p:sp>
        <p:nvSpPr>
          <p:cNvPr id="1343" name="Text 59"/>
          <p:cNvSpPr/>
          <p:nvPr/>
        </p:nvSpPr>
        <p:spPr>
          <a:xfrm>
            <a:off x="4937760" y="4956120"/>
            <a:ext cx="173700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300" strike="noStrike" u="none">
                <a:solidFill>
                  <a:srgbClr val="5d6e7c"/>
                </a:solidFill>
                <a:effectLst/>
                <a:uFillTx/>
                <a:latin typeface="Calibri"/>
                <a:ea typeface="Calibri"/>
              </a:rPr>
              <a:t>square feet</a:t>
            </a:r>
            <a:endParaRPr b="0" lang="en-US" sz="1300" strike="noStrike" u="none">
              <a:solidFill>
                <a:srgbClr val="000000"/>
              </a:solidFill>
              <a:effectLst/>
              <a:uFillTx/>
              <a:latin typeface="Arial"/>
            </a:endParaRPr>
          </a:p>
        </p:txBody>
      </p:sp>
      <p:sp>
        <p:nvSpPr>
          <p:cNvPr id="1344" name="Text 60"/>
          <p:cNvSpPr/>
          <p:nvPr/>
        </p:nvSpPr>
        <p:spPr>
          <a:xfrm>
            <a:off x="1097280" y="5266800"/>
            <a:ext cx="557748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350" strike="noStrike" u="none">
                <a:solidFill>
                  <a:srgbClr val="5d6e7c"/>
                </a:solidFill>
                <a:effectLst/>
                <a:uFillTx/>
                <a:latin typeface="Calibri"/>
                <a:ea typeface="Calibri"/>
              </a:rPr>
              <a:t>rings are the cluster centres; the faint spokes are what gets minimised</a:t>
            </a:r>
            <a:endParaRPr b="0" lang="en-US" sz="1350" strike="noStrike" u="none">
              <a:solidFill>
                <a:srgbClr val="000000"/>
              </a:solidFill>
              <a:effectLst/>
              <a:uFillTx/>
              <a:latin typeface="Arial"/>
            </a:endParaRPr>
          </a:p>
        </p:txBody>
      </p:sp>
      <p:sp>
        <p:nvSpPr>
          <p:cNvPr id="1345" name="Shape 61"/>
          <p:cNvSpPr/>
          <p:nvPr/>
        </p:nvSpPr>
        <p:spPr>
          <a:xfrm>
            <a:off x="7178040" y="1828800"/>
            <a:ext cx="383760" cy="3837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46" name="Text 62"/>
          <p:cNvSpPr/>
          <p:nvPr/>
        </p:nvSpPr>
        <p:spPr>
          <a:xfrm>
            <a:off x="7178040" y="182880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1</a:t>
            </a:r>
            <a:endParaRPr b="0" lang="en-US" sz="1600" strike="noStrike" u="none">
              <a:solidFill>
                <a:srgbClr val="000000"/>
              </a:solidFill>
              <a:effectLst/>
              <a:uFillTx/>
              <a:latin typeface="Arial"/>
            </a:endParaRPr>
          </a:p>
        </p:txBody>
      </p:sp>
      <p:sp>
        <p:nvSpPr>
          <p:cNvPr id="1347" name="Text 63"/>
          <p:cNvSpPr/>
          <p:nvPr/>
        </p:nvSpPr>
        <p:spPr>
          <a:xfrm>
            <a:off x="7726680" y="1847160"/>
            <a:ext cx="382176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The output is two things</a:t>
            </a:r>
            <a:endParaRPr b="0" lang="en-US" sz="1650" strike="noStrike" u="none">
              <a:solidFill>
                <a:srgbClr val="000000"/>
              </a:solidFill>
              <a:effectLst/>
              <a:uFillTx/>
              <a:latin typeface="Arial"/>
            </a:endParaRPr>
          </a:p>
        </p:txBody>
      </p:sp>
      <p:sp>
        <p:nvSpPr>
          <p:cNvPr id="1348" name="Text 64"/>
          <p:cNvSpPr/>
          <p:nvPr/>
        </p:nvSpPr>
        <p:spPr>
          <a:xfrm>
            <a:off x="7726680" y="2176200"/>
            <a:ext cx="3821760" cy="749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A label 0 to k−1 for every row, plus the coordinates of k centre points. That is all of it.</a:t>
            </a:r>
            <a:endParaRPr b="0" lang="en-US" sz="1400" strike="noStrike" u="none">
              <a:solidFill>
                <a:srgbClr val="000000"/>
              </a:solidFill>
              <a:effectLst/>
              <a:uFillTx/>
              <a:latin typeface="Arial"/>
            </a:endParaRPr>
          </a:p>
        </p:txBody>
      </p:sp>
      <p:sp>
        <p:nvSpPr>
          <p:cNvPr id="1349" name="Shape 65"/>
          <p:cNvSpPr/>
          <p:nvPr/>
        </p:nvSpPr>
        <p:spPr>
          <a:xfrm>
            <a:off x="7178040" y="3044880"/>
            <a:ext cx="383760" cy="3837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50" name="Text 66"/>
          <p:cNvSpPr/>
          <p:nvPr/>
        </p:nvSpPr>
        <p:spPr>
          <a:xfrm>
            <a:off x="7178040" y="304488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2</a:t>
            </a:r>
            <a:endParaRPr b="0" lang="en-US" sz="1600" strike="noStrike" u="none">
              <a:solidFill>
                <a:srgbClr val="000000"/>
              </a:solidFill>
              <a:effectLst/>
              <a:uFillTx/>
              <a:latin typeface="Arial"/>
            </a:endParaRPr>
          </a:p>
        </p:txBody>
      </p:sp>
      <p:sp>
        <p:nvSpPr>
          <p:cNvPr id="1351" name="Text 67"/>
          <p:cNvSpPr/>
          <p:nvPr/>
        </p:nvSpPr>
        <p:spPr>
          <a:xfrm>
            <a:off x="7726680" y="3063240"/>
            <a:ext cx="382176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The objective</a:t>
            </a:r>
            <a:endParaRPr b="0" lang="en-US" sz="1650" strike="noStrike" u="none">
              <a:solidFill>
                <a:srgbClr val="000000"/>
              </a:solidFill>
              <a:effectLst/>
              <a:uFillTx/>
              <a:latin typeface="Arial"/>
            </a:endParaRPr>
          </a:p>
        </p:txBody>
      </p:sp>
      <p:sp>
        <p:nvSpPr>
          <p:cNvPr id="1352" name="Text 68"/>
          <p:cNvSpPr/>
          <p:nvPr/>
        </p:nvSpPr>
        <p:spPr>
          <a:xfrm>
            <a:off x="7726680" y="3392280"/>
            <a:ext cx="3821760" cy="749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Add up the squared length of every spoke in that picture. That total is called inertia.</a:t>
            </a:r>
            <a:endParaRPr b="0" lang="en-US" sz="1400" strike="noStrike" u="none">
              <a:solidFill>
                <a:srgbClr val="000000"/>
              </a:solidFill>
              <a:effectLst/>
              <a:uFillTx/>
              <a:latin typeface="Arial"/>
            </a:endParaRPr>
          </a:p>
        </p:txBody>
      </p:sp>
      <p:sp>
        <p:nvSpPr>
          <p:cNvPr id="1353" name="Shape 69"/>
          <p:cNvSpPr/>
          <p:nvPr/>
        </p:nvSpPr>
        <p:spPr>
          <a:xfrm>
            <a:off x="7178040" y="4260960"/>
            <a:ext cx="383760" cy="3837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54" name="Text 70"/>
          <p:cNvSpPr/>
          <p:nvPr/>
        </p:nvSpPr>
        <p:spPr>
          <a:xfrm>
            <a:off x="7178040" y="426096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3</a:t>
            </a:r>
            <a:endParaRPr b="0" lang="en-US" sz="1600" strike="noStrike" u="none">
              <a:solidFill>
                <a:srgbClr val="000000"/>
              </a:solidFill>
              <a:effectLst/>
              <a:uFillTx/>
              <a:latin typeface="Arial"/>
            </a:endParaRPr>
          </a:p>
        </p:txBody>
      </p:sp>
      <p:sp>
        <p:nvSpPr>
          <p:cNvPr id="1355" name="Text 71"/>
          <p:cNvSpPr/>
          <p:nvPr/>
        </p:nvSpPr>
        <p:spPr>
          <a:xfrm>
            <a:off x="7726680" y="4279320"/>
            <a:ext cx="382176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Minimising it exactly is hard</a:t>
            </a:r>
            <a:endParaRPr b="0" lang="en-US" sz="1650" strike="noStrike" u="none">
              <a:solidFill>
                <a:srgbClr val="000000"/>
              </a:solidFill>
              <a:effectLst/>
              <a:uFillTx/>
              <a:latin typeface="Arial"/>
            </a:endParaRPr>
          </a:p>
        </p:txBody>
      </p:sp>
      <p:sp>
        <p:nvSpPr>
          <p:cNvPr id="1356" name="Text 72"/>
          <p:cNvSpPr/>
          <p:nvPr/>
        </p:nvSpPr>
        <p:spPr>
          <a:xfrm>
            <a:off x="7726680" y="4608720"/>
            <a:ext cx="3821760" cy="749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Checking every possible assignment is NP-hard, so k-means is a fast heuristic that usually lands close.</a:t>
            </a:r>
            <a:endParaRPr b="0" lang="en-US" sz="1400" strike="noStrike" u="none">
              <a:solidFill>
                <a:srgbClr val="000000"/>
              </a:solidFill>
              <a:effectLst/>
              <a:uFillTx/>
              <a:latin typeface="Arial"/>
            </a:endParaRPr>
          </a:p>
        </p:txBody>
      </p:sp>
      <p:sp>
        <p:nvSpPr>
          <p:cNvPr id="1357" name="Shape 73"/>
          <p:cNvSpPr/>
          <p:nvPr/>
        </p:nvSpPr>
        <p:spPr>
          <a:xfrm>
            <a:off x="640080" y="5623560"/>
            <a:ext cx="10911240" cy="776880"/>
          </a:xfrm>
          <a:prstGeom prst="roundRect">
            <a:avLst>
              <a:gd name="adj" fmla="val 9412"/>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58" name="Text 74"/>
          <p:cNvSpPr/>
          <p:nvPr/>
        </p:nvSpPr>
        <p:spPr>
          <a:xfrm>
            <a:off x="960120" y="5623560"/>
            <a:ext cx="1027116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trike="noStrike" u="none">
                <a:solidFill>
                  <a:srgbClr val="ff6b35"/>
                </a:solidFill>
                <a:effectLst/>
                <a:uFillTx/>
                <a:latin typeface="Cambria"/>
                <a:ea typeface="Cambria"/>
              </a:rPr>
              <a:t>inertia  =  Σ ‖ x − μ ‖²</a:t>
            </a:r>
            <a:r>
              <a:rPr b="0" lang="en-US" sz="1550" strike="noStrike" u="none">
                <a:solidFill>
                  <a:srgbClr val="d6e0e8"/>
                </a:solidFill>
                <a:effectLst/>
                <a:uFillTx/>
                <a:latin typeface="Calibri"/>
                <a:ea typeface="Calibri"/>
              </a:rPr>
              <a:t>      summed over every point, using the centre of its own cluster</a:t>
            </a:r>
            <a:endParaRPr b="0" lang="en-US" sz="15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59"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THE ALGORITHM</a:t>
            </a:r>
            <a:endParaRPr b="0" lang="en-US" sz="1200" strike="noStrike" u="none">
              <a:solidFill>
                <a:srgbClr val="000000"/>
              </a:solidFill>
              <a:effectLst/>
              <a:uFillTx/>
              <a:latin typeface="Arial"/>
            </a:endParaRPr>
          </a:p>
        </p:txBody>
      </p:sp>
      <p:sp>
        <p:nvSpPr>
          <p:cNvPr id="1360"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k-means, one pass at a time</a:t>
            </a:r>
            <a:endParaRPr b="0" lang="en-US" sz="3200" strike="noStrike" u="none">
              <a:solidFill>
                <a:srgbClr val="000000"/>
              </a:solidFill>
              <a:effectLst/>
              <a:uFillTx/>
              <a:latin typeface="Arial"/>
            </a:endParaRPr>
          </a:p>
        </p:txBody>
      </p:sp>
      <p:sp>
        <p:nvSpPr>
          <p:cNvPr id="1361" name="Text 2"/>
          <p:cNvSpPr/>
          <p:nvPr/>
        </p:nvSpPr>
        <p:spPr>
          <a:xfrm>
            <a:off x="640080" y="1645920"/>
            <a:ext cx="2578320" cy="310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50" strike="noStrike" u="none">
                <a:solidFill>
                  <a:srgbClr val="14202b"/>
                </a:solidFill>
                <a:effectLst/>
                <a:uFillTx/>
                <a:latin typeface="Calibri"/>
                <a:ea typeface="Calibri"/>
              </a:rPr>
              <a:t>1 · place k centres</a:t>
            </a:r>
            <a:endParaRPr b="0" lang="en-US" sz="1450" strike="noStrike" u="none">
              <a:solidFill>
                <a:srgbClr val="000000"/>
              </a:solidFill>
              <a:effectLst/>
              <a:uFillTx/>
              <a:latin typeface="Arial"/>
            </a:endParaRPr>
          </a:p>
        </p:txBody>
      </p:sp>
      <p:sp>
        <p:nvSpPr>
          <p:cNvPr id="1362" name="Shape 3"/>
          <p:cNvSpPr/>
          <p:nvPr/>
        </p:nvSpPr>
        <p:spPr>
          <a:xfrm>
            <a:off x="969120" y="3961080"/>
            <a:ext cx="19198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363" name="Shape 4"/>
          <p:cNvSpPr/>
          <p:nvPr/>
        </p:nvSpPr>
        <p:spPr>
          <a:xfrm rot="5400000">
            <a:off x="9360" y="3000960"/>
            <a:ext cx="19198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364" name="Shape 5"/>
          <p:cNvSpPr/>
          <p:nvPr/>
        </p:nvSpPr>
        <p:spPr>
          <a:xfrm>
            <a:off x="1178640" y="232452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65" name="Shape 6"/>
          <p:cNvSpPr/>
          <p:nvPr/>
        </p:nvSpPr>
        <p:spPr>
          <a:xfrm>
            <a:off x="1293840" y="255492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66" name="Shape 7"/>
          <p:cNvSpPr/>
          <p:nvPr/>
        </p:nvSpPr>
        <p:spPr>
          <a:xfrm>
            <a:off x="1409040" y="234360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67" name="Shape 8"/>
          <p:cNvSpPr/>
          <p:nvPr/>
        </p:nvSpPr>
        <p:spPr>
          <a:xfrm>
            <a:off x="1255320" y="267012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68" name="Shape 9"/>
          <p:cNvSpPr/>
          <p:nvPr/>
        </p:nvSpPr>
        <p:spPr>
          <a:xfrm>
            <a:off x="1486080" y="245880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69" name="Shape 10"/>
          <p:cNvSpPr/>
          <p:nvPr/>
        </p:nvSpPr>
        <p:spPr>
          <a:xfrm>
            <a:off x="1351440" y="222840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70" name="Shape 11"/>
          <p:cNvSpPr/>
          <p:nvPr/>
        </p:nvSpPr>
        <p:spPr>
          <a:xfrm>
            <a:off x="1140120" y="251640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71" name="Shape 12"/>
          <p:cNvSpPr/>
          <p:nvPr/>
        </p:nvSpPr>
        <p:spPr>
          <a:xfrm>
            <a:off x="1466640" y="265068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72" name="Shape 13"/>
          <p:cNvSpPr/>
          <p:nvPr/>
        </p:nvSpPr>
        <p:spPr>
          <a:xfrm>
            <a:off x="2157840" y="242028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73" name="Shape 14"/>
          <p:cNvSpPr/>
          <p:nvPr/>
        </p:nvSpPr>
        <p:spPr>
          <a:xfrm>
            <a:off x="2311560" y="267012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74" name="Shape 15"/>
          <p:cNvSpPr/>
          <p:nvPr/>
        </p:nvSpPr>
        <p:spPr>
          <a:xfrm>
            <a:off x="2465280" y="249732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75" name="Shape 16"/>
          <p:cNvSpPr/>
          <p:nvPr/>
        </p:nvSpPr>
        <p:spPr>
          <a:xfrm>
            <a:off x="2234880" y="276624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76" name="Shape 17"/>
          <p:cNvSpPr/>
          <p:nvPr/>
        </p:nvSpPr>
        <p:spPr>
          <a:xfrm>
            <a:off x="2407680" y="232452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77" name="Shape 18"/>
          <p:cNvSpPr/>
          <p:nvPr/>
        </p:nvSpPr>
        <p:spPr>
          <a:xfrm>
            <a:off x="2541960" y="265068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78" name="Shape 19"/>
          <p:cNvSpPr/>
          <p:nvPr/>
        </p:nvSpPr>
        <p:spPr>
          <a:xfrm>
            <a:off x="2119680" y="259308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79" name="Shape 20"/>
          <p:cNvSpPr/>
          <p:nvPr/>
        </p:nvSpPr>
        <p:spPr>
          <a:xfrm>
            <a:off x="2369160" y="253548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80" name="Shape 21"/>
          <p:cNvSpPr/>
          <p:nvPr/>
        </p:nvSpPr>
        <p:spPr>
          <a:xfrm>
            <a:off x="1716480" y="351504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81" name="Shape 22"/>
          <p:cNvSpPr/>
          <p:nvPr/>
        </p:nvSpPr>
        <p:spPr>
          <a:xfrm>
            <a:off x="1850760" y="330372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82" name="Shape 23"/>
          <p:cNvSpPr/>
          <p:nvPr/>
        </p:nvSpPr>
        <p:spPr>
          <a:xfrm>
            <a:off x="1985040" y="345744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83" name="Shape 24"/>
          <p:cNvSpPr/>
          <p:nvPr/>
        </p:nvSpPr>
        <p:spPr>
          <a:xfrm>
            <a:off x="1754640" y="326520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84" name="Shape 25"/>
          <p:cNvSpPr/>
          <p:nvPr/>
        </p:nvSpPr>
        <p:spPr>
          <a:xfrm>
            <a:off x="1927440" y="361080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85" name="Shape 26"/>
          <p:cNvSpPr/>
          <p:nvPr/>
        </p:nvSpPr>
        <p:spPr>
          <a:xfrm>
            <a:off x="2042640" y="334224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86" name="Shape 27"/>
          <p:cNvSpPr/>
          <p:nvPr/>
        </p:nvSpPr>
        <p:spPr>
          <a:xfrm>
            <a:off x="1677960" y="336132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87" name="Shape 28"/>
          <p:cNvSpPr/>
          <p:nvPr/>
        </p:nvSpPr>
        <p:spPr>
          <a:xfrm>
            <a:off x="1889280" y="3495600"/>
            <a:ext cx="118440" cy="118440"/>
          </a:xfrm>
          <a:prstGeom prst="ellipse">
            <a:avLst/>
          </a:prstGeom>
          <a:solidFill>
            <a:srgbClr val="b9c2cb"/>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000000"/>
              </a:solidFill>
              <a:effectLst/>
              <a:uFillTx/>
              <a:latin typeface="Arial"/>
            </a:endParaRPr>
          </a:p>
        </p:txBody>
      </p:sp>
      <p:sp>
        <p:nvSpPr>
          <p:cNvPr id="1388" name="Shape 29"/>
          <p:cNvSpPr/>
          <p:nvPr/>
        </p:nvSpPr>
        <p:spPr>
          <a:xfrm>
            <a:off x="1321200" y="3081600"/>
            <a:ext cx="255600" cy="2556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89" name="Shape 30"/>
          <p:cNvSpPr/>
          <p:nvPr/>
        </p:nvSpPr>
        <p:spPr>
          <a:xfrm>
            <a:off x="1394640" y="3154680"/>
            <a:ext cx="109440" cy="109440"/>
          </a:xfrm>
          <a:prstGeom prst="ellipse">
            <a:avLst/>
          </a:prstGeom>
          <a:solidFill>
            <a:srgbClr val="ffffff"/>
          </a:solidFill>
          <a:ln w="0">
            <a:noFill/>
          </a:ln>
        </p:spPr>
        <p:style>
          <a:lnRef idx="0"/>
          <a:fillRef idx="0"/>
          <a:effectRef idx="0"/>
          <a:fontRef idx="minor"/>
        </p:style>
        <p:txBody>
          <a:bodyPr lIns="90000" rIns="90000" tIns="32760" bIns="32760" anchor="t">
            <a:noAutofit/>
          </a:bodyPr>
          <a:p>
            <a:endParaRPr b="0" lang="en-US" sz="1800" strike="noStrike" u="none">
              <a:solidFill>
                <a:srgbClr val="000000"/>
              </a:solidFill>
              <a:effectLst/>
              <a:uFillTx/>
              <a:latin typeface="Arial"/>
            </a:endParaRPr>
          </a:p>
        </p:txBody>
      </p:sp>
      <p:sp>
        <p:nvSpPr>
          <p:cNvPr id="1390" name="Shape 31"/>
          <p:cNvSpPr/>
          <p:nvPr/>
        </p:nvSpPr>
        <p:spPr>
          <a:xfrm>
            <a:off x="1801440" y="2697480"/>
            <a:ext cx="255600" cy="25560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91" name="Shape 32"/>
          <p:cNvSpPr/>
          <p:nvPr/>
        </p:nvSpPr>
        <p:spPr>
          <a:xfrm>
            <a:off x="1874520" y="2770560"/>
            <a:ext cx="109440" cy="109440"/>
          </a:xfrm>
          <a:prstGeom prst="ellipse">
            <a:avLst/>
          </a:prstGeom>
          <a:solidFill>
            <a:srgbClr val="ffffff"/>
          </a:solidFill>
          <a:ln w="0">
            <a:noFill/>
          </a:ln>
        </p:spPr>
        <p:style>
          <a:lnRef idx="0"/>
          <a:fillRef idx="0"/>
          <a:effectRef idx="0"/>
          <a:fontRef idx="minor"/>
        </p:style>
        <p:txBody>
          <a:bodyPr lIns="90000" rIns="90000" tIns="32760" bIns="32760" anchor="t">
            <a:noAutofit/>
          </a:bodyPr>
          <a:p>
            <a:endParaRPr b="0" lang="en-US" sz="1800" strike="noStrike" u="none">
              <a:solidFill>
                <a:srgbClr val="000000"/>
              </a:solidFill>
              <a:effectLst/>
              <a:uFillTx/>
              <a:latin typeface="Arial"/>
            </a:endParaRPr>
          </a:p>
        </p:txBody>
      </p:sp>
      <p:sp>
        <p:nvSpPr>
          <p:cNvPr id="1392" name="Shape 33"/>
          <p:cNvSpPr/>
          <p:nvPr/>
        </p:nvSpPr>
        <p:spPr>
          <a:xfrm>
            <a:off x="2089440" y="3273480"/>
            <a:ext cx="255600" cy="25560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93" name="Shape 34"/>
          <p:cNvSpPr/>
          <p:nvPr/>
        </p:nvSpPr>
        <p:spPr>
          <a:xfrm>
            <a:off x="2162520" y="3346560"/>
            <a:ext cx="109440" cy="109440"/>
          </a:xfrm>
          <a:prstGeom prst="ellipse">
            <a:avLst/>
          </a:prstGeom>
          <a:solidFill>
            <a:srgbClr val="ffffff"/>
          </a:solidFill>
          <a:ln w="0">
            <a:noFill/>
          </a:ln>
        </p:spPr>
        <p:style>
          <a:lnRef idx="0"/>
          <a:fillRef idx="0"/>
          <a:effectRef idx="0"/>
          <a:fontRef idx="minor"/>
        </p:style>
        <p:txBody>
          <a:bodyPr lIns="90000" rIns="90000" tIns="32760" bIns="32760" anchor="t">
            <a:noAutofit/>
          </a:bodyPr>
          <a:p>
            <a:endParaRPr b="0" lang="en-US" sz="1800" strike="noStrike" u="none">
              <a:solidFill>
                <a:srgbClr val="000000"/>
              </a:solidFill>
              <a:effectLst/>
              <a:uFillTx/>
              <a:latin typeface="Arial"/>
            </a:endParaRPr>
          </a:p>
        </p:txBody>
      </p:sp>
      <p:sp>
        <p:nvSpPr>
          <p:cNvPr id="1394" name="Text 35"/>
          <p:cNvSpPr/>
          <p:nvPr/>
        </p:nvSpPr>
        <p:spPr>
          <a:xfrm>
            <a:off x="3420000" y="1645920"/>
            <a:ext cx="2578320" cy="310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50" strike="noStrike" u="none">
                <a:solidFill>
                  <a:srgbClr val="14202b"/>
                </a:solidFill>
                <a:effectLst/>
                <a:uFillTx/>
                <a:latin typeface="Calibri"/>
                <a:ea typeface="Calibri"/>
              </a:rPr>
              <a:t>2 · assign to nearest</a:t>
            </a:r>
            <a:endParaRPr b="0" lang="en-US" sz="1450" strike="noStrike" u="none">
              <a:solidFill>
                <a:srgbClr val="000000"/>
              </a:solidFill>
              <a:effectLst/>
              <a:uFillTx/>
              <a:latin typeface="Arial"/>
            </a:endParaRPr>
          </a:p>
        </p:txBody>
      </p:sp>
      <p:sp>
        <p:nvSpPr>
          <p:cNvPr id="1395" name="Shape 36"/>
          <p:cNvSpPr/>
          <p:nvPr/>
        </p:nvSpPr>
        <p:spPr>
          <a:xfrm>
            <a:off x="3749040" y="3961080"/>
            <a:ext cx="19198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396" name="Shape 37"/>
          <p:cNvSpPr/>
          <p:nvPr/>
        </p:nvSpPr>
        <p:spPr>
          <a:xfrm rot="5400000">
            <a:off x="2789280" y="3000960"/>
            <a:ext cx="19198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397" name="Shape 38"/>
          <p:cNvSpPr/>
          <p:nvPr/>
        </p:nvSpPr>
        <p:spPr>
          <a:xfrm>
            <a:off x="3958560" y="232452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398" name="Shape 39"/>
          <p:cNvSpPr/>
          <p:nvPr/>
        </p:nvSpPr>
        <p:spPr>
          <a:xfrm>
            <a:off x="4073760" y="255492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399" name="Shape 40"/>
          <p:cNvSpPr/>
          <p:nvPr/>
        </p:nvSpPr>
        <p:spPr>
          <a:xfrm>
            <a:off x="4188960" y="234360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00" name="Shape 41"/>
          <p:cNvSpPr/>
          <p:nvPr/>
        </p:nvSpPr>
        <p:spPr>
          <a:xfrm>
            <a:off x="4035240" y="267012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01" name="Shape 42"/>
          <p:cNvSpPr/>
          <p:nvPr/>
        </p:nvSpPr>
        <p:spPr>
          <a:xfrm>
            <a:off x="4265640" y="245880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02" name="Shape 43"/>
          <p:cNvSpPr/>
          <p:nvPr/>
        </p:nvSpPr>
        <p:spPr>
          <a:xfrm>
            <a:off x="4131360" y="222840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03" name="Shape 44"/>
          <p:cNvSpPr/>
          <p:nvPr/>
        </p:nvSpPr>
        <p:spPr>
          <a:xfrm>
            <a:off x="3920040" y="251640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04" name="Shape 45"/>
          <p:cNvSpPr/>
          <p:nvPr/>
        </p:nvSpPr>
        <p:spPr>
          <a:xfrm>
            <a:off x="4246560" y="265068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05" name="Shape 46"/>
          <p:cNvSpPr/>
          <p:nvPr/>
        </p:nvSpPr>
        <p:spPr>
          <a:xfrm>
            <a:off x="4937760" y="242028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06" name="Shape 47"/>
          <p:cNvSpPr/>
          <p:nvPr/>
        </p:nvSpPr>
        <p:spPr>
          <a:xfrm>
            <a:off x="5091480" y="267012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07" name="Shape 48"/>
          <p:cNvSpPr/>
          <p:nvPr/>
        </p:nvSpPr>
        <p:spPr>
          <a:xfrm>
            <a:off x="5244840" y="249732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08" name="Shape 49"/>
          <p:cNvSpPr/>
          <p:nvPr/>
        </p:nvSpPr>
        <p:spPr>
          <a:xfrm>
            <a:off x="5014440" y="276624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09" name="Shape 50"/>
          <p:cNvSpPr/>
          <p:nvPr/>
        </p:nvSpPr>
        <p:spPr>
          <a:xfrm>
            <a:off x="5187240" y="232452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10" name="Shape 51"/>
          <p:cNvSpPr/>
          <p:nvPr/>
        </p:nvSpPr>
        <p:spPr>
          <a:xfrm>
            <a:off x="5321880" y="265068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11" name="Shape 52"/>
          <p:cNvSpPr/>
          <p:nvPr/>
        </p:nvSpPr>
        <p:spPr>
          <a:xfrm>
            <a:off x="4899240" y="259308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12" name="Shape 53"/>
          <p:cNvSpPr/>
          <p:nvPr/>
        </p:nvSpPr>
        <p:spPr>
          <a:xfrm>
            <a:off x="5149080" y="253548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13" name="Shape 54"/>
          <p:cNvSpPr/>
          <p:nvPr/>
        </p:nvSpPr>
        <p:spPr>
          <a:xfrm>
            <a:off x="4496040" y="351504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14" name="Shape 55"/>
          <p:cNvSpPr/>
          <p:nvPr/>
        </p:nvSpPr>
        <p:spPr>
          <a:xfrm>
            <a:off x="4630680" y="330372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15" name="Shape 56"/>
          <p:cNvSpPr/>
          <p:nvPr/>
        </p:nvSpPr>
        <p:spPr>
          <a:xfrm>
            <a:off x="4764960" y="345744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16" name="Shape 57"/>
          <p:cNvSpPr/>
          <p:nvPr/>
        </p:nvSpPr>
        <p:spPr>
          <a:xfrm>
            <a:off x="4534560" y="326520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17" name="Shape 58"/>
          <p:cNvSpPr/>
          <p:nvPr/>
        </p:nvSpPr>
        <p:spPr>
          <a:xfrm>
            <a:off x="4707360" y="361080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18" name="Shape 59"/>
          <p:cNvSpPr/>
          <p:nvPr/>
        </p:nvSpPr>
        <p:spPr>
          <a:xfrm>
            <a:off x="4822560" y="334224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19" name="Shape 60"/>
          <p:cNvSpPr/>
          <p:nvPr/>
        </p:nvSpPr>
        <p:spPr>
          <a:xfrm>
            <a:off x="4457880" y="336132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20" name="Shape 61"/>
          <p:cNvSpPr/>
          <p:nvPr/>
        </p:nvSpPr>
        <p:spPr>
          <a:xfrm>
            <a:off x="4668840" y="349560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21" name="Shape 62"/>
          <p:cNvSpPr/>
          <p:nvPr/>
        </p:nvSpPr>
        <p:spPr>
          <a:xfrm>
            <a:off x="4101120" y="3081600"/>
            <a:ext cx="255600" cy="2556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22" name="Shape 63"/>
          <p:cNvSpPr/>
          <p:nvPr/>
        </p:nvSpPr>
        <p:spPr>
          <a:xfrm>
            <a:off x="4174200" y="3154680"/>
            <a:ext cx="109440" cy="109440"/>
          </a:xfrm>
          <a:prstGeom prst="ellipse">
            <a:avLst/>
          </a:prstGeom>
          <a:solidFill>
            <a:srgbClr val="ffffff"/>
          </a:solidFill>
          <a:ln w="0">
            <a:noFill/>
          </a:ln>
        </p:spPr>
        <p:style>
          <a:lnRef idx="0"/>
          <a:fillRef idx="0"/>
          <a:effectRef idx="0"/>
          <a:fontRef idx="minor"/>
        </p:style>
        <p:txBody>
          <a:bodyPr lIns="90000" rIns="90000" tIns="32760" bIns="32760" anchor="t">
            <a:noAutofit/>
          </a:bodyPr>
          <a:p>
            <a:endParaRPr b="0" lang="en-US" sz="1800" strike="noStrike" u="none">
              <a:solidFill>
                <a:srgbClr val="000000"/>
              </a:solidFill>
              <a:effectLst/>
              <a:uFillTx/>
              <a:latin typeface="Arial"/>
            </a:endParaRPr>
          </a:p>
        </p:txBody>
      </p:sp>
      <p:sp>
        <p:nvSpPr>
          <p:cNvPr id="1423" name="Shape 64"/>
          <p:cNvSpPr/>
          <p:nvPr/>
        </p:nvSpPr>
        <p:spPr>
          <a:xfrm>
            <a:off x="4581000" y="2697480"/>
            <a:ext cx="255600" cy="25560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24" name="Shape 65"/>
          <p:cNvSpPr/>
          <p:nvPr/>
        </p:nvSpPr>
        <p:spPr>
          <a:xfrm>
            <a:off x="4654440" y="2770560"/>
            <a:ext cx="109440" cy="109440"/>
          </a:xfrm>
          <a:prstGeom prst="ellipse">
            <a:avLst/>
          </a:prstGeom>
          <a:solidFill>
            <a:srgbClr val="ffffff"/>
          </a:solidFill>
          <a:ln w="0">
            <a:noFill/>
          </a:ln>
        </p:spPr>
        <p:style>
          <a:lnRef idx="0"/>
          <a:fillRef idx="0"/>
          <a:effectRef idx="0"/>
          <a:fontRef idx="minor"/>
        </p:style>
        <p:txBody>
          <a:bodyPr lIns="90000" rIns="90000" tIns="32760" bIns="32760" anchor="t">
            <a:noAutofit/>
          </a:bodyPr>
          <a:p>
            <a:endParaRPr b="0" lang="en-US" sz="1800" strike="noStrike" u="none">
              <a:solidFill>
                <a:srgbClr val="000000"/>
              </a:solidFill>
              <a:effectLst/>
              <a:uFillTx/>
              <a:latin typeface="Arial"/>
            </a:endParaRPr>
          </a:p>
        </p:txBody>
      </p:sp>
      <p:sp>
        <p:nvSpPr>
          <p:cNvPr id="1425" name="Shape 66"/>
          <p:cNvSpPr/>
          <p:nvPr/>
        </p:nvSpPr>
        <p:spPr>
          <a:xfrm>
            <a:off x="4869360" y="3273480"/>
            <a:ext cx="255600" cy="25560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26" name="Shape 67"/>
          <p:cNvSpPr/>
          <p:nvPr/>
        </p:nvSpPr>
        <p:spPr>
          <a:xfrm>
            <a:off x="4942440" y="3346560"/>
            <a:ext cx="109440" cy="109440"/>
          </a:xfrm>
          <a:prstGeom prst="ellipse">
            <a:avLst/>
          </a:prstGeom>
          <a:solidFill>
            <a:srgbClr val="ffffff"/>
          </a:solidFill>
          <a:ln w="0">
            <a:noFill/>
          </a:ln>
        </p:spPr>
        <p:style>
          <a:lnRef idx="0"/>
          <a:fillRef idx="0"/>
          <a:effectRef idx="0"/>
          <a:fontRef idx="minor"/>
        </p:style>
        <p:txBody>
          <a:bodyPr lIns="90000" rIns="90000" tIns="32760" bIns="32760" anchor="t">
            <a:noAutofit/>
          </a:bodyPr>
          <a:p>
            <a:endParaRPr b="0" lang="en-US" sz="1800" strike="noStrike" u="none">
              <a:solidFill>
                <a:srgbClr val="000000"/>
              </a:solidFill>
              <a:effectLst/>
              <a:uFillTx/>
              <a:latin typeface="Arial"/>
            </a:endParaRPr>
          </a:p>
        </p:txBody>
      </p:sp>
      <p:sp>
        <p:nvSpPr>
          <p:cNvPr id="1427" name="Text 68"/>
          <p:cNvSpPr/>
          <p:nvPr/>
        </p:nvSpPr>
        <p:spPr>
          <a:xfrm>
            <a:off x="6199560" y="1645920"/>
            <a:ext cx="2578320" cy="310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50" strike="noStrike" u="none">
                <a:solidFill>
                  <a:srgbClr val="14202b"/>
                </a:solidFill>
                <a:effectLst/>
                <a:uFillTx/>
                <a:latin typeface="Calibri"/>
                <a:ea typeface="Calibri"/>
              </a:rPr>
              <a:t>3 · move to the mean</a:t>
            </a:r>
            <a:endParaRPr b="0" lang="en-US" sz="1450" strike="noStrike" u="none">
              <a:solidFill>
                <a:srgbClr val="000000"/>
              </a:solidFill>
              <a:effectLst/>
              <a:uFillTx/>
              <a:latin typeface="Arial"/>
            </a:endParaRPr>
          </a:p>
        </p:txBody>
      </p:sp>
      <p:sp>
        <p:nvSpPr>
          <p:cNvPr id="1428" name="Shape 69"/>
          <p:cNvSpPr/>
          <p:nvPr/>
        </p:nvSpPr>
        <p:spPr>
          <a:xfrm>
            <a:off x="6528960" y="3961080"/>
            <a:ext cx="19198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429" name="Shape 70"/>
          <p:cNvSpPr/>
          <p:nvPr/>
        </p:nvSpPr>
        <p:spPr>
          <a:xfrm rot="5400000">
            <a:off x="5568840" y="3000960"/>
            <a:ext cx="19198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430" name="Shape 71"/>
          <p:cNvSpPr/>
          <p:nvPr/>
        </p:nvSpPr>
        <p:spPr>
          <a:xfrm>
            <a:off x="6738120" y="232452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31" name="Shape 72"/>
          <p:cNvSpPr/>
          <p:nvPr/>
        </p:nvSpPr>
        <p:spPr>
          <a:xfrm>
            <a:off x="6853320" y="255492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32" name="Shape 73"/>
          <p:cNvSpPr/>
          <p:nvPr/>
        </p:nvSpPr>
        <p:spPr>
          <a:xfrm>
            <a:off x="6968520" y="234360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33" name="Shape 74"/>
          <p:cNvSpPr/>
          <p:nvPr/>
        </p:nvSpPr>
        <p:spPr>
          <a:xfrm>
            <a:off x="6815160" y="267012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34" name="Shape 75"/>
          <p:cNvSpPr/>
          <p:nvPr/>
        </p:nvSpPr>
        <p:spPr>
          <a:xfrm>
            <a:off x="7045560" y="245880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35" name="Shape 76"/>
          <p:cNvSpPr/>
          <p:nvPr/>
        </p:nvSpPr>
        <p:spPr>
          <a:xfrm>
            <a:off x="6910920" y="222840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36" name="Shape 77"/>
          <p:cNvSpPr/>
          <p:nvPr/>
        </p:nvSpPr>
        <p:spPr>
          <a:xfrm>
            <a:off x="6699960" y="251640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37" name="Shape 78"/>
          <p:cNvSpPr/>
          <p:nvPr/>
        </p:nvSpPr>
        <p:spPr>
          <a:xfrm>
            <a:off x="7026120" y="265068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38" name="Shape 79"/>
          <p:cNvSpPr/>
          <p:nvPr/>
        </p:nvSpPr>
        <p:spPr>
          <a:xfrm>
            <a:off x="7717680" y="242028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39" name="Shape 80"/>
          <p:cNvSpPr/>
          <p:nvPr/>
        </p:nvSpPr>
        <p:spPr>
          <a:xfrm>
            <a:off x="7871040" y="267012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40" name="Shape 81"/>
          <p:cNvSpPr/>
          <p:nvPr/>
        </p:nvSpPr>
        <p:spPr>
          <a:xfrm>
            <a:off x="8024760" y="249732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41" name="Shape 82"/>
          <p:cNvSpPr/>
          <p:nvPr/>
        </p:nvSpPr>
        <p:spPr>
          <a:xfrm>
            <a:off x="7794360" y="276624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42" name="Shape 83"/>
          <p:cNvSpPr/>
          <p:nvPr/>
        </p:nvSpPr>
        <p:spPr>
          <a:xfrm>
            <a:off x="7967160" y="232452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43" name="Shape 84"/>
          <p:cNvSpPr/>
          <p:nvPr/>
        </p:nvSpPr>
        <p:spPr>
          <a:xfrm>
            <a:off x="8101440" y="265068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44" name="Shape 85"/>
          <p:cNvSpPr/>
          <p:nvPr/>
        </p:nvSpPr>
        <p:spPr>
          <a:xfrm>
            <a:off x="7679160" y="259308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45" name="Shape 86"/>
          <p:cNvSpPr/>
          <p:nvPr/>
        </p:nvSpPr>
        <p:spPr>
          <a:xfrm>
            <a:off x="7928640" y="253548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46" name="Shape 87"/>
          <p:cNvSpPr/>
          <p:nvPr/>
        </p:nvSpPr>
        <p:spPr>
          <a:xfrm>
            <a:off x="7275960" y="351504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47" name="Shape 88"/>
          <p:cNvSpPr/>
          <p:nvPr/>
        </p:nvSpPr>
        <p:spPr>
          <a:xfrm>
            <a:off x="7410240" y="330372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48" name="Shape 89"/>
          <p:cNvSpPr/>
          <p:nvPr/>
        </p:nvSpPr>
        <p:spPr>
          <a:xfrm>
            <a:off x="7544880" y="345744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49" name="Shape 90"/>
          <p:cNvSpPr/>
          <p:nvPr/>
        </p:nvSpPr>
        <p:spPr>
          <a:xfrm>
            <a:off x="7314120" y="326520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50" name="Shape 91"/>
          <p:cNvSpPr/>
          <p:nvPr/>
        </p:nvSpPr>
        <p:spPr>
          <a:xfrm>
            <a:off x="7487280" y="361080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51" name="Shape 92"/>
          <p:cNvSpPr/>
          <p:nvPr/>
        </p:nvSpPr>
        <p:spPr>
          <a:xfrm>
            <a:off x="7602480" y="334224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52" name="Shape 93"/>
          <p:cNvSpPr/>
          <p:nvPr/>
        </p:nvSpPr>
        <p:spPr>
          <a:xfrm>
            <a:off x="7237440" y="336132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53" name="Shape 94"/>
          <p:cNvSpPr/>
          <p:nvPr/>
        </p:nvSpPr>
        <p:spPr>
          <a:xfrm>
            <a:off x="7448760" y="349560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54" name="Shape 95"/>
          <p:cNvSpPr/>
          <p:nvPr/>
        </p:nvSpPr>
        <p:spPr>
          <a:xfrm>
            <a:off x="6915600" y="2805120"/>
            <a:ext cx="255600" cy="2556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55" name="Shape 96"/>
          <p:cNvSpPr/>
          <p:nvPr/>
        </p:nvSpPr>
        <p:spPr>
          <a:xfrm>
            <a:off x="6988680" y="2878200"/>
            <a:ext cx="109440" cy="109440"/>
          </a:xfrm>
          <a:prstGeom prst="ellipse">
            <a:avLst/>
          </a:prstGeom>
          <a:solidFill>
            <a:srgbClr val="ffffff"/>
          </a:solidFill>
          <a:ln w="0">
            <a:noFill/>
          </a:ln>
        </p:spPr>
        <p:style>
          <a:lnRef idx="0"/>
          <a:fillRef idx="0"/>
          <a:effectRef idx="0"/>
          <a:fontRef idx="minor"/>
        </p:style>
        <p:txBody>
          <a:bodyPr lIns="90000" rIns="90000" tIns="32760" bIns="32760" anchor="t">
            <a:noAutofit/>
          </a:bodyPr>
          <a:p>
            <a:endParaRPr b="0" lang="en-US" sz="1800" strike="noStrike" u="none">
              <a:solidFill>
                <a:srgbClr val="000000"/>
              </a:solidFill>
              <a:effectLst/>
              <a:uFillTx/>
              <a:latin typeface="Arial"/>
            </a:endParaRPr>
          </a:p>
        </p:txBody>
      </p:sp>
      <p:sp>
        <p:nvSpPr>
          <p:cNvPr id="1456" name="Shape 97"/>
          <p:cNvSpPr/>
          <p:nvPr/>
        </p:nvSpPr>
        <p:spPr>
          <a:xfrm>
            <a:off x="7452360" y="2428560"/>
            <a:ext cx="255600" cy="25560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57" name="Shape 98"/>
          <p:cNvSpPr/>
          <p:nvPr/>
        </p:nvSpPr>
        <p:spPr>
          <a:xfrm>
            <a:off x="7525800" y="2501640"/>
            <a:ext cx="109440" cy="109440"/>
          </a:xfrm>
          <a:prstGeom prst="ellipse">
            <a:avLst/>
          </a:prstGeom>
          <a:solidFill>
            <a:srgbClr val="ffffff"/>
          </a:solidFill>
          <a:ln w="0">
            <a:noFill/>
          </a:ln>
        </p:spPr>
        <p:style>
          <a:lnRef idx="0"/>
          <a:fillRef idx="0"/>
          <a:effectRef idx="0"/>
          <a:fontRef idx="minor"/>
        </p:style>
        <p:txBody>
          <a:bodyPr lIns="90000" rIns="90000" tIns="32760" bIns="32760" anchor="t">
            <a:noAutofit/>
          </a:bodyPr>
          <a:p>
            <a:endParaRPr b="0" lang="en-US" sz="1800" strike="noStrike" u="none">
              <a:solidFill>
                <a:srgbClr val="000000"/>
              </a:solidFill>
              <a:effectLst/>
              <a:uFillTx/>
              <a:latin typeface="Arial"/>
            </a:endParaRPr>
          </a:p>
        </p:txBody>
      </p:sp>
      <p:sp>
        <p:nvSpPr>
          <p:cNvPr id="1458" name="Shape 99"/>
          <p:cNvSpPr/>
          <p:nvPr/>
        </p:nvSpPr>
        <p:spPr>
          <a:xfrm>
            <a:off x="7392960" y="3385440"/>
            <a:ext cx="255600" cy="25560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59" name="Shape 100"/>
          <p:cNvSpPr/>
          <p:nvPr/>
        </p:nvSpPr>
        <p:spPr>
          <a:xfrm>
            <a:off x="7466040" y="3458880"/>
            <a:ext cx="109440" cy="109440"/>
          </a:xfrm>
          <a:prstGeom prst="ellipse">
            <a:avLst/>
          </a:prstGeom>
          <a:solidFill>
            <a:srgbClr val="ffffff"/>
          </a:solidFill>
          <a:ln w="0">
            <a:noFill/>
          </a:ln>
        </p:spPr>
        <p:style>
          <a:lnRef idx="0"/>
          <a:fillRef idx="0"/>
          <a:effectRef idx="0"/>
          <a:fontRef idx="minor"/>
        </p:style>
        <p:txBody>
          <a:bodyPr lIns="90000" rIns="90000" tIns="32760" bIns="32760" anchor="t">
            <a:noAutofit/>
          </a:bodyPr>
          <a:p>
            <a:endParaRPr b="0" lang="en-US" sz="1800" strike="noStrike" u="none">
              <a:solidFill>
                <a:srgbClr val="000000"/>
              </a:solidFill>
              <a:effectLst/>
              <a:uFillTx/>
              <a:latin typeface="Arial"/>
            </a:endParaRPr>
          </a:p>
        </p:txBody>
      </p:sp>
      <p:sp>
        <p:nvSpPr>
          <p:cNvPr id="1460" name="Text 101"/>
          <p:cNvSpPr/>
          <p:nvPr/>
        </p:nvSpPr>
        <p:spPr>
          <a:xfrm>
            <a:off x="8979480" y="1645920"/>
            <a:ext cx="2578320" cy="310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50" strike="noStrike" u="none">
                <a:solidFill>
                  <a:srgbClr val="ff6b35"/>
                </a:solidFill>
                <a:effectLst/>
                <a:uFillTx/>
                <a:latin typeface="Calibri"/>
                <a:ea typeface="Calibri"/>
              </a:rPr>
              <a:t>repeat → settled</a:t>
            </a:r>
            <a:endParaRPr b="0" lang="en-US" sz="1450" strike="noStrike" u="none">
              <a:solidFill>
                <a:srgbClr val="000000"/>
              </a:solidFill>
              <a:effectLst/>
              <a:uFillTx/>
              <a:latin typeface="Arial"/>
            </a:endParaRPr>
          </a:p>
        </p:txBody>
      </p:sp>
      <p:sp>
        <p:nvSpPr>
          <p:cNvPr id="1461" name="Shape 102"/>
          <p:cNvSpPr/>
          <p:nvPr/>
        </p:nvSpPr>
        <p:spPr>
          <a:xfrm>
            <a:off x="9308520" y="3961080"/>
            <a:ext cx="19198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462" name="Shape 103"/>
          <p:cNvSpPr/>
          <p:nvPr/>
        </p:nvSpPr>
        <p:spPr>
          <a:xfrm rot="5400000">
            <a:off x="8348760" y="3000960"/>
            <a:ext cx="19198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463" name="Shape 104"/>
          <p:cNvSpPr/>
          <p:nvPr/>
        </p:nvSpPr>
        <p:spPr>
          <a:xfrm>
            <a:off x="9518040" y="232452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64" name="Shape 105"/>
          <p:cNvSpPr/>
          <p:nvPr/>
        </p:nvSpPr>
        <p:spPr>
          <a:xfrm>
            <a:off x="9633240" y="255492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65" name="Shape 106"/>
          <p:cNvSpPr/>
          <p:nvPr/>
        </p:nvSpPr>
        <p:spPr>
          <a:xfrm>
            <a:off x="9748440" y="234360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66" name="Shape 107"/>
          <p:cNvSpPr/>
          <p:nvPr/>
        </p:nvSpPr>
        <p:spPr>
          <a:xfrm>
            <a:off x="9594720" y="267012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67" name="Shape 108"/>
          <p:cNvSpPr/>
          <p:nvPr/>
        </p:nvSpPr>
        <p:spPr>
          <a:xfrm>
            <a:off x="9825120" y="245880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68" name="Shape 109"/>
          <p:cNvSpPr/>
          <p:nvPr/>
        </p:nvSpPr>
        <p:spPr>
          <a:xfrm>
            <a:off x="9690840" y="222840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69" name="Shape 110"/>
          <p:cNvSpPr/>
          <p:nvPr/>
        </p:nvSpPr>
        <p:spPr>
          <a:xfrm>
            <a:off x="9479520" y="251640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70" name="Shape 111"/>
          <p:cNvSpPr/>
          <p:nvPr/>
        </p:nvSpPr>
        <p:spPr>
          <a:xfrm>
            <a:off x="9806040" y="2650680"/>
            <a:ext cx="118440" cy="118440"/>
          </a:xfrm>
          <a:prstGeom prst="ellipse">
            <a:avLst/>
          </a:prstGeom>
          <a:solidFill>
            <a:srgbClr val="0e7c86"/>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71" name="Shape 112"/>
          <p:cNvSpPr/>
          <p:nvPr/>
        </p:nvSpPr>
        <p:spPr>
          <a:xfrm>
            <a:off x="10497240" y="242028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72" name="Shape 113"/>
          <p:cNvSpPr/>
          <p:nvPr/>
        </p:nvSpPr>
        <p:spPr>
          <a:xfrm>
            <a:off x="10650960" y="267012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73" name="Shape 114"/>
          <p:cNvSpPr/>
          <p:nvPr/>
        </p:nvSpPr>
        <p:spPr>
          <a:xfrm>
            <a:off x="10804680" y="249732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74" name="Shape 115"/>
          <p:cNvSpPr/>
          <p:nvPr/>
        </p:nvSpPr>
        <p:spPr>
          <a:xfrm>
            <a:off x="10574280" y="276624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75" name="Shape 116"/>
          <p:cNvSpPr/>
          <p:nvPr/>
        </p:nvSpPr>
        <p:spPr>
          <a:xfrm>
            <a:off x="10747080" y="232452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76" name="Shape 117"/>
          <p:cNvSpPr/>
          <p:nvPr/>
        </p:nvSpPr>
        <p:spPr>
          <a:xfrm>
            <a:off x="10881360" y="265068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77" name="Shape 118"/>
          <p:cNvSpPr/>
          <p:nvPr/>
        </p:nvSpPr>
        <p:spPr>
          <a:xfrm>
            <a:off x="10459080" y="259308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78" name="Shape 119"/>
          <p:cNvSpPr/>
          <p:nvPr/>
        </p:nvSpPr>
        <p:spPr>
          <a:xfrm>
            <a:off x="10708560" y="2535480"/>
            <a:ext cx="118440" cy="118440"/>
          </a:xfrm>
          <a:prstGeom prst="ellipse">
            <a:avLst/>
          </a:prstGeom>
          <a:solidFill>
            <a:srgbClr val="ff6b35"/>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79" name="Shape 120"/>
          <p:cNvSpPr/>
          <p:nvPr/>
        </p:nvSpPr>
        <p:spPr>
          <a:xfrm>
            <a:off x="10055520" y="351504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80" name="Shape 121"/>
          <p:cNvSpPr/>
          <p:nvPr/>
        </p:nvSpPr>
        <p:spPr>
          <a:xfrm>
            <a:off x="10190160" y="330372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81" name="Shape 122"/>
          <p:cNvSpPr/>
          <p:nvPr/>
        </p:nvSpPr>
        <p:spPr>
          <a:xfrm>
            <a:off x="10324440" y="345744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82" name="Shape 123"/>
          <p:cNvSpPr/>
          <p:nvPr/>
        </p:nvSpPr>
        <p:spPr>
          <a:xfrm>
            <a:off x="10094040" y="326520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83" name="Shape 124"/>
          <p:cNvSpPr/>
          <p:nvPr/>
        </p:nvSpPr>
        <p:spPr>
          <a:xfrm>
            <a:off x="10266840" y="361080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84" name="Shape 125"/>
          <p:cNvSpPr/>
          <p:nvPr/>
        </p:nvSpPr>
        <p:spPr>
          <a:xfrm>
            <a:off x="10382040" y="334224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85" name="Shape 126"/>
          <p:cNvSpPr/>
          <p:nvPr/>
        </p:nvSpPr>
        <p:spPr>
          <a:xfrm>
            <a:off x="10017360" y="336132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86" name="Shape 127"/>
          <p:cNvSpPr/>
          <p:nvPr/>
        </p:nvSpPr>
        <p:spPr>
          <a:xfrm>
            <a:off x="10228320" y="3495600"/>
            <a:ext cx="118440" cy="118440"/>
          </a:xfrm>
          <a:prstGeom prst="ellipse">
            <a:avLst/>
          </a:prstGeom>
          <a:solidFill>
            <a:srgbClr val="7d4e9e"/>
          </a:solidFill>
          <a:ln w="12700">
            <a:solidFill>
              <a:srgbClr val="ffffff"/>
            </a:solidFill>
            <a:round/>
          </a:ln>
        </p:spPr>
        <p:style>
          <a:lnRef idx="0"/>
          <a:fillRef idx="0"/>
          <a:effectRef idx="0"/>
          <a:fontRef idx="minor"/>
        </p:style>
        <p:txBody>
          <a:bodyPr lIns="90000" rIns="90000" tIns="38880" bIns="38880" anchor="t">
            <a:noAutofit/>
          </a:bodyPr>
          <a:p>
            <a:endParaRPr b="0" lang="en-US" sz="1800" strike="noStrike" u="none">
              <a:solidFill>
                <a:srgbClr val="ffffff"/>
              </a:solidFill>
              <a:effectLst/>
              <a:uFillTx/>
              <a:latin typeface="Arial"/>
            </a:endParaRPr>
          </a:p>
        </p:txBody>
      </p:sp>
      <p:sp>
        <p:nvSpPr>
          <p:cNvPr id="1487" name="Shape 128"/>
          <p:cNvSpPr/>
          <p:nvPr/>
        </p:nvSpPr>
        <p:spPr>
          <a:xfrm>
            <a:off x="9593280" y="2399760"/>
            <a:ext cx="255600" cy="2556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88" name="Shape 129"/>
          <p:cNvSpPr/>
          <p:nvPr/>
        </p:nvSpPr>
        <p:spPr>
          <a:xfrm>
            <a:off x="9666720" y="2472840"/>
            <a:ext cx="109440" cy="109440"/>
          </a:xfrm>
          <a:prstGeom prst="ellipse">
            <a:avLst/>
          </a:prstGeom>
          <a:solidFill>
            <a:srgbClr val="ffffff"/>
          </a:solidFill>
          <a:ln w="0">
            <a:noFill/>
          </a:ln>
        </p:spPr>
        <p:style>
          <a:lnRef idx="0"/>
          <a:fillRef idx="0"/>
          <a:effectRef idx="0"/>
          <a:fontRef idx="minor"/>
        </p:style>
        <p:txBody>
          <a:bodyPr lIns="90000" rIns="90000" tIns="32760" bIns="32760" anchor="t">
            <a:noAutofit/>
          </a:bodyPr>
          <a:p>
            <a:endParaRPr b="0" lang="en-US" sz="1800" strike="noStrike" u="none">
              <a:solidFill>
                <a:srgbClr val="000000"/>
              </a:solidFill>
              <a:effectLst/>
              <a:uFillTx/>
              <a:latin typeface="Arial"/>
            </a:endParaRPr>
          </a:p>
        </p:txBody>
      </p:sp>
      <p:sp>
        <p:nvSpPr>
          <p:cNvPr id="1489" name="Shape 130"/>
          <p:cNvSpPr/>
          <p:nvPr/>
        </p:nvSpPr>
        <p:spPr>
          <a:xfrm>
            <a:off x="10596600" y="2488680"/>
            <a:ext cx="255600" cy="25560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90" name="Shape 131"/>
          <p:cNvSpPr/>
          <p:nvPr/>
        </p:nvSpPr>
        <p:spPr>
          <a:xfrm>
            <a:off x="10670040" y="2561760"/>
            <a:ext cx="109440" cy="109440"/>
          </a:xfrm>
          <a:prstGeom prst="ellipse">
            <a:avLst/>
          </a:prstGeom>
          <a:solidFill>
            <a:srgbClr val="ffffff"/>
          </a:solidFill>
          <a:ln w="0">
            <a:noFill/>
          </a:ln>
        </p:spPr>
        <p:style>
          <a:lnRef idx="0"/>
          <a:fillRef idx="0"/>
          <a:effectRef idx="0"/>
          <a:fontRef idx="minor"/>
        </p:style>
        <p:txBody>
          <a:bodyPr lIns="90000" rIns="90000" tIns="32760" bIns="32760" anchor="t">
            <a:noAutofit/>
          </a:bodyPr>
          <a:p>
            <a:endParaRPr b="0" lang="en-US" sz="1800" strike="noStrike" u="none">
              <a:solidFill>
                <a:srgbClr val="000000"/>
              </a:solidFill>
              <a:effectLst/>
              <a:uFillTx/>
              <a:latin typeface="Arial"/>
            </a:endParaRPr>
          </a:p>
        </p:txBody>
      </p:sp>
      <p:sp>
        <p:nvSpPr>
          <p:cNvPr id="1491" name="Shape 132"/>
          <p:cNvSpPr/>
          <p:nvPr/>
        </p:nvSpPr>
        <p:spPr>
          <a:xfrm>
            <a:off x="10126440" y="3350520"/>
            <a:ext cx="255600" cy="255600"/>
          </a:xfrm>
          <a:prstGeom prst="ellipse">
            <a:avLst/>
          </a:prstGeom>
          <a:solidFill>
            <a:srgbClr val="7d4e9e"/>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92" name="Shape 133"/>
          <p:cNvSpPr/>
          <p:nvPr/>
        </p:nvSpPr>
        <p:spPr>
          <a:xfrm>
            <a:off x="10199520" y="3423600"/>
            <a:ext cx="109440" cy="109440"/>
          </a:xfrm>
          <a:prstGeom prst="ellipse">
            <a:avLst/>
          </a:prstGeom>
          <a:solidFill>
            <a:srgbClr val="ffffff"/>
          </a:solidFill>
          <a:ln w="0">
            <a:noFill/>
          </a:ln>
        </p:spPr>
        <p:style>
          <a:lnRef idx="0"/>
          <a:fillRef idx="0"/>
          <a:effectRef idx="0"/>
          <a:fontRef idx="minor"/>
        </p:style>
        <p:txBody>
          <a:bodyPr lIns="90000" rIns="90000" tIns="32760" bIns="32760" anchor="t">
            <a:noAutofit/>
          </a:bodyPr>
          <a:p>
            <a:endParaRPr b="0" lang="en-US" sz="1800" strike="noStrike" u="none">
              <a:solidFill>
                <a:srgbClr val="000000"/>
              </a:solidFill>
              <a:effectLst/>
              <a:uFillTx/>
              <a:latin typeface="Arial"/>
            </a:endParaRPr>
          </a:p>
        </p:txBody>
      </p:sp>
      <p:sp>
        <p:nvSpPr>
          <p:cNvPr id="1493" name="Shape 134"/>
          <p:cNvSpPr/>
          <p:nvPr/>
        </p:nvSpPr>
        <p:spPr>
          <a:xfrm>
            <a:off x="640080" y="4316040"/>
            <a:ext cx="5120280" cy="2038680"/>
          </a:xfrm>
          <a:prstGeom prst="roundRect">
            <a:avLst>
              <a:gd name="adj" fmla="val 3587"/>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94" name="Text 135"/>
          <p:cNvSpPr/>
          <p:nvPr/>
        </p:nvSpPr>
        <p:spPr>
          <a:xfrm>
            <a:off x="960120" y="4526280"/>
            <a:ext cx="4663080" cy="1645560"/>
          </a:xfrm>
          <a:prstGeom prst="rect">
            <a:avLst/>
          </a:prstGeom>
          <a:noFill/>
          <a:ln w="0">
            <a:noFill/>
          </a:ln>
        </p:spPr>
        <p:style>
          <a:lnRef idx="0"/>
          <a:fillRef idx="0"/>
          <a:effectRef idx="0"/>
          <a:fontRef idx="minor"/>
        </p:style>
        <p:txBody>
          <a:bodyPr lIns="0" rIns="0" tIns="0" bIns="0" anchor="ctr">
            <a:noAutofit/>
          </a:bodyPr>
          <a:p>
            <a:pPr defTabSz="914400">
              <a:lnSpc>
                <a:spcPct val="115000"/>
              </a:lnSpc>
              <a:tabLst>
                <a:tab algn="l" pos="0"/>
              </a:tabLst>
            </a:pPr>
            <a:r>
              <a:rPr b="0" lang="en-US" sz="1350" strike="noStrike" u="none">
                <a:solidFill>
                  <a:srgbClr val="9fd8dd"/>
                </a:solidFill>
                <a:effectLst/>
                <a:uFillTx/>
                <a:latin typeface="Courier New"/>
                <a:ea typeface="Courier New"/>
              </a:rPr>
              <a:t>place k centres somewhere</a:t>
            </a:r>
            <a:endParaRPr b="0" lang="en-US" sz="1350" strike="noStrike" u="none">
              <a:solidFill>
                <a:srgbClr val="000000"/>
              </a:solidFill>
              <a:effectLst/>
              <a:uFillTx/>
              <a:latin typeface="Arial"/>
            </a:endParaRPr>
          </a:p>
          <a:p>
            <a:pPr defTabSz="914400">
              <a:lnSpc>
                <a:spcPct val="115000"/>
              </a:lnSpc>
              <a:tabLst>
                <a:tab algn="l" pos="0"/>
              </a:tabLst>
            </a:pPr>
            <a:r>
              <a:rPr b="0" lang="en-US" sz="1350" strike="noStrike" u="none">
                <a:solidFill>
                  <a:srgbClr val="9fd8dd"/>
                </a:solidFill>
                <a:effectLst/>
                <a:uFillTx/>
                <a:latin typeface="Courier New"/>
                <a:ea typeface="Courier New"/>
              </a:rPr>
              <a:t>repeat</a:t>
            </a:r>
            <a:endParaRPr b="0" lang="en-US" sz="1350" strike="noStrike" u="none">
              <a:solidFill>
                <a:srgbClr val="000000"/>
              </a:solidFill>
              <a:effectLst/>
              <a:uFillTx/>
              <a:latin typeface="Arial"/>
            </a:endParaRPr>
          </a:p>
          <a:p>
            <a:pPr defTabSz="914400">
              <a:lnSpc>
                <a:spcPct val="115000"/>
              </a:lnSpc>
              <a:tabLst>
                <a:tab algn="l" pos="0"/>
              </a:tabLst>
            </a:pPr>
            <a:r>
              <a:rPr b="0" lang="en-US" sz="1350" strike="noStrike" u="none">
                <a:solidFill>
                  <a:srgbClr val="9fd8dd"/>
                </a:solidFill>
                <a:effectLst/>
                <a:uFillTx/>
                <a:latin typeface="Courier New"/>
                <a:ea typeface="Courier New"/>
              </a:rPr>
              <a:t>    label each point with its</a:t>
            </a:r>
            <a:endParaRPr b="0" lang="en-US" sz="1350" strike="noStrike" u="none">
              <a:solidFill>
                <a:srgbClr val="000000"/>
              </a:solidFill>
              <a:effectLst/>
              <a:uFillTx/>
              <a:latin typeface="Arial"/>
            </a:endParaRPr>
          </a:p>
          <a:p>
            <a:pPr defTabSz="914400">
              <a:lnSpc>
                <a:spcPct val="115000"/>
              </a:lnSpc>
              <a:tabLst>
                <a:tab algn="l" pos="0"/>
              </a:tabLst>
            </a:pPr>
            <a:r>
              <a:rPr b="0" lang="en-US" sz="1350" strike="noStrike" u="none">
                <a:solidFill>
                  <a:srgbClr val="9fd8dd"/>
                </a:solidFill>
                <a:effectLst/>
                <a:uFillTx/>
                <a:latin typeface="Courier New"/>
                <a:ea typeface="Courier New"/>
              </a:rPr>
              <a:t>        nearest centre</a:t>
            </a:r>
            <a:endParaRPr b="0" lang="en-US" sz="1350" strike="noStrike" u="none">
              <a:solidFill>
                <a:srgbClr val="000000"/>
              </a:solidFill>
              <a:effectLst/>
              <a:uFillTx/>
              <a:latin typeface="Arial"/>
            </a:endParaRPr>
          </a:p>
          <a:p>
            <a:pPr defTabSz="914400">
              <a:lnSpc>
                <a:spcPct val="115000"/>
              </a:lnSpc>
              <a:tabLst>
                <a:tab algn="l" pos="0"/>
              </a:tabLst>
            </a:pPr>
            <a:r>
              <a:rPr b="0" lang="en-US" sz="1350" strike="noStrike" u="none">
                <a:solidFill>
                  <a:srgbClr val="9fd8dd"/>
                </a:solidFill>
                <a:effectLst/>
                <a:uFillTx/>
                <a:latin typeface="Courier New"/>
                <a:ea typeface="Courier New"/>
              </a:rPr>
              <a:t>    move each centre onto the</a:t>
            </a:r>
            <a:endParaRPr b="0" lang="en-US" sz="1350" strike="noStrike" u="none">
              <a:solidFill>
                <a:srgbClr val="000000"/>
              </a:solidFill>
              <a:effectLst/>
              <a:uFillTx/>
              <a:latin typeface="Arial"/>
            </a:endParaRPr>
          </a:p>
          <a:p>
            <a:pPr defTabSz="914400">
              <a:lnSpc>
                <a:spcPct val="115000"/>
              </a:lnSpc>
              <a:tabLst>
                <a:tab algn="l" pos="0"/>
              </a:tabLst>
            </a:pPr>
            <a:r>
              <a:rPr b="0" lang="en-US" sz="1350" strike="noStrike" u="none">
                <a:solidFill>
                  <a:srgbClr val="9fd8dd"/>
                </a:solidFill>
                <a:effectLst/>
                <a:uFillTx/>
                <a:latin typeface="Courier New"/>
                <a:ea typeface="Courier New"/>
              </a:rPr>
              <a:t>        mean of its own label</a:t>
            </a:r>
            <a:endParaRPr b="0" lang="en-US" sz="1350" strike="noStrike" u="none">
              <a:solidFill>
                <a:srgbClr val="000000"/>
              </a:solidFill>
              <a:effectLst/>
              <a:uFillTx/>
              <a:latin typeface="Arial"/>
            </a:endParaRPr>
          </a:p>
          <a:p>
            <a:pPr defTabSz="914400">
              <a:lnSpc>
                <a:spcPct val="115000"/>
              </a:lnSpc>
              <a:tabLst>
                <a:tab algn="l" pos="0"/>
              </a:tabLst>
            </a:pPr>
            <a:r>
              <a:rPr b="0" lang="en-US" sz="1350" strike="noStrike" u="none">
                <a:solidFill>
                  <a:srgbClr val="9fd8dd"/>
                </a:solidFill>
                <a:effectLst/>
                <a:uFillTx/>
                <a:latin typeface="Courier New"/>
                <a:ea typeface="Courier New"/>
              </a:rPr>
              <a:t>until no label changes</a:t>
            </a:r>
            <a:endParaRPr b="0" lang="en-US" sz="1350" strike="noStrike" u="none">
              <a:solidFill>
                <a:srgbClr val="000000"/>
              </a:solidFill>
              <a:effectLst/>
              <a:uFillTx/>
              <a:latin typeface="Arial"/>
            </a:endParaRPr>
          </a:p>
        </p:txBody>
      </p:sp>
      <p:sp>
        <p:nvSpPr>
          <p:cNvPr id="1495" name="Shape 136"/>
          <p:cNvSpPr/>
          <p:nvPr/>
        </p:nvSpPr>
        <p:spPr>
          <a:xfrm>
            <a:off x="6400800" y="442584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96" name="Text 137"/>
          <p:cNvSpPr/>
          <p:nvPr/>
        </p:nvSpPr>
        <p:spPr>
          <a:xfrm>
            <a:off x="6766560" y="4343400"/>
            <a:ext cx="478188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trike="noStrike" u="none">
                <a:solidFill>
                  <a:srgbClr val="14202b"/>
                </a:solidFill>
                <a:effectLst/>
                <a:uFillTx/>
                <a:latin typeface="Calibri"/>
                <a:ea typeface="Calibri"/>
              </a:rPr>
              <a:t>Two steps, alternating</a:t>
            </a:r>
            <a:endParaRPr b="0" lang="en-US" sz="1550" strike="noStrike" u="none">
              <a:solidFill>
                <a:srgbClr val="000000"/>
              </a:solidFill>
              <a:effectLst/>
              <a:uFillTx/>
              <a:latin typeface="Arial"/>
            </a:endParaRPr>
          </a:p>
        </p:txBody>
      </p:sp>
      <p:sp>
        <p:nvSpPr>
          <p:cNvPr id="1497" name="Text 138"/>
          <p:cNvSpPr/>
          <p:nvPr/>
        </p:nvSpPr>
        <p:spPr>
          <a:xfrm>
            <a:off x="6766560" y="4599360"/>
            <a:ext cx="4781880" cy="43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Assign picks the best labels with the centres frozen. Move picks the best centres with the labels frozen.</a:t>
            </a:r>
            <a:endParaRPr b="0" lang="en-US" sz="1300" strike="noStrike" u="none">
              <a:solidFill>
                <a:srgbClr val="000000"/>
              </a:solidFill>
              <a:effectLst/>
              <a:uFillTx/>
              <a:latin typeface="Arial"/>
            </a:endParaRPr>
          </a:p>
        </p:txBody>
      </p:sp>
      <p:sp>
        <p:nvSpPr>
          <p:cNvPr id="1498" name="Shape 139"/>
          <p:cNvSpPr/>
          <p:nvPr/>
        </p:nvSpPr>
        <p:spPr>
          <a:xfrm>
            <a:off x="6400800" y="510228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99" name="Text 140"/>
          <p:cNvSpPr/>
          <p:nvPr/>
        </p:nvSpPr>
        <p:spPr>
          <a:xfrm>
            <a:off x="6766560" y="5020200"/>
            <a:ext cx="478188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trike="noStrike" u="none">
                <a:solidFill>
                  <a:srgbClr val="14202b"/>
                </a:solidFill>
                <a:effectLst/>
                <a:uFillTx/>
                <a:latin typeface="Calibri"/>
                <a:ea typeface="Calibri"/>
              </a:rPr>
              <a:t>So inertia can only fall</a:t>
            </a:r>
            <a:endParaRPr b="0" lang="en-US" sz="1550" strike="noStrike" u="none">
              <a:solidFill>
                <a:srgbClr val="000000"/>
              </a:solidFill>
              <a:effectLst/>
              <a:uFillTx/>
              <a:latin typeface="Arial"/>
            </a:endParaRPr>
          </a:p>
        </p:txBody>
      </p:sp>
      <p:sp>
        <p:nvSpPr>
          <p:cNvPr id="1500" name="Text 141"/>
          <p:cNvSpPr/>
          <p:nvPr/>
        </p:nvSpPr>
        <p:spPr>
          <a:xfrm>
            <a:off x="6766560" y="5276160"/>
            <a:ext cx="4781880" cy="43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Each step is an exact minimisation of the other half, so it must converge — usually in ten to twenty passes.</a:t>
            </a:r>
            <a:endParaRPr b="0" lang="en-US" sz="1300" strike="noStrike" u="none">
              <a:solidFill>
                <a:srgbClr val="000000"/>
              </a:solidFill>
              <a:effectLst/>
              <a:uFillTx/>
              <a:latin typeface="Arial"/>
            </a:endParaRPr>
          </a:p>
        </p:txBody>
      </p:sp>
      <p:sp>
        <p:nvSpPr>
          <p:cNvPr id="1501" name="Shape 142"/>
          <p:cNvSpPr/>
          <p:nvPr/>
        </p:nvSpPr>
        <p:spPr>
          <a:xfrm>
            <a:off x="6400800" y="577908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02" name="Text 143"/>
          <p:cNvSpPr/>
          <p:nvPr/>
        </p:nvSpPr>
        <p:spPr>
          <a:xfrm>
            <a:off x="6766560" y="5696640"/>
            <a:ext cx="478188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trike="noStrike" u="none">
                <a:solidFill>
                  <a:srgbClr val="14202b"/>
                </a:solidFill>
                <a:effectLst/>
                <a:uFillTx/>
                <a:latin typeface="Calibri"/>
                <a:ea typeface="Calibri"/>
              </a:rPr>
              <a:t>But only to a local minimum</a:t>
            </a:r>
            <a:endParaRPr b="0" lang="en-US" sz="1550" strike="noStrike" u="none">
              <a:solidFill>
                <a:srgbClr val="000000"/>
              </a:solidFill>
              <a:effectLst/>
              <a:uFillTx/>
              <a:latin typeface="Arial"/>
            </a:endParaRPr>
          </a:p>
        </p:txBody>
      </p:sp>
      <p:sp>
        <p:nvSpPr>
          <p:cNvPr id="1503" name="Text 144"/>
          <p:cNvSpPr/>
          <p:nvPr/>
        </p:nvSpPr>
        <p:spPr>
          <a:xfrm>
            <a:off x="6766560" y="5952600"/>
            <a:ext cx="4781880" cy="43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Where it lands depends on where the centres started. k-means++ spreads the initial centres out to make a bad landing rarer.</a:t>
            </a:r>
            <a:endParaRPr b="0" lang="en-US" sz="13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04"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THE HARD PARTS</a:t>
            </a:r>
            <a:endParaRPr b="0" lang="en-US" sz="1200" strike="noStrike" u="none">
              <a:solidFill>
                <a:srgbClr val="000000"/>
              </a:solidFill>
              <a:effectLst/>
              <a:uFillTx/>
              <a:latin typeface="Arial"/>
            </a:endParaRPr>
          </a:p>
        </p:txBody>
      </p:sp>
      <p:sp>
        <p:nvSpPr>
          <p:cNvPr id="1505"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Choosing k, and what breaks it</a:t>
            </a:r>
            <a:endParaRPr b="0" lang="en-US" sz="3200" strike="noStrike" u="none">
              <a:solidFill>
                <a:srgbClr val="000000"/>
              </a:solidFill>
              <a:effectLst/>
              <a:uFillTx/>
              <a:latin typeface="Arial"/>
            </a:endParaRPr>
          </a:p>
        </p:txBody>
      </p:sp>
      <p:sp>
        <p:nvSpPr>
          <p:cNvPr id="1506" name="Shape 2"/>
          <p:cNvSpPr/>
          <p:nvPr/>
        </p:nvSpPr>
        <p:spPr>
          <a:xfrm>
            <a:off x="1143000" y="4829760"/>
            <a:ext cx="457164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507" name="Shape 3"/>
          <p:cNvSpPr/>
          <p:nvPr/>
        </p:nvSpPr>
        <p:spPr>
          <a:xfrm rot="5400000">
            <a:off x="-319320" y="3366720"/>
            <a:ext cx="292572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508" name="Shape 4"/>
          <p:cNvSpPr/>
          <p:nvPr/>
        </p:nvSpPr>
        <p:spPr>
          <a:xfrm rot="16200000">
            <a:off x="2181240" y="4726440"/>
            <a:ext cx="208800" cy="30600"/>
          </a:xfrm>
          <a:prstGeom prst="rect">
            <a:avLst/>
          </a:prstGeom>
          <a:solidFill>
            <a:srgbClr val="c3ccd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1509" name="Shape 5"/>
          <p:cNvSpPr/>
          <p:nvPr/>
        </p:nvSpPr>
        <p:spPr>
          <a:xfrm rot="16200000">
            <a:off x="2181240" y="4308480"/>
            <a:ext cx="208800" cy="30600"/>
          </a:xfrm>
          <a:prstGeom prst="rect">
            <a:avLst/>
          </a:prstGeom>
          <a:solidFill>
            <a:srgbClr val="c3ccd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1510" name="Shape 6"/>
          <p:cNvSpPr/>
          <p:nvPr/>
        </p:nvSpPr>
        <p:spPr>
          <a:xfrm rot="16200000">
            <a:off x="2181240" y="3890520"/>
            <a:ext cx="208800" cy="30600"/>
          </a:xfrm>
          <a:prstGeom prst="rect">
            <a:avLst/>
          </a:prstGeom>
          <a:solidFill>
            <a:srgbClr val="c3ccd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1511" name="Shape 7"/>
          <p:cNvSpPr/>
          <p:nvPr/>
        </p:nvSpPr>
        <p:spPr>
          <a:xfrm rot="16200000">
            <a:off x="2181240" y="3472560"/>
            <a:ext cx="208800" cy="30600"/>
          </a:xfrm>
          <a:prstGeom prst="rect">
            <a:avLst/>
          </a:prstGeom>
          <a:solidFill>
            <a:srgbClr val="c3ccd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1512" name="Shape 8"/>
          <p:cNvSpPr/>
          <p:nvPr/>
        </p:nvSpPr>
        <p:spPr>
          <a:xfrm rot="16200000">
            <a:off x="2181240" y="3054240"/>
            <a:ext cx="208800" cy="30600"/>
          </a:xfrm>
          <a:prstGeom prst="rect">
            <a:avLst/>
          </a:prstGeom>
          <a:solidFill>
            <a:srgbClr val="c3ccd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1513" name="Shape 9"/>
          <p:cNvSpPr/>
          <p:nvPr/>
        </p:nvSpPr>
        <p:spPr>
          <a:xfrm rot="16200000">
            <a:off x="2181240" y="2636280"/>
            <a:ext cx="208800" cy="30600"/>
          </a:xfrm>
          <a:prstGeom prst="rect">
            <a:avLst/>
          </a:prstGeom>
          <a:solidFill>
            <a:srgbClr val="c3ccd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1514" name="Shape 10"/>
          <p:cNvSpPr/>
          <p:nvPr/>
        </p:nvSpPr>
        <p:spPr>
          <a:xfrm rot="16200000">
            <a:off x="2181240" y="2218320"/>
            <a:ext cx="208800" cy="30600"/>
          </a:xfrm>
          <a:prstGeom prst="rect">
            <a:avLst/>
          </a:prstGeom>
          <a:solidFill>
            <a:srgbClr val="c3ccd4"/>
          </a:solidFill>
          <a:ln w="0">
            <a:noFill/>
          </a:ln>
        </p:spPr>
        <p:style>
          <a:lnRef idx="0"/>
          <a:fillRef idx="0"/>
          <a:effectRef idx="0"/>
          <a:fontRef idx="minor"/>
        </p:style>
        <p:txBody>
          <a:bodyPr lIns="90000" rIns="90000" tIns="-14040" bIns="-14040" anchor="t">
            <a:noAutofit/>
          </a:bodyPr>
          <a:p>
            <a:endParaRPr b="0" lang="en-US" sz="1800" strike="noStrike" u="none">
              <a:solidFill>
                <a:srgbClr val="000000"/>
              </a:solidFill>
              <a:effectLst/>
              <a:uFillTx/>
              <a:latin typeface="Arial"/>
            </a:endParaRPr>
          </a:p>
        </p:txBody>
      </p:sp>
      <p:sp>
        <p:nvSpPr>
          <p:cNvPr id="1515" name="Shape 11"/>
          <p:cNvSpPr/>
          <p:nvPr/>
        </p:nvSpPr>
        <p:spPr>
          <a:xfrm rot="3832200">
            <a:off x="780120" y="2813040"/>
            <a:ext cx="129708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1516" name="Shape 12"/>
          <p:cNvSpPr/>
          <p:nvPr/>
        </p:nvSpPr>
        <p:spPr>
          <a:xfrm rot="2778000">
            <a:off x="1586520" y="3694320"/>
            <a:ext cx="82692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1517" name="Shape 13"/>
          <p:cNvSpPr/>
          <p:nvPr/>
        </p:nvSpPr>
        <p:spPr>
          <a:xfrm rot="1695000">
            <a:off x="2247480" y="4147200"/>
            <a:ext cx="64836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1518" name="Shape 14"/>
          <p:cNvSpPr/>
          <p:nvPr/>
        </p:nvSpPr>
        <p:spPr>
          <a:xfrm rot="925200">
            <a:off x="2846880" y="4379400"/>
            <a:ext cx="59256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1519" name="Shape 15"/>
          <p:cNvSpPr/>
          <p:nvPr/>
        </p:nvSpPr>
        <p:spPr>
          <a:xfrm rot="483600">
            <a:off x="3426120" y="4498920"/>
            <a:ext cx="57672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1520" name="Shape 16"/>
          <p:cNvSpPr/>
          <p:nvPr/>
        </p:nvSpPr>
        <p:spPr>
          <a:xfrm rot="249600">
            <a:off x="3999600" y="4560120"/>
            <a:ext cx="57276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1521" name="Shape 17"/>
          <p:cNvSpPr/>
          <p:nvPr/>
        </p:nvSpPr>
        <p:spPr>
          <a:xfrm rot="128400">
            <a:off x="4571640" y="4591440"/>
            <a:ext cx="57168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1522" name="Shape 18"/>
          <p:cNvSpPr/>
          <p:nvPr/>
        </p:nvSpPr>
        <p:spPr>
          <a:xfrm rot="66000">
            <a:off x="5143320" y="4607640"/>
            <a:ext cx="571320" cy="43560"/>
          </a:xfrm>
          <a:prstGeom prst="rect">
            <a:avLst/>
          </a:prstGeom>
          <a:solidFill>
            <a:srgbClr val="0e7c86"/>
          </a:solidFill>
          <a:ln w="0">
            <a:noFill/>
          </a:ln>
        </p:spPr>
        <p:style>
          <a:lnRef idx="0"/>
          <a:fillRef idx="0"/>
          <a:effectRef idx="0"/>
          <a:fontRef idx="minor"/>
        </p:style>
        <p:txBody>
          <a:bodyPr lIns="90000" rIns="90000" tIns="-1080" bIns="-1080" anchor="t">
            <a:noAutofit/>
          </a:bodyPr>
          <a:p>
            <a:endParaRPr b="0" lang="en-US" sz="1800" strike="noStrike" u="none">
              <a:solidFill>
                <a:srgbClr val="ffffff"/>
              </a:solidFill>
              <a:effectLst/>
              <a:uFillTx/>
              <a:latin typeface="Arial"/>
            </a:endParaRPr>
          </a:p>
        </p:txBody>
      </p:sp>
      <p:sp>
        <p:nvSpPr>
          <p:cNvPr id="1523" name="Shape 19"/>
          <p:cNvSpPr/>
          <p:nvPr/>
        </p:nvSpPr>
        <p:spPr>
          <a:xfrm>
            <a:off x="1074600" y="2184120"/>
            <a:ext cx="136800" cy="1368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24" name="Shape 20"/>
          <p:cNvSpPr/>
          <p:nvPr/>
        </p:nvSpPr>
        <p:spPr>
          <a:xfrm>
            <a:off x="1645920" y="3349080"/>
            <a:ext cx="136800" cy="1368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25" name="Shape 21"/>
          <p:cNvSpPr/>
          <p:nvPr/>
        </p:nvSpPr>
        <p:spPr>
          <a:xfrm>
            <a:off x="2217600" y="3947040"/>
            <a:ext cx="136800" cy="136800"/>
          </a:xfrm>
          <a:prstGeom prst="ellipse">
            <a:avLst/>
          </a:prstGeom>
          <a:solidFill>
            <a:srgbClr val="ff6b35"/>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26" name="Shape 22"/>
          <p:cNvSpPr/>
          <p:nvPr/>
        </p:nvSpPr>
        <p:spPr>
          <a:xfrm>
            <a:off x="2788920" y="4254120"/>
            <a:ext cx="136800" cy="1368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27" name="Shape 23"/>
          <p:cNvSpPr/>
          <p:nvPr/>
        </p:nvSpPr>
        <p:spPr>
          <a:xfrm>
            <a:off x="3360600" y="4411800"/>
            <a:ext cx="136800" cy="1368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28" name="Shape 24"/>
          <p:cNvSpPr/>
          <p:nvPr/>
        </p:nvSpPr>
        <p:spPr>
          <a:xfrm>
            <a:off x="3931920" y="4492800"/>
            <a:ext cx="136800" cy="1368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29" name="Shape 25"/>
          <p:cNvSpPr/>
          <p:nvPr/>
        </p:nvSpPr>
        <p:spPr>
          <a:xfrm>
            <a:off x="4503600" y="4534560"/>
            <a:ext cx="136800" cy="1368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30" name="Shape 26"/>
          <p:cNvSpPr/>
          <p:nvPr/>
        </p:nvSpPr>
        <p:spPr>
          <a:xfrm>
            <a:off x="5074920" y="4555800"/>
            <a:ext cx="136800" cy="1368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31" name="Shape 27"/>
          <p:cNvSpPr/>
          <p:nvPr/>
        </p:nvSpPr>
        <p:spPr>
          <a:xfrm>
            <a:off x="5646600" y="4566600"/>
            <a:ext cx="136800" cy="136800"/>
          </a:xfrm>
          <a:prstGeom prst="ellipse">
            <a:avLst/>
          </a:prstGeom>
          <a:solidFill>
            <a:srgbClr val="0e7c86"/>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32" name="Text 28"/>
          <p:cNvSpPr/>
          <p:nvPr/>
        </p:nvSpPr>
        <p:spPr>
          <a:xfrm>
            <a:off x="731520" y="1609200"/>
            <a:ext cx="137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inertia</a:t>
            </a:r>
            <a:endParaRPr b="0" lang="en-US" sz="1300" strike="noStrike" u="none">
              <a:solidFill>
                <a:srgbClr val="000000"/>
              </a:solidFill>
              <a:effectLst/>
              <a:uFillTx/>
              <a:latin typeface="Arial"/>
            </a:endParaRPr>
          </a:p>
        </p:txBody>
      </p:sp>
      <p:sp>
        <p:nvSpPr>
          <p:cNvPr id="1533" name="Text 29"/>
          <p:cNvSpPr/>
          <p:nvPr/>
        </p:nvSpPr>
        <p:spPr>
          <a:xfrm>
            <a:off x="3566160" y="4910400"/>
            <a:ext cx="21484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300" strike="noStrike" u="none">
                <a:solidFill>
                  <a:srgbClr val="5d6e7c"/>
                </a:solidFill>
                <a:effectLst/>
                <a:uFillTx/>
                <a:latin typeface="Calibri"/>
                <a:ea typeface="Calibri"/>
              </a:rPr>
              <a:t>number of clusters k</a:t>
            </a:r>
            <a:endParaRPr b="0" lang="en-US" sz="1300" strike="noStrike" u="none">
              <a:solidFill>
                <a:srgbClr val="000000"/>
              </a:solidFill>
              <a:effectLst/>
              <a:uFillTx/>
              <a:latin typeface="Arial"/>
            </a:endParaRPr>
          </a:p>
        </p:txBody>
      </p:sp>
      <p:sp>
        <p:nvSpPr>
          <p:cNvPr id="1534" name="Text 30"/>
          <p:cNvSpPr/>
          <p:nvPr/>
        </p:nvSpPr>
        <p:spPr>
          <a:xfrm>
            <a:off x="2432160" y="2761560"/>
            <a:ext cx="137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trike="noStrike" u="none">
                <a:solidFill>
                  <a:srgbClr val="ff6b35"/>
                </a:solidFill>
                <a:effectLst/>
                <a:uFillTx/>
                <a:latin typeface="Calibri"/>
                <a:ea typeface="Calibri"/>
              </a:rPr>
              <a:t>the elbow</a:t>
            </a:r>
            <a:endParaRPr b="0" lang="en-US" sz="1350" strike="noStrike" u="none">
              <a:solidFill>
                <a:srgbClr val="000000"/>
              </a:solidFill>
              <a:effectLst/>
              <a:uFillTx/>
              <a:latin typeface="Arial"/>
            </a:endParaRPr>
          </a:p>
        </p:txBody>
      </p:sp>
      <p:sp>
        <p:nvSpPr>
          <p:cNvPr id="1535" name="Text 31"/>
          <p:cNvSpPr/>
          <p:nvPr/>
        </p:nvSpPr>
        <p:spPr>
          <a:xfrm>
            <a:off x="1143000" y="5230440"/>
            <a:ext cx="4571640" cy="868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Inertia always falls as k rises — at k = n it hits zero. So you cannot minimise it to pick k. You look for the bend where another group stops buying you much.</a:t>
            </a:r>
            <a:endParaRPr b="0" lang="en-US" sz="1400" strike="noStrike" u="none">
              <a:solidFill>
                <a:srgbClr val="000000"/>
              </a:solidFill>
              <a:effectLst/>
              <a:uFillTx/>
              <a:latin typeface="Arial"/>
            </a:endParaRPr>
          </a:p>
        </p:txBody>
      </p:sp>
      <p:sp>
        <p:nvSpPr>
          <p:cNvPr id="1536" name="Shape 32"/>
          <p:cNvSpPr/>
          <p:nvPr/>
        </p:nvSpPr>
        <p:spPr>
          <a:xfrm>
            <a:off x="6126480" y="1828800"/>
            <a:ext cx="402120" cy="402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37" name="Text 33"/>
          <p:cNvSpPr/>
          <p:nvPr/>
        </p:nvSpPr>
        <p:spPr>
          <a:xfrm>
            <a:off x="6126480" y="1828800"/>
            <a:ext cx="402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1</a:t>
            </a:r>
            <a:endParaRPr b="0" lang="en-US" sz="1600" strike="noStrike" u="none">
              <a:solidFill>
                <a:srgbClr val="000000"/>
              </a:solidFill>
              <a:effectLst/>
              <a:uFillTx/>
              <a:latin typeface="Arial"/>
            </a:endParaRPr>
          </a:p>
        </p:txBody>
      </p:sp>
      <p:sp>
        <p:nvSpPr>
          <p:cNvPr id="1538" name="Text 34"/>
          <p:cNvSpPr/>
          <p:nvPr/>
        </p:nvSpPr>
        <p:spPr>
          <a:xfrm>
            <a:off x="6675120" y="1847160"/>
            <a:ext cx="487332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Scaling decides the answer</a:t>
            </a:r>
            <a:endParaRPr b="0" lang="en-US" sz="1650" strike="noStrike" u="none">
              <a:solidFill>
                <a:srgbClr val="000000"/>
              </a:solidFill>
              <a:effectLst/>
              <a:uFillTx/>
              <a:latin typeface="Arial"/>
            </a:endParaRPr>
          </a:p>
        </p:txBody>
      </p:sp>
      <p:sp>
        <p:nvSpPr>
          <p:cNvPr id="1539" name="Text 35"/>
          <p:cNvSpPr/>
          <p:nvPr/>
        </p:nvSpPr>
        <p:spPr>
          <a:xfrm>
            <a:off x="6675120" y="2176200"/>
            <a:ext cx="487332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Distance is measured in whatever units you handed over. Square feet will swamp bedroom count purely by magnitude. Standardise the columns first or the result is meaningless.</a:t>
            </a:r>
            <a:endParaRPr b="0" lang="en-US" sz="1400" strike="noStrike" u="none">
              <a:solidFill>
                <a:srgbClr val="000000"/>
              </a:solidFill>
              <a:effectLst/>
              <a:uFillTx/>
              <a:latin typeface="Arial"/>
            </a:endParaRPr>
          </a:p>
        </p:txBody>
      </p:sp>
      <p:sp>
        <p:nvSpPr>
          <p:cNvPr id="1540" name="Shape 36"/>
          <p:cNvSpPr/>
          <p:nvPr/>
        </p:nvSpPr>
        <p:spPr>
          <a:xfrm>
            <a:off x="6126480" y="3154680"/>
            <a:ext cx="402120" cy="402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41" name="Text 37"/>
          <p:cNvSpPr/>
          <p:nvPr/>
        </p:nvSpPr>
        <p:spPr>
          <a:xfrm>
            <a:off x="6126480" y="3154680"/>
            <a:ext cx="402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2</a:t>
            </a:r>
            <a:endParaRPr b="0" lang="en-US" sz="1600" strike="noStrike" u="none">
              <a:solidFill>
                <a:srgbClr val="000000"/>
              </a:solidFill>
              <a:effectLst/>
              <a:uFillTx/>
              <a:latin typeface="Arial"/>
            </a:endParaRPr>
          </a:p>
        </p:txBody>
      </p:sp>
      <p:sp>
        <p:nvSpPr>
          <p:cNvPr id="1542" name="Text 38"/>
          <p:cNvSpPr/>
          <p:nvPr/>
        </p:nvSpPr>
        <p:spPr>
          <a:xfrm>
            <a:off x="6675120" y="3173040"/>
            <a:ext cx="487332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It assumes round, similar-sized blobs</a:t>
            </a:r>
            <a:endParaRPr b="0" lang="en-US" sz="1650" strike="noStrike" u="none">
              <a:solidFill>
                <a:srgbClr val="000000"/>
              </a:solidFill>
              <a:effectLst/>
              <a:uFillTx/>
              <a:latin typeface="Arial"/>
            </a:endParaRPr>
          </a:p>
        </p:txBody>
      </p:sp>
      <p:sp>
        <p:nvSpPr>
          <p:cNvPr id="1543" name="Text 39"/>
          <p:cNvSpPr/>
          <p:nvPr/>
        </p:nvSpPr>
        <p:spPr>
          <a:xfrm>
            <a:off x="6675120" y="3502080"/>
            <a:ext cx="487332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All it can do is measure distance to a centre, so a long thin band or one group nested inside another comes out wrong no matter how many passes you run.</a:t>
            </a:r>
            <a:endParaRPr b="0" lang="en-US" sz="1400" strike="noStrike" u="none">
              <a:solidFill>
                <a:srgbClr val="000000"/>
              </a:solidFill>
              <a:effectLst/>
              <a:uFillTx/>
              <a:latin typeface="Arial"/>
            </a:endParaRPr>
          </a:p>
        </p:txBody>
      </p:sp>
      <p:sp>
        <p:nvSpPr>
          <p:cNvPr id="1544" name="Shape 40"/>
          <p:cNvSpPr/>
          <p:nvPr/>
        </p:nvSpPr>
        <p:spPr>
          <a:xfrm>
            <a:off x="6126480" y="4480560"/>
            <a:ext cx="402120" cy="402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45" name="Text 41"/>
          <p:cNvSpPr/>
          <p:nvPr/>
        </p:nvSpPr>
        <p:spPr>
          <a:xfrm>
            <a:off x="6126480" y="4480560"/>
            <a:ext cx="402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3</a:t>
            </a:r>
            <a:endParaRPr b="0" lang="en-US" sz="1600" strike="noStrike" u="none">
              <a:solidFill>
                <a:srgbClr val="000000"/>
              </a:solidFill>
              <a:effectLst/>
              <a:uFillTx/>
              <a:latin typeface="Arial"/>
            </a:endParaRPr>
          </a:p>
        </p:txBody>
      </p:sp>
      <p:sp>
        <p:nvSpPr>
          <p:cNvPr id="1546" name="Text 42"/>
          <p:cNvSpPr/>
          <p:nvPr/>
        </p:nvSpPr>
        <p:spPr>
          <a:xfrm>
            <a:off x="6675120" y="4498920"/>
            <a:ext cx="487332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Random start, different answer</a:t>
            </a:r>
            <a:endParaRPr b="0" lang="en-US" sz="1650" strike="noStrike" u="none">
              <a:solidFill>
                <a:srgbClr val="000000"/>
              </a:solidFill>
              <a:effectLst/>
              <a:uFillTx/>
              <a:latin typeface="Arial"/>
            </a:endParaRPr>
          </a:p>
        </p:txBody>
      </p:sp>
      <p:sp>
        <p:nvSpPr>
          <p:cNvPr id="1547" name="Text 43"/>
          <p:cNvSpPr/>
          <p:nvPr/>
        </p:nvSpPr>
        <p:spPr>
          <a:xfrm>
            <a:off x="6675120" y="4827960"/>
            <a:ext cx="487332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Run it twice, get two answers. Run it ten times and keep the lowest inertia, and use k-means++ to spread the starting centres out.</a:t>
            </a:r>
            <a:endParaRPr b="0" lang="en-US" sz="1400" strike="noStrike" u="none">
              <a:solidFill>
                <a:srgbClr val="000000"/>
              </a:solidFill>
              <a:effectLst/>
              <a:uFillTx/>
              <a:latin typeface="Arial"/>
            </a:endParaRPr>
          </a:p>
        </p:txBody>
      </p:sp>
      <p:sp>
        <p:nvSpPr>
          <p:cNvPr id="1548" name="Shape 44"/>
          <p:cNvSpPr/>
          <p:nvPr/>
        </p:nvSpPr>
        <p:spPr>
          <a:xfrm>
            <a:off x="6126480" y="5715000"/>
            <a:ext cx="5421960" cy="731160"/>
          </a:xfrm>
          <a:prstGeom prst="roundRect">
            <a:avLst>
              <a:gd name="adj" fmla="val 10000"/>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49" name="Text 45"/>
          <p:cNvSpPr/>
          <p:nvPr/>
        </p:nvSpPr>
        <p:spPr>
          <a:xfrm>
            <a:off x="6355080" y="5715000"/>
            <a:ext cx="496476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trike="noStrike" u="none">
                <a:solidFill>
                  <a:srgbClr val="14202b"/>
                </a:solidFill>
                <a:effectLst/>
                <a:uFillTx/>
                <a:latin typeface="Calibri"/>
                <a:ea typeface="Calibri"/>
              </a:rPr>
              <a:t>When it will not fit: </a:t>
            </a:r>
            <a:r>
              <a:rPr b="0" lang="en-US" sz="1300" strike="noStrike" u="none">
                <a:solidFill>
                  <a:srgbClr val="25323d"/>
                </a:solidFill>
                <a:effectLst/>
                <a:uFillTx/>
                <a:latin typeface="Calibri"/>
                <a:ea typeface="Calibri"/>
              </a:rPr>
              <a:t>DBSCAN finds any shape and flags outliers as noise; hierarchical builds a tree you cut where you like; Gaussian mixtures allow stretched, soft clusters.</a:t>
            </a:r>
            <a:endParaRPr b="0" lang="en-US" sz="13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50"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DIMENSIONALITY REDUCTION</a:t>
            </a:r>
            <a:endParaRPr b="0" lang="en-US" sz="1200" strike="noStrike" u="none">
              <a:solidFill>
                <a:srgbClr val="000000"/>
              </a:solidFill>
              <a:effectLst/>
              <a:uFillTx/>
              <a:latin typeface="Arial"/>
            </a:endParaRPr>
          </a:p>
        </p:txBody>
      </p:sp>
      <p:sp>
        <p:nvSpPr>
          <p:cNvPr id="1551"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Why you would want fewer columns</a:t>
            </a:r>
            <a:endParaRPr b="0" lang="en-US" sz="3200" strike="noStrike" u="none">
              <a:solidFill>
                <a:srgbClr val="000000"/>
              </a:solidFill>
              <a:effectLst/>
              <a:uFillTx/>
              <a:latin typeface="Arial"/>
            </a:endParaRPr>
          </a:p>
        </p:txBody>
      </p:sp>
      <p:sp>
        <p:nvSpPr>
          <p:cNvPr id="1552" name="Shape 2"/>
          <p:cNvSpPr/>
          <p:nvPr/>
        </p:nvSpPr>
        <p:spPr>
          <a:xfrm>
            <a:off x="91440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53" name="Shape 3"/>
          <p:cNvSpPr/>
          <p:nvPr/>
        </p:nvSpPr>
        <p:spPr>
          <a:xfrm>
            <a:off x="116136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54" name="Shape 4"/>
          <p:cNvSpPr/>
          <p:nvPr/>
        </p:nvSpPr>
        <p:spPr>
          <a:xfrm>
            <a:off x="140832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55" name="Shape 5"/>
          <p:cNvSpPr/>
          <p:nvPr/>
        </p:nvSpPr>
        <p:spPr>
          <a:xfrm>
            <a:off x="165492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56" name="Shape 6"/>
          <p:cNvSpPr/>
          <p:nvPr/>
        </p:nvSpPr>
        <p:spPr>
          <a:xfrm>
            <a:off x="190188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57" name="Shape 7"/>
          <p:cNvSpPr/>
          <p:nvPr/>
        </p:nvSpPr>
        <p:spPr>
          <a:xfrm>
            <a:off x="214884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58" name="Shape 8"/>
          <p:cNvSpPr/>
          <p:nvPr/>
        </p:nvSpPr>
        <p:spPr>
          <a:xfrm>
            <a:off x="239580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59" name="Shape 9"/>
          <p:cNvSpPr/>
          <p:nvPr/>
        </p:nvSpPr>
        <p:spPr>
          <a:xfrm>
            <a:off x="264276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60" name="Shape 10"/>
          <p:cNvSpPr/>
          <p:nvPr/>
        </p:nvSpPr>
        <p:spPr>
          <a:xfrm>
            <a:off x="288936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61" name="Shape 11"/>
          <p:cNvSpPr/>
          <p:nvPr/>
        </p:nvSpPr>
        <p:spPr>
          <a:xfrm>
            <a:off x="313632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62" name="Shape 12"/>
          <p:cNvSpPr/>
          <p:nvPr/>
        </p:nvSpPr>
        <p:spPr>
          <a:xfrm>
            <a:off x="338328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63" name="Shape 13"/>
          <p:cNvSpPr/>
          <p:nvPr/>
        </p:nvSpPr>
        <p:spPr>
          <a:xfrm>
            <a:off x="363024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64" name="Shape 14"/>
          <p:cNvSpPr/>
          <p:nvPr/>
        </p:nvSpPr>
        <p:spPr>
          <a:xfrm>
            <a:off x="387720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65" name="Shape 15"/>
          <p:cNvSpPr/>
          <p:nvPr/>
        </p:nvSpPr>
        <p:spPr>
          <a:xfrm>
            <a:off x="412380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66" name="Shape 16"/>
          <p:cNvSpPr/>
          <p:nvPr/>
        </p:nvSpPr>
        <p:spPr>
          <a:xfrm>
            <a:off x="437076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67" name="Shape 17"/>
          <p:cNvSpPr/>
          <p:nvPr/>
        </p:nvSpPr>
        <p:spPr>
          <a:xfrm>
            <a:off x="4617720" y="1874520"/>
            <a:ext cx="155160" cy="868320"/>
          </a:xfrm>
          <a:prstGeom prst="rect">
            <a:avLst/>
          </a:prstGeom>
          <a:solidFill>
            <a:srgbClr val="c9d2d9"/>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68" name="Shape 18"/>
          <p:cNvSpPr/>
          <p:nvPr/>
        </p:nvSpPr>
        <p:spPr>
          <a:xfrm>
            <a:off x="5047560" y="2167200"/>
            <a:ext cx="566640" cy="310680"/>
          </a:xfrm>
          <a:prstGeom prst="rightArrow">
            <a:avLst>
              <a:gd name="adj1" fmla="val 50000"/>
              <a:gd name="adj2" fmla="val 50000"/>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69" name="Shape 19"/>
          <p:cNvSpPr/>
          <p:nvPr/>
        </p:nvSpPr>
        <p:spPr>
          <a:xfrm>
            <a:off x="5897880" y="1874520"/>
            <a:ext cx="456840" cy="868320"/>
          </a:xfrm>
          <a:prstGeom prst="rect">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70" name="Shape 20"/>
          <p:cNvSpPr/>
          <p:nvPr/>
        </p:nvSpPr>
        <p:spPr>
          <a:xfrm>
            <a:off x="6537960" y="1874520"/>
            <a:ext cx="456840" cy="868320"/>
          </a:xfrm>
          <a:prstGeom prst="rect">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71" name="Shape 21"/>
          <p:cNvSpPr/>
          <p:nvPr/>
        </p:nvSpPr>
        <p:spPr>
          <a:xfrm>
            <a:off x="7178040" y="1874520"/>
            <a:ext cx="456840" cy="868320"/>
          </a:xfrm>
          <a:prstGeom prst="rect">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72" name="Text 22"/>
          <p:cNvSpPr/>
          <p:nvPr/>
        </p:nvSpPr>
        <p:spPr>
          <a:xfrm>
            <a:off x="914400" y="2816280"/>
            <a:ext cx="385848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300" strike="noStrike" u="none">
                <a:solidFill>
                  <a:srgbClr val="5d6e7c"/>
                </a:solidFill>
                <a:effectLst/>
                <a:uFillTx/>
                <a:latin typeface="Calibri"/>
                <a:ea typeface="Calibri"/>
              </a:rPr>
              <a:t>80 raw columns, many repeating each other</a:t>
            </a:r>
            <a:endParaRPr b="0" lang="en-US" sz="1300" strike="noStrike" u="none">
              <a:solidFill>
                <a:srgbClr val="000000"/>
              </a:solidFill>
              <a:effectLst/>
              <a:uFillTx/>
              <a:latin typeface="Arial"/>
            </a:endParaRPr>
          </a:p>
        </p:txBody>
      </p:sp>
      <p:sp>
        <p:nvSpPr>
          <p:cNvPr id="1573" name="Text 23"/>
          <p:cNvSpPr/>
          <p:nvPr/>
        </p:nvSpPr>
        <p:spPr>
          <a:xfrm>
            <a:off x="5440680" y="2816280"/>
            <a:ext cx="26514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25323d"/>
                </a:solidFill>
                <a:effectLst/>
                <a:uFillTx/>
                <a:latin typeface="Calibri"/>
                <a:ea typeface="Calibri"/>
              </a:rPr>
              <a:t>3 new columns</a:t>
            </a:r>
            <a:endParaRPr b="0" lang="en-US" sz="1300" strike="noStrike" u="none">
              <a:solidFill>
                <a:srgbClr val="000000"/>
              </a:solidFill>
              <a:effectLst/>
              <a:uFillTx/>
              <a:latin typeface="Arial"/>
            </a:endParaRPr>
          </a:p>
        </p:txBody>
      </p:sp>
      <p:sp>
        <p:nvSpPr>
          <p:cNvPr id="1574" name="Shape 24"/>
          <p:cNvSpPr/>
          <p:nvPr/>
        </p:nvSpPr>
        <p:spPr>
          <a:xfrm>
            <a:off x="8001000" y="1828800"/>
            <a:ext cx="3547440" cy="959760"/>
          </a:xfrm>
          <a:prstGeom prst="roundRect">
            <a:avLst>
              <a:gd name="adj" fmla="val 7619"/>
            </a:avLst>
          </a:prstGeom>
          <a:solidFill>
            <a:srgbClr val="e8eef2"/>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75" name="Text 25"/>
          <p:cNvSpPr/>
          <p:nvPr/>
        </p:nvSpPr>
        <p:spPr>
          <a:xfrm>
            <a:off x="8275320" y="1828800"/>
            <a:ext cx="3017160" cy="959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50" strike="noStrike" u="none">
                <a:solidFill>
                  <a:srgbClr val="25323d"/>
                </a:solidFill>
                <a:effectLst/>
                <a:uFillTx/>
                <a:latin typeface="Calibri"/>
                <a:ea typeface="Calibri"/>
              </a:rPr>
              <a:t>Same rows. Far fewer columns. Almost all of the variation kept.</a:t>
            </a:r>
            <a:endParaRPr b="0" lang="en-US" sz="1450" strike="noStrike" u="none">
              <a:solidFill>
                <a:srgbClr val="000000"/>
              </a:solidFill>
              <a:effectLst/>
              <a:uFillTx/>
              <a:latin typeface="Arial"/>
            </a:endParaRPr>
          </a:p>
        </p:txBody>
      </p:sp>
      <p:sp>
        <p:nvSpPr>
          <p:cNvPr id="1576" name="Shape 26"/>
          <p:cNvSpPr/>
          <p:nvPr/>
        </p:nvSpPr>
        <p:spPr>
          <a:xfrm>
            <a:off x="640080" y="3200400"/>
            <a:ext cx="5266440" cy="2331360"/>
          </a:xfrm>
          <a:prstGeom prst="roundRect">
            <a:avLst>
              <a:gd name="adj" fmla="val 3137"/>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77" name="Text 27"/>
          <p:cNvSpPr/>
          <p:nvPr/>
        </p:nvSpPr>
        <p:spPr>
          <a:xfrm>
            <a:off x="960120" y="3337560"/>
            <a:ext cx="457164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trike="noStrike" u="none">
                <a:solidFill>
                  <a:srgbClr val="14202b"/>
                </a:solidFill>
                <a:effectLst/>
                <a:uFillTx/>
                <a:latin typeface="Cambria"/>
                <a:ea typeface="Cambria"/>
              </a:rPr>
              <a:t>Why wide tables hurt</a:t>
            </a:r>
            <a:endParaRPr b="0" lang="en-US" sz="2000" strike="noStrike" u="none">
              <a:solidFill>
                <a:srgbClr val="000000"/>
              </a:solidFill>
              <a:effectLst/>
              <a:uFillTx/>
              <a:latin typeface="Arial"/>
            </a:endParaRPr>
          </a:p>
        </p:txBody>
      </p:sp>
      <p:sp>
        <p:nvSpPr>
          <p:cNvPr id="1578" name="Text 28"/>
          <p:cNvSpPr/>
          <p:nvPr/>
        </p:nvSpPr>
        <p:spPr>
          <a:xfrm>
            <a:off x="960120" y="3822120"/>
            <a:ext cx="4571640" cy="246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14202b"/>
                </a:solidFill>
                <a:effectLst/>
                <a:uFillTx/>
                <a:latin typeface="Calibri"/>
                <a:ea typeface="Calibri"/>
              </a:rPr>
              <a:t>You cannot look at it</a:t>
            </a:r>
            <a:endParaRPr b="0" lang="en-US" sz="1500" strike="noStrike" u="none">
              <a:solidFill>
                <a:srgbClr val="000000"/>
              </a:solidFill>
              <a:effectLst/>
              <a:uFillTx/>
              <a:latin typeface="Arial"/>
            </a:endParaRPr>
          </a:p>
        </p:txBody>
      </p:sp>
      <p:sp>
        <p:nvSpPr>
          <p:cNvPr id="1579" name="Text 29"/>
          <p:cNvSpPr/>
          <p:nvPr/>
        </p:nvSpPr>
        <p:spPr>
          <a:xfrm>
            <a:off x="960120" y="4050720"/>
            <a:ext cx="4571640" cy="301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You can plot two features. You cannot plot eighty.</a:t>
            </a:r>
            <a:endParaRPr b="0" lang="en-US" sz="1300" strike="noStrike" u="none">
              <a:solidFill>
                <a:srgbClr val="000000"/>
              </a:solidFill>
              <a:effectLst/>
              <a:uFillTx/>
              <a:latin typeface="Arial"/>
            </a:endParaRPr>
          </a:p>
        </p:txBody>
      </p:sp>
      <p:sp>
        <p:nvSpPr>
          <p:cNvPr id="1580" name="Text 30"/>
          <p:cNvSpPr/>
          <p:nvPr/>
        </p:nvSpPr>
        <p:spPr>
          <a:xfrm>
            <a:off x="960120" y="4370760"/>
            <a:ext cx="4571640" cy="246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14202b"/>
                </a:solidFill>
                <a:effectLst/>
                <a:uFillTx/>
                <a:latin typeface="Calibri"/>
                <a:ea typeface="Calibri"/>
              </a:rPr>
              <a:t>The columns repeat</a:t>
            </a:r>
            <a:endParaRPr b="0" lang="en-US" sz="1500" strike="noStrike" u="none">
              <a:solidFill>
                <a:srgbClr val="000000"/>
              </a:solidFill>
              <a:effectLst/>
              <a:uFillTx/>
              <a:latin typeface="Arial"/>
            </a:endParaRPr>
          </a:p>
        </p:txBody>
      </p:sp>
      <p:sp>
        <p:nvSpPr>
          <p:cNvPr id="1581" name="Text 31"/>
          <p:cNvSpPr/>
          <p:nvPr/>
        </p:nvSpPr>
        <p:spPr>
          <a:xfrm>
            <a:off x="960120" y="4599360"/>
            <a:ext cx="4571640" cy="301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Square feet, rooms, baths and lot size all move together.</a:t>
            </a:r>
            <a:endParaRPr b="0" lang="en-US" sz="1300" strike="noStrike" u="none">
              <a:solidFill>
                <a:srgbClr val="000000"/>
              </a:solidFill>
              <a:effectLst/>
              <a:uFillTx/>
              <a:latin typeface="Arial"/>
            </a:endParaRPr>
          </a:p>
        </p:txBody>
      </p:sp>
      <p:sp>
        <p:nvSpPr>
          <p:cNvPr id="1582" name="Text 32"/>
          <p:cNvSpPr/>
          <p:nvPr/>
        </p:nvSpPr>
        <p:spPr>
          <a:xfrm>
            <a:off x="960120" y="4919400"/>
            <a:ext cx="4571640" cy="246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14202b"/>
                </a:solidFill>
                <a:effectLst/>
                <a:uFillTx/>
                <a:latin typeface="Calibri"/>
                <a:ea typeface="Calibri"/>
              </a:rPr>
              <a:t>Distance degrades</a:t>
            </a:r>
            <a:endParaRPr b="0" lang="en-US" sz="1500" strike="noStrike" u="none">
              <a:solidFill>
                <a:srgbClr val="000000"/>
              </a:solidFill>
              <a:effectLst/>
              <a:uFillTx/>
              <a:latin typeface="Arial"/>
            </a:endParaRPr>
          </a:p>
        </p:txBody>
      </p:sp>
      <p:sp>
        <p:nvSpPr>
          <p:cNvPr id="1583" name="Text 33"/>
          <p:cNvSpPr/>
          <p:nvPr/>
        </p:nvSpPr>
        <p:spPr>
          <a:xfrm>
            <a:off x="960120" y="5148000"/>
            <a:ext cx="4571640" cy="301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In eighty dimensions everything is far from everything.</a:t>
            </a:r>
            <a:endParaRPr b="0" lang="en-US" sz="1300" strike="noStrike" u="none">
              <a:solidFill>
                <a:srgbClr val="000000"/>
              </a:solidFill>
              <a:effectLst/>
              <a:uFillTx/>
              <a:latin typeface="Arial"/>
            </a:endParaRPr>
          </a:p>
        </p:txBody>
      </p:sp>
      <p:sp>
        <p:nvSpPr>
          <p:cNvPr id="1584" name="Shape 34"/>
          <p:cNvSpPr/>
          <p:nvPr/>
        </p:nvSpPr>
        <p:spPr>
          <a:xfrm>
            <a:off x="6282000" y="3200400"/>
            <a:ext cx="5266440" cy="2331360"/>
          </a:xfrm>
          <a:prstGeom prst="roundRect">
            <a:avLst>
              <a:gd name="adj" fmla="val 3137"/>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85" name="Text 35"/>
          <p:cNvSpPr/>
          <p:nvPr/>
        </p:nvSpPr>
        <p:spPr>
          <a:xfrm>
            <a:off x="6602040" y="3337560"/>
            <a:ext cx="457164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trike="noStrike" u="none">
                <a:solidFill>
                  <a:srgbClr val="14202b"/>
                </a:solidFill>
                <a:effectLst/>
                <a:uFillTx/>
                <a:latin typeface="Cambria"/>
                <a:ea typeface="Cambria"/>
              </a:rPr>
              <a:t>Two ways to get fewer</a:t>
            </a:r>
            <a:endParaRPr b="0" lang="en-US" sz="2000" strike="noStrike" u="none">
              <a:solidFill>
                <a:srgbClr val="000000"/>
              </a:solidFill>
              <a:effectLst/>
              <a:uFillTx/>
              <a:latin typeface="Arial"/>
            </a:endParaRPr>
          </a:p>
        </p:txBody>
      </p:sp>
      <p:sp>
        <p:nvSpPr>
          <p:cNvPr id="1586" name="Shape 36"/>
          <p:cNvSpPr/>
          <p:nvPr/>
        </p:nvSpPr>
        <p:spPr>
          <a:xfrm>
            <a:off x="6602040" y="3822120"/>
            <a:ext cx="365400" cy="36540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87" name="Text 37"/>
          <p:cNvSpPr/>
          <p:nvPr/>
        </p:nvSpPr>
        <p:spPr>
          <a:xfrm>
            <a:off x="6602040" y="3822120"/>
            <a:ext cx="365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1</a:t>
            </a:r>
            <a:endParaRPr b="0" lang="en-US" sz="1600" strike="noStrike" u="none">
              <a:solidFill>
                <a:srgbClr val="000000"/>
              </a:solidFill>
              <a:effectLst/>
              <a:uFillTx/>
              <a:latin typeface="Arial"/>
            </a:endParaRPr>
          </a:p>
        </p:txBody>
      </p:sp>
      <p:sp>
        <p:nvSpPr>
          <p:cNvPr id="1588" name="Text 38"/>
          <p:cNvSpPr/>
          <p:nvPr/>
        </p:nvSpPr>
        <p:spPr>
          <a:xfrm>
            <a:off x="7113960" y="3840480"/>
            <a:ext cx="420588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14202b"/>
                </a:solidFill>
                <a:effectLst/>
                <a:uFillTx/>
                <a:latin typeface="Calibri"/>
                <a:ea typeface="Calibri"/>
              </a:rPr>
              <a:t>Pick some, bin the rest</a:t>
            </a:r>
            <a:endParaRPr b="0" lang="en-US" sz="1500" strike="noStrike" u="none">
              <a:solidFill>
                <a:srgbClr val="000000"/>
              </a:solidFill>
              <a:effectLst/>
              <a:uFillTx/>
              <a:latin typeface="Arial"/>
            </a:endParaRPr>
          </a:p>
        </p:txBody>
      </p:sp>
      <p:sp>
        <p:nvSpPr>
          <p:cNvPr id="1589" name="Text 39"/>
          <p:cNvSpPr/>
          <p:nvPr/>
        </p:nvSpPr>
        <p:spPr>
          <a:xfrm>
            <a:off x="7113960" y="4087440"/>
            <a:ext cx="420588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Feature selection. Keeps the names, loses whatever was in the columns you threw out.</a:t>
            </a:r>
            <a:endParaRPr b="0" lang="en-US" sz="1300" strike="noStrike" u="none">
              <a:solidFill>
                <a:srgbClr val="000000"/>
              </a:solidFill>
              <a:effectLst/>
              <a:uFillTx/>
              <a:latin typeface="Arial"/>
            </a:endParaRPr>
          </a:p>
        </p:txBody>
      </p:sp>
      <p:sp>
        <p:nvSpPr>
          <p:cNvPr id="1590" name="Shape 40"/>
          <p:cNvSpPr/>
          <p:nvPr/>
        </p:nvSpPr>
        <p:spPr>
          <a:xfrm>
            <a:off x="6602040" y="4645080"/>
            <a:ext cx="365400" cy="36540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91" name="Text 41"/>
          <p:cNvSpPr/>
          <p:nvPr/>
        </p:nvSpPr>
        <p:spPr>
          <a:xfrm>
            <a:off x="6602040" y="4645080"/>
            <a:ext cx="365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2</a:t>
            </a:r>
            <a:endParaRPr b="0" lang="en-US" sz="1600" strike="noStrike" u="none">
              <a:solidFill>
                <a:srgbClr val="000000"/>
              </a:solidFill>
              <a:effectLst/>
              <a:uFillTx/>
              <a:latin typeface="Arial"/>
            </a:endParaRPr>
          </a:p>
        </p:txBody>
      </p:sp>
      <p:sp>
        <p:nvSpPr>
          <p:cNvPr id="1592" name="Text 42"/>
          <p:cNvSpPr/>
          <p:nvPr/>
        </p:nvSpPr>
        <p:spPr>
          <a:xfrm>
            <a:off x="7113960" y="4663440"/>
            <a:ext cx="420588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14202b"/>
                </a:solidFill>
                <a:effectLst/>
                <a:uFillTx/>
                <a:latin typeface="Calibri"/>
                <a:ea typeface="Calibri"/>
              </a:rPr>
              <a:t>Build new ones out of all of them</a:t>
            </a:r>
            <a:endParaRPr b="0" lang="en-US" sz="1500" strike="noStrike" u="none">
              <a:solidFill>
                <a:srgbClr val="000000"/>
              </a:solidFill>
              <a:effectLst/>
              <a:uFillTx/>
              <a:latin typeface="Arial"/>
            </a:endParaRPr>
          </a:p>
        </p:txBody>
      </p:sp>
      <p:sp>
        <p:nvSpPr>
          <p:cNvPr id="1593" name="Text 43"/>
          <p:cNvSpPr/>
          <p:nvPr/>
        </p:nvSpPr>
        <p:spPr>
          <a:xfrm>
            <a:off x="7113960" y="4910400"/>
            <a:ext cx="420588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Feature extraction. Loses the names, keeps far more of the information.</a:t>
            </a:r>
            <a:endParaRPr b="0" lang="en-US" sz="1300" strike="noStrike" u="none">
              <a:solidFill>
                <a:srgbClr val="000000"/>
              </a:solidFill>
              <a:effectLst/>
              <a:uFillTx/>
              <a:latin typeface="Arial"/>
            </a:endParaRPr>
          </a:p>
        </p:txBody>
      </p:sp>
      <p:sp>
        <p:nvSpPr>
          <p:cNvPr id="1594" name="Shape 44"/>
          <p:cNvSpPr/>
          <p:nvPr/>
        </p:nvSpPr>
        <p:spPr>
          <a:xfrm>
            <a:off x="640080" y="5669280"/>
            <a:ext cx="10911240" cy="731160"/>
          </a:xfrm>
          <a:prstGeom prst="roundRect">
            <a:avLst>
              <a:gd name="adj" fmla="val 10000"/>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95" name="Text 45"/>
          <p:cNvSpPr/>
          <p:nvPr/>
        </p:nvSpPr>
        <p:spPr>
          <a:xfrm>
            <a:off x="960120" y="5669280"/>
            <a:ext cx="1027116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ff6b35"/>
                </a:solidFill>
                <a:effectLst/>
                <a:uFillTx/>
                <a:latin typeface="Calibri"/>
                <a:ea typeface="Calibri"/>
              </a:rPr>
              <a:t>PCA takes the second route. </a:t>
            </a:r>
            <a:r>
              <a:rPr b="0" lang="en-US" sz="1550" strike="noStrike" u="none">
                <a:solidFill>
                  <a:srgbClr val="d6e0e8"/>
                </a:solidFill>
                <a:effectLst/>
                <a:uFillTx/>
                <a:latin typeface="Calibri"/>
                <a:ea typeface="Calibri"/>
              </a:rPr>
              <a:t>It builds a handful of new columns out of all the old ones, ordered so that the first is the most useful.</a:t>
            </a:r>
            <a:endParaRPr b="0" lang="en-US" sz="15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96"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PCA</a:t>
            </a:r>
            <a:endParaRPr b="0" lang="en-US" sz="1200" strike="noStrike" u="none">
              <a:solidFill>
                <a:srgbClr val="000000"/>
              </a:solidFill>
              <a:effectLst/>
              <a:uFillTx/>
              <a:latin typeface="Arial"/>
            </a:endParaRPr>
          </a:p>
        </p:txBody>
      </p:sp>
      <p:sp>
        <p:nvSpPr>
          <p:cNvPr id="1597"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Three columns, then two, then one</a:t>
            </a:r>
            <a:endParaRPr b="0" lang="en-US" sz="3200" strike="noStrike" u="none">
              <a:solidFill>
                <a:srgbClr val="000000"/>
              </a:solidFill>
              <a:effectLst/>
              <a:uFillTx/>
              <a:latin typeface="Arial"/>
            </a:endParaRPr>
          </a:p>
        </p:txBody>
      </p:sp>
      <p:sp>
        <p:nvSpPr>
          <p:cNvPr id="1598" name="Shape 2"/>
          <p:cNvSpPr/>
          <p:nvPr/>
        </p:nvSpPr>
        <p:spPr>
          <a:xfrm>
            <a:off x="1021320" y="4925880"/>
            <a:ext cx="1984680" cy="23400"/>
          </a:xfrm>
          <a:prstGeom prst="rect">
            <a:avLst/>
          </a:prstGeom>
          <a:solidFill>
            <a:srgbClr val="e6ebef"/>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599" name="Shape 3"/>
          <p:cNvSpPr/>
          <p:nvPr/>
        </p:nvSpPr>
        <p:spPr>
          <a:xfrm rot="19264200">
            <a:off x="2859120" y="4509000"/>
            <a:ext cx="1326600" cy="23400"/>
          </a:xfrm>
          <a:prstGeom prst="rect">
            <a:avLst/>
          </a:prstGeom>
          <a:solidFill>
            <a:srgbClr val="e6ebef"/>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600" name="Shape 4"/>
          <p:cNvSpPr/>
          <p:nvPr/>
        </p:nvSpPr>
        <p:spPr>
          <a:xfrm rot="10800000">
            <a:off x="2054160" y="4092480"/>
            <a:ext cx="1984680" cy="23400"/>
          </a:xfrm>
          <a:prstGeom prst="rect">
            <a:avLst/>
          </a:prstGeom>
          <a:solidFill>
            <a:srgbClr val="e6ebef"/>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601" name="Shape 5"/>
          <p:cNvSpPr/>
          <p:nvPr/>
        </p:nvSpPr>
        <p:spPr>
          <a:xfrm rot="8464200">
            <a:off x="874080" y="4509000"/>
            <a:ext cx="1326600" cy="23400"/>
          </a:xfrm>
          <a:prstGeom prst="rect">
            <a:avLst/>
          </a:prstGeom>
          <a:solidFill>
            <a:srgbClr val="e6ebef"/>
          </a:solidFill>
          <a:ln w="0">
            <a:noFill/>
          </a:ln>
        </p:spPr>
        <p:style>
          <a:lnRef idx="0"/>
          <a:fillRef idx="0"/>
          <a:effectRef idx="0"/>
          <a:fontRef idx="minor"/>
        </p:style>
        <p:txBody>
          <a:bodyPr lIns="90000" rIns="90000" tIns="-21240" bIns="-21240" anchor="t">
            <a:noAutofit/>
          </a:bodyPr>
          <a:p>
            <a:endParaRPr b="0" lang="en-US" sz="1800" strike="noStrike" u="none">
              <a:solidFill>
                <a:srgbClr val="000000"/>
              </a:solidFill>
              <a:effectLst/>
              <a:uFillTx/>
              <a:latin typeface="Arial"/>
            </a:endParaRPr>
          </a:p>
        </p:txBody>
      </p:sp>
      <p:sp>
        <p:nvSpPr>
          <p:cNvPr id="1602" name="Shape 6"/>
          <p:cNvSpPr/>
          <p:nvPr/>
        </p:nvSpPr>
        <p:spPr>
          <a:xfrm>
            <a:off x="1021320" y="4923000"/>
            <a:ext cx="1984680" cy="28800"/>
          </a:xfrm>
          <a:prstGeom prst="rect">
            <a:avLst/>
          </a:prstGeom>
          <a:solidFill>
            <a:srgbClr val="b9c2cb"/>
          </a:solidFill>
          <a:ln w="0">
            <a:noFill/>
          </a:ln>
        </p:spPr>
        <p:style>
          <a:lnRef idx="0"/>
          <a:fillRef idx="0"/>
          <a:effectRef idx="0"/>
          <a:fontRef idx="minor"/>
        </p:style>
        <p:txBody>
          <a:bodyPr lIns="90000" rIns="90000" tIns="-15840" bIns="-15840" anchor="t">
            <a:noAutofit/>
          </a:bodyPr>
          <a:p>
            <a:endParaRPr b="0" lang="en-US" sz="1800" strike="noStrike" u="none">
              <a:solidFill>
                <a:srgbClr val="000000"/>
              </a:solidFill>
              <a:effectLst/>
              <a:uFillTx/>
              <a:latin typeface="Arial"/>
            </a:endParaRPr>
          </a:p>
        </p:txBody>
      </p:sp>
      <p:sp>
        <p:nvSpPr>
          <p:cNvPr id="1603" name="Shape 7"/>
          <p:cNvSpPr/>
          <p:nvPr/>
        </p:nvSpPr>
        <p:spPr>
          <a:xfrm rot="19264200">
            <a:off x="873720" y="4506120"/>
            <a:ext cx="1326600" cy="28800"/>
          </a:xfrm>
          <a:prstGeom prst="rect">
            <a:avLst/>
          </a:prstGeom>
          <a:solidFill>
            <a:srgbClr val="b9c2cb"/>
          </a:solidFill>
          <a:ln w="0">
            <a:noFill/>
          </a:ln>
        </p:spPr>
        <p:style>
          <a:lnRef idx="0"/>
          <a:fillRef idx="0"/>
          <a:effectRef idx="0"/>
          <a:fontRef idx="minor"/>
        </p:style>
        <p:txBody>
          <a:bodyPr lIns="90000" rIns="90000" tIns="-15840" bIns="-15840" anchor="t">
            <a:noAutofit/>
          </a:bodyPr>
          <a:p>
            <a:endParaRPr b="0" lang="en-US" sz="1800" strike="noStrike" u="none">
              <a:solidFill>
                <a:srgbClr val="000000"/>
              </a:solidFill>
              <a:effectLst/>
              <a:uFillTx/>
              <a:latin typeface="Arial"/>
            </a:endParaRPr>
          </a:p>
        </p:txBody>
      </p:sp>
      <p:sp>
        <p:nvSpPr>
          <p:cNvPr id="1604" name="Shape 8"/>
          <p:cNvSpPr/>
          <p:nvPr/>
        </p:nvSpPr>
        <p:spPr>
          <a:xfrm rot="16200000">
            <a:off x="28800" y="3930840"/>
            <a:ext cx="1984680" cy="28800"/>
          </a:xfrm>
          <a:prstGeom prst="rect">
            <a:avLst/>
          </a:prstGeom>
          <a:solidFill>
            <a:srgbClr val="b9c2cb"/>
          </a:solidFill>
          <a:ln w="0">
            <a:noFill/>
          </a:ln>
        </p:spPr>
        <p:style>
          <a:lnRef idx="0"/>
          <a:fillRef idx="0"/>
          <a:effectRef idx="0"/>
          <a:fontRef idx="minor"/>
        </p:style>
        <p:txBody>
          <a:bodyPr lIns="90000" rIns="90000" tIns="-15840" bIns="-15840" anchor="t">
            <a:noAutofit/>
          </a:bodyPr>
          <a:p>
            <a:endParaRPr b="0" lang="en-US" sz="1800" strike="noStrike" u="none">
              <a:solidFill>
                <a:srgbClr val="000000"/>
              </a:solidFill>
              <a:effectLst/>
              <a:uFillTx/>
              <a:latin typeface="Arial"/>
            </a:endParaRPr>
          </a:p>
        </p:txBody>
      </p:sp>
      <p:sp>
        <p:nvSpPr>
          <p:cNvPr id="1605" name="Shape 9"/>
          <p:cNvSpPr/>
          <p:nvPr/>
        </p:nvSpPr>
        <p:spPr>
          <a:xfrm rot="5400000">
            <a:off x="1250640" y="4326840"/>
            <a:ext cx="675720" cy="22320"/>
          </a:xfrm>
          <a:prstGeom prst="rect">
            <a:avLst/>
          </a:prstGeom>
          <a:solidFill>
            <a:srgbClr val="dce3e8"/>
          </a:solidFill>
          <a:ln w="0">
            <a:noFill/>
          </a:ln>
        </p:spPr>
        <p:style>
          <a:lnRef idx="0"/>
          <a:fillRef idx="0"/>
          <a:effectRef idx="0"/>
          <a:fontRef idx="minor"/>
        </p:style>
        <p:txBody>
          <a:bodyPr lIns="90000" rIns="90000" tIns="-22320" bIns="-22320" anchor="t">
            <a:noAutofit/>
          </a:bodyPr>
          <a:p>
            <a:endParaRPr b="0" lang="en-US" sz="1800" strike="noStrike" u="none">
              <a:solidFill>
                <a:srgbClr val="000000"/>
              </a:solidFill>
              <a:effectLst/>
              <a:uFillTx/>
              <a:latin typeface="Arial"/>
            </a:endParaRPr>
          </a:p>
        </p:txBody>
      </p:sp>
      <p:sp>
        <p:nvSpPr>
          <p:cNvPr id="1606" name="Shape 10"/>
          <p:cNvSpPr/>
          <p:nvPr/>
        </p:nvSpPr>
        <p:spPr>
          <a:xfrm rot="5400000">
            <a:off x="1554480" y="4419720"/>
            <a:ext cx="653040" cy="22320"/>
          </a:xfrm>
          <a:prstGeom prst="rect">
            <a:avLst/>
          </a:prstGeom>
          <a:solidFill>
            <a:srgbClr val="dce3e8"/>
          </a:solidFill>
          <a:ln w="0">
            <a:noFill/>
          </a:ln>
        </p:spPr>
        <p:style>
          <a:lnRef idx="0"/>
          <a:fillRef idx="0"/>
          <a:effectRef idx="0"/>
          <a:fontRef idx="minor"/>
        </p:style>
        <p:txBody>
          <a:bodyPr lIns="90000" rIns="90000" tIns="-22320" bIns="-22320" anchor="t">
            <a:noAutofit/>
          </a:bodyPr>
          <a:p>
            <a:endParaRPr b="0" lang="en-US" sz="1800" strike="noStrike" u="none">
              <a:solidFill>
                <a:srgbClr val="000000"/>
              </a:solidFill>
              <a:effectLst/>
              <a:uFillTx/>
              <a:latin typeface="Arial"/>
            </a:endParaRPr>
          </a:p>
        </p:txBody>
      </p:sp>
      <p:sp>
        <p:nvSpPr>
          <p:cNvPr id="1607" name="Shape 11"/>
          <p:cNvSpPr/>
          <p:nvPr/>
        </p:nvSpPr>
        <p:spPr>
          <a:xfrm rot="5400000">
            <a:off x="1516680" y="4228920"/>
            <a:ext cx="793080" cy="22320"/>
          </a:xfrm>
          <a:prstGeom prst="rect">
            <a:avLst/>
          </a:prstGeom>
          <a:solidFill>
            <a:srgbClr val="dce3e8"/>
          </a:solidFill>
          <a:ln w="0">
            <a:noFill/>
          </a:ln>
        </p:spPr>
        <p:style>
          <a:lnRef idx="0"/>
          <a:fillRef idx="0"/>
          <a:effectRef idx="0"/>
          <a:fontRef idx="minor"/>
        </p:style>
        <p:txBody>
          <a:bodyPr lIns="90000" rIns="90000" tIns="-22320" bIns="-22320" anchor="t">
            <a:noAutofit/>
          </a:bodyPr>
          <a:p>
            <a:endParaRPr b="0" lang="en-US" sz="1800" strike="noStrike" u="none">
              <a:solidFill>
                <a:srgbClr val="000000"/>
              </a:solidFill>
              <a:effectLst/>
              <a:uFillTx/>
              <a:latin typeface="Arial"/>
            </a:endParaRPr>
          </a:p>
        </p:txBody>
      </p:sp>
      <p:sp>
        <p:nvSpPr>
          <p:cNvPr id="1608" name="Shape 12"/>
          <p:cNvSpPr/>
          <p:nvPr/>
        </p:nvSpPr>
        <p:spPr>
          <a:xfrm rot="5400000">
            <a:off x="1703520" y="4136040"/>
            <a:ext cx="761400" cy="22320"/>
          </a:xfrm>
          <a:prstGeom prst="rect">
            <a:avLst/>
          </a:prstGeom>
          <a:solidFill>
            <a:srgbClr val="dce3e8"/>
          </a:solidFill>
          <a:ln w="0">
            <a:noFill/>
          </a:ln>
        </p:spPr>
        <p:style>
          <a:lnRef idx="0"/>
          <a:fillRef idx="0"/>
          <a:effectRef idx="0"/>
          <a:fontRef idx="minor"/>
        </p:style>
        <p:txBody>
          <a:bodyPr lIns="90000" rIns="90000" tIns="-22320" bIns="-22320" anchor="t">
            <a:noAutofit/>
          </a:bodyPr>
          <a:p>
            <a:endParaRPr b="0" lang="en-US" sz="1800" strike="noStrike" u="none">
              <a:solidFill>
                <a:srgbClr val="000000"/>
              </a:solidFill>
              <a:effectLst/>
              <a:uFillTx/>
              <a:latin typeface="Arial"/>
            </a:endParaRPr>
          </a:p>
        </p:txBody>
      </p:sp>
      <p:sp>
        <p:nvSpPr>
          <p:cNvPr id="1609" name="Shape 13"/>
          <p:cNvSpPr/>
          <p:nvPr/>
        </p:nvSpPr>
        <p:spPr>
          <a:xfrm rot="5400000">
            <a:off x="1821960" y="4180320"/>
            <a:ext cx="901440" cy="22320"/>
          </a:xfrm>
          <a:prstGeom prst="rect">
            <a:avLst/>
          </a:prstGeom>
          <a:solidFill>
            <a:srgbClr val="dce3e8"/>
          </a:solidFill>
          <a:ln w="0">
            <a:noFill/>
          </a:ln>
        </p:spPr>
        <p:style>
          <a:lnRef idx="0"/>
          <a:fillRef idx="0"/>
          <a:effectRef idx="0"/>
          <a:fontRef idx="minor"/>
        </p:style>
        <p:txBody>
          <a:bodyPr lIns="90000" rIns="90000" tIns="-22320" bIns="-22320" anchor="t">
            <a:noAutofit/>
          </a:bodyPr>
          <a:p>
            <a:endParaRPr b="0" lang="en-US" sz="1800" strike="noStrike" u="none">
              <a:solidFill>
                <a:srgbClr val="000000"/>
              </a:solidFill>
              <a:effectLst/>
              <a:uFillTx/>
              <a:latin typeface="Arial"/>
            </a:endParaRPr>
          </a:p>
        </p:txBody>
      </p:sp>
      <p:sp>
        <p:nvSpPr>
          <p:cNvPr id="1610" name="Shape 14"/>
          <p:cNvSpPr/>
          <p:nvPr/>
        </p:nvSpPr>
        <p:spPr>
          <a:xfrm rot="5400000">
            <a:off x="1863000" y="4008960"/>
            <a:ext cx="992160" cy="22320"/>
          </a:xfrm>
          <a:prstGeom prst="rect">
            <a:avLst/>
          </a:prstGeom>
          <a:solidFill>
            <a:srgbClr val="dce3e8"/>
          </a:solidFill>
          <a:ln w="0">
            <a:noFill/>
          </a:ln>
        </p:spPr>
        <p:style>
          <a:lnRef idx="0"/>
          <a:fillRef idx="0"/>
          <a:effectRef idx="0"/>
          <a:fontRef idx="minor"/>
        </p:style>
        <p:txBody>
          <a:bodyPr lIns="90000" rIns="90000" tIns="-22320" bIns="-22320" anchor="t">
            <a:noAutofit/>
          </a:bodyPr>
          <a:p>
            <a:endParaRPr b="0" lang="en-US" sz="1800" strike="noStrike" u="none">
              <a:solidFill>
                <a:srgbClr val="000000"/>
              </a:solidFill>
              <a:effectLst/>
              <a:uFillTx/>
              <a:latin typeface="Arial"/>
            </a:endParaRPr>
          </a:p>
        </p:txBody>
      </p:sp>
      <p:sp>
        <p:nvSpPr>
          <p:cNvPr id="1611" name="Shape 15"/>
          <p:cNvSpPr/>
          <p:nvPr/>
        </p:nvSpPr>
        <p:spPr>
          <a:xfrm rot="5400000">
            <a:off x="2163600" y="4090320"/>
            <a:ext cx="964080" cy="22320"/>
          </a:xfrm>
          <a:prstGeom prst="rect">
            <a:avLst/>
          </a:prstGeom>
          <a:solidFill>
            <a:srgbClr val="dce3e8"/>
          </a:solidFill>
          <a:ln w="0">
            <a:noFill/>
          </a:ln>
        </p:spPr>
        <p:style>
          <a:lnRef idx="0"/>
          <a:fillRef idx="0"/>
          <a:effectRef idx="0"/>
          <a:fontRef idx="minor"/>
        </p:style>
        <p:txBody>
          <a:bodyPr lIns="90000" rIns="90000" tIns="-22320" bIns="-22320" anchor="t">
            <a:noAutofit/>
          </a:bodyPr>
          <a:p>
            <a:endParaRPr b="0" lang="en-US" sz="1800" strike="noStrike" u="none">
              <a:solidFill>
                <a:srgbClr val="000000"/>
              </a:solidFill>
              <a:effectLst/>
              <a:uFillTx/>
              <a:latin typeface="Arial"/>
            </a:endParaRPr>
          </a:p>
        </p:txBody>
      </p:sp>
      <p:sp>
        <p:nvSpPr>
          <p:cNvPr id="1612" name="Shape 16"/>
          <p:cNvSpPr/>
          <p:nvPr/>
        </p:nvSpPr>
        <p:spPr>
          <a:xfrm rot="5400000">
            <a:off x="2158560" y="3887280"/>
            <a:ext cx="1050120" cy="22320"/>
          </a:xfrm>
          <a:prstGeom prst="rect">
            <a:avLst/>
          </a:prstGeom>
          <a:solidFill>
            <a:srgbClr val="dce3e8"/>
          </a:solidFill>
          <a:ln w="0">
            <a:noFill/>
          </a:ln>
        </p:spPr>
        <p:style>
          <a:lnRef idx="0"/>
          <a:fillRef idx="0"/>
          <a:effectRef idx="0"/>
          <a:fontRef idx="minor"/>
        </p:style>
        <p:txBody>
          <a:bodyPr lIns="90000" rIns="90000" tIns="-22320" bIns="-22320" anchor="t">
            <a:noAutofit/>
          </a:bodyPr>
          <a:p>
            <a:endParaRPr b="0" lang="en-US" sz="1800" strike="noStrike" u="none">
              <a:solidFill>
                <a:srgbClr val="000000"/>
              </a:solidFill>
              <a:effectLst/>
              <a:uFillTx/>
              <a:latin typeface="Arial"/>
            </a:endParaRPr>
          </a:p>
        </p:txBody>
      </p:sp>
      <p:sp>
        <p:nvSpPr>
          <p:cNvPr id="1613" name="Shape 17"/>
          <p:cNvSpPr/>
          <p:nvPr/>
        </p:nvSpPr>
        <p:spPr>
          <a:xfrm rot="5400000">
            <a:off x="2267280" y="3873600"/>
            <a:ext cx="1189440" cy="22320"/>
          </a:xfrm>
          <a:prstGeom prst="rect">
            <a:avLst/>
          </a:prstGeom>
          <a:solidFill>
            <a:srgbClr val="dce3e8"/>
          </a:solidFill>
          <a:ln w="0">
            <a:noFill/>
          </a:ln>
        </p:spPr>
        <p:style>
          <a:lnRef idx="0"/>
          <a:fillRef idx="0"/>
          <a:effectRef idx="0"/>
          <a:fontRef idx="minor"/>
        </p:style>
        <p:txBody>
          <a:bodyPr lIns="90000" rIns="90000" tIns="-22320" bIns="-22320" anchor="t">
            <a:noAutofit/>
          </a:bodyPr>
          <a:p>
            <a:endParaRPr b="0" lang="en-US" sz="1800" strike="noStrike" u="none">
              <a:solidFill>
                <a:srgbClr val="000000"/>
              </a:solidFill>
              <a:effectLst/>
              <a:uFillTx/>
              <a:latin typeface="Arial"/>
            </a:endParaRPr>
          </a:p>
        </p:txBody>
      </p:sp>
      <p:sp>
        <p:nvSpPr>
          <p:cNvPr id="1614" name="Shape 18"/>
          <p:cNvSpPr/>
          <p:nvPr/>
        </p:nvSpPr>
        <p:spPr>
          <a:xfrm rot="5400000">
            <a:off x="2413800" y="3746160"/>
            <a:ext cx="1144080" cy="22320"/>
          </a:xfrm>
          <a:prstGeom prst="rect">
            <a:avLst/>
          </a:prstGeom>
          <a:solidFill>
            <a:srgbClr val="dce3e8"/>
          </a:solidFill>
          <a:ln w="0">
            <a:noFill/>
          </a:ln>
        </p:spPr>
        <p:style>
          <a:lnRef idx="0"/>
          <a:fillRef idx="0"/>
          <a:effectRef idx="0"/>
          <a:fontRef idx="minor"/>
        </p:style>
        <p:txBody>
          <a:bodyPr lIns="90000" rIns="90000" tIns="-22320" bIns="-22320" anchor="t">
            <a:noAutofit/>
          </a:bodyPr>
          <a:p>
            <a:endParaRPr b="0" lang="en-US" sz="1800" strike="noStrike" u="none">
              <a:solidFill>
                <a:srgbClr val="000000"/>
              </a:solidFill>
              <a:effectLst/>
              <a:uFillTx/>
              <a:latin typeface="Arial"/>
            </a:endParaRPr>
          </a:p>
        </p:txBody>
      </p:sp>
      <p:sp>
        <p:nvSpPr>
          <p:cNvPr id="1615" name="Shape 19"/>
          <p:cNvSpPr/>
          <p:nvPr/>
        </p:nvSpPr>
        <p:spPr>
          <a:xfrm rot="5400000">
            <a:off x="2536920" y="3786840"/>
            <a:ext cx="1274760" cy="22320"/>
          </a:xfrm>
          <a:prstGeom prst="rect">
            <a:avLst/>
          </a:prstGeom>
          <a:solidFill>
            <a:srgbClr val="dce3e8"/>
          </a:solidFill>
          <a:ln w="0">
            <a:noFill/>
          </a:ln>
        </p:spPr>
        <p:style>
          <a:lnRef idx="0"/>
          <a:fillRef idx="0"/>
          <a:effectRef idx="0"/>
          <a:fontRef idx="minor"/>
        </p:style>
        <p:txBody>
          <a:bodyPr lIns="90000" rIns="90000" tIns="-22320" bIns="-22320" anchor="t">
            <a:noAutofit/>
          </a:bodyPr>
          <a:p>
            <a:endParaRPr b="0" lang="en-US" sz="1800" strike="noStrike" u="none">
              <a:solidFill>
                <a:srgbClr val="000000"/>
              </a:solidFill>
              <a:effectLst/>
              <a:uFillTx/>
              <a:latin typeface="Arial"/>
            </a:endParaRPr>
          </a:p>
        </p:txBody>
      </p:sp>
      <p:sp>
        <p:nvSpPr>
          <p:cNvPr id="1616" name="Shape 20"/>
          <p:cNvSpPr/>
          <p:nvPr/>
        </p:nvSpPr>
        <p:spPr>
          <a:xfrm rot="5400000">
            <a:off x="2568960" y="3636720"/>
            <a:ext cx="1359000" cy="22320"/>
          </a:xfrm>
          <a:prstGeom prst="rect">
            <a:avLst/>
          </a:prstGeom>
          <a:solidFill>
            <a:srgbClr val="dce3e8"/>
          </a:solidFill>
          <a:ln w="0">
            <a:noFill/>
          </a:ln>
        </p:spPr>
        <p:style>
          <a:lnRef idx="0"/>
          <a:fillRef idx="0"/>
          <a:effectRef idx="0"/>
          <a:fontRef idx="minor"/>
        </p:style>
        <p:txBody>
          <a:bodyPr lIns="90000" rIns="90000" tIns="-22320" bIns="-22320" anchor="t">
            <a:noAutofit/>
          </a:bodyPr>
          <a:p>
            <a:endParaRPr b="0" lang="en-US" sz="1800" strike="noStrike" u="none">
              <a:solidFill>
                <a:srgbClr val="000000"/>
              </a:solidFill>
              <a:effectLst/>
              <a:uFillTx/>
              <a:latin typeface="Arial"/>
            </a:endParaRPr>
          </a:p>
        </p:txBody>
      </p:sp>
      <p:sp>
        <p:nvSpPr>
          <p:cNvPr id="1617" name="Shape 21"/>
          <p:cNvSpPr/>
          <p:nvPr/>
        </p:nvSpPr>
        <p:spPr>
          <a:xfrm rot="5400000">
            <a:off x="2803680" y="3699000"/>
            <a:ext cx="1326960" cy="22320"/>
          </a:xfrm>
          <a:prstGeom prst="rect">
            <a:avLst/>
          </a:prstGeom>
          <a:solidFill>
            <a:srgbClr val="dce3e8"/>
          </a:solidFill>
          <a:ln w="0">
            <a:noFill/>
          </a:ln>
        </p:spPr>
        <p:style>
          <a:lnRef idx="0"/>
          <a:fillRef idx="0"/>
          <a:effectRef idx="0"/>
          <a:fontRef idx="minor"/>
        </p:style>
        <p:txBody>
          <a:bodyPr lIns="90000" rIns="90000" tIns="-22320" bIns="-22320" anchor="t">
            <a:noAutofit/>
          </a:bodyPr>
          <a:p>
            <a:endParaRPr b="0" lang="en-US" sz="1800" strike="noStrike" u="none">
              <a:solidFill>
                <a:srgbClr val="000000"/>
              </a:solidFill>
              <a:effectLst/>
              <a:uFillTx/>
              <a:latin typeface="Arial"/>
            </a:endParaRPr>
          </a:p>
        </p:txBody>
      </p:sp>
      <p:sp>
        <p:nvSpPr>
          <p:cNvPr id="1618" name="Shape 22"/>
          <p:cNvSpPr/>
          <p:nvPr/>
        </p:nvSpPr>
        <p:spPr>
          <a:xfrm rot="5400000">
            <a:off x="2800440" y="3540960"/>
            <a:ext cx="1376280" cy="22320"/>
          </a:xfrm>
          <a:prstGeom prst="rect">
            <a:avLst/>
          </a:prstGeom>
          <a:solidFill>
            <a:srgbClr val="dce3e8"/>
          </a:solidFill>
          <a:ln w="0">
            <a:noFill/>
          </a:ln>
        </p:spPr>
        <p:style>
          <a:lnRef idx="0"/>
          <a:fillRef idx="0"/>
          <a:effectRef idx="0"/>
          <a:fontRef idx="minor"/>
        </p:style>
        <p:txBody>
          <a:bodyPr lIns="90000" rIns="90000" tIns="-22320" bIns="-22320" anchor="t">
            <a:noAutofit/>
          </a:bodyPr>
          <a:p>
            <a:endParaRPr b="0" lang="en-US" sz="1800" strike="noStrike" u="none">
              <a:solidFill>
                <a:srgbClr val="000000"/>
              </a:solidFill>
              <a:effectLst/>
              <a:uFillTx/>
              <a:latin typeface="Arial"/>
            </a:endParaRPr>
          </a:p>
        </p:txBody>
      </p:sp>
      <p:sp>
        <p:nvSpPr>
          <p:cNvPr id="1619" name="Shape 23"/>
          <p:cNvSpPr/>
          <p:nvPr/>
        </p:nvSpPr>
        <p:spPr>
          <a:xfrm>
            <a:off x="1517760" y="392976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20" name="Shape 24"/>
          <p:cNvSpPr/>
          <p:nvPr/>
        </p:nvSpPr>
        <p:spPr>
          <a:xfrm>
            <a:off x="1810080" y="403344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21" name="Shape 25"/>
          <p:cNvSpPr/>
          <p:nvPr/>
        </p:nvSpPr>
        <p:spPr>
          <a:xfrm>
            <a:off x="1842120" y="377280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22" name="Shape 26"/>
          <p:cNvSpPr/>
          <p:nvPr/>
        </p:nvSpPr>
        <p:spPr>
          <a:xfrm>
            <a:off x="2013480" y="369612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23" name="Shape 27"/>
          <p:cNvSpPr/>
          <p:nvPr/>
        </p:nvSpPr>
        <p:spPr>
          <a:xfrm>
            <a:off x="2201760" y="366984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24" name="Shape 28"/>
          <p:cNvSpPr/>
          <p:nvPr/>
        </p:nvSpPr>
        <p:spPr>
          <a:xfrm>
            <a:off x="2287800" y="345312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25" name="Shape 29"/>
          <p:cNvSpPr/>
          <p:nvPr/>
        </p:nvSpPr>
        <p:spPr>
          <a:xfrm>
            <a:off x="2574360" y="354852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26" name="Shape 30"/>
          <p:cNvSpPr/>
          <p:nvPr/>
        </p:nvSpPr>
        <p:spPr>
          <a:xfrm>
            <a:off x="2612880" y="330300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27" name="Shape 31"/>
          <p:cNvSpPr/>
          <p:nvPr/>
        </p:nvSpPr>
        <p:spPr>
          <a:xfrm>
            <a:off x="2791080" y="321912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28" name="Shape 32"/>
          <p:cNvSpPr/>
          <p:nvPr/>
        </p:nvSpPr>
        <p:spPr>
          <a:xfrm>
            <a:off x="2914560" y="311472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29" name="Shape 33"/>
          <p:cNvSpPr/>
          <p:nvPr/>
        </p:nvSpPr>
        <p:spPr>
          <a:xfrm>
            <a:off x="3103200" y="3089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30" name="Shape 34"/>
          <p:cNvSpPr/>
          <p:nvPr/>
        </p:nvSpPr>
        <p:spPr>
          <a:xfrm>
            <a:off x="3177360" y="289764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31" name="Shape 35"/>
          <p:cNvSpPr/>
          <p:nvPr/>
        </p:nvSpPr>
        <p:spPr>
          <a:xfrm>
            <a:off x="3395880" y="297576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32" name="Shape 36"/>
          <p:cNvSpPr/>
          <p:nvPr/>
        </p:nvSpPr>
        <p:spPr>
          <a:xfrm>
            <a:off x="3417840" y="279324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33" name="Shape 37"/>
          <p:cNvSpPr/>
          <p:nvPr/>
        </p:nvSpPr>
        <p:spPr>
          <a:xfrm>
            <a:off x="4587480" y="4939560"/>
            <a:ext cx="301716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634" name="Shape 38"/>
          <p:cNvSpPr/>
          <p:nvPr/>
        </p:nvSpPr>
        <p:spPr>
          <a:xfrm rot="5400000">
            <a:off x="3170520" y="3522240"/>
            <a:ext cx="28342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635" name="Shape 39"/>
          <p:cNvSpPr/>
          <p:nvPr/>
        </p:nvSpPr>
        <p:spPr>
          <a:xfrm>
            <a:off x="4669920" y="3524040"/>
            <a:ext cx="2852640" cy="28800"/>
          </a:xfrm>
          <a:prstGeom prst="rect">
            <a:avLst/>
          </a:prstGeom>
          <a:solidFill>
            <a:srgbClr val="d5dde4"/>
          </a:solidFill>
          <a:ln w="0">
            <a:noFill/>
          </a:ln>
        </p:spPr>
        <p:style>
          <a:lnRef idx="0"/>
          <a:fillRef idx="0"/>
          <a:effectRef idx="0"/>
          <a:fontRef idx="minor"/>
        </p:style>
        <p:txBody>
          <a:bodyPr lIns="90000" rIns="90000" tIns="-15840" bIns="-15840" anchor="t">
            <a:noAutofit/>
          </a:bodyPr>
          <a:p>
            <a:endParaRPr b="0" lang="en-US" sz="1800" strike="noStrike" u="none">
              <a:solidFill>
                <a:srgbClr val="000000"/>
              </a:solidFill>
              <a:effectLst/>
              <a:uFillTx/>
              <a:latin typeface="Arial"/>
            </a:endParaRPr>
          </a:p>
        </p:txBody>
      </p:sp>
      <p:sp>
        <p:nvSpPr>
          <p:cNvPr id="1636" name="Shape 40"/>
          <p:cNvSpPr/>
          <p:nvPr/>
        </p:nvSpPr>
        <p:spPr>
          <a:xfrm rot="16200000">
            <a:off x="4753080" y="3524400"/>
            <a:ext cx="2686320" cy="28800"/>
          </a:xfrm>
          <a:prstGeom prst="rect">
            <a:avLst/>
          </a:prstGeom>
          <a:solidFill>
            <a:srgbClr val="d5dde4"/>
          </a:solidFill>
          <a:ln w="0">
            <a:noFill/>
          </a:ln>
        </p:spPr>
        <p:style>
          <a:lnRef idx="0"/>
          <a:fillRef idx="0"/>
          <a:effectRef idx="0"/>
          <a:fontRef idx="minor"/>
        </p:style>
        <p:txBody>
          <a:bodyPr lIns="90000" rIns="90000" tIns="-15840" bIns="-15840" anchor="t">
            <a:noAutofit/>
          </a:bodyPr>
          <a:p>
            <a:endParaRPr b="0" lang="en-US" sz="1800" strike="noStrike" u="none">
              <a:solidFill>
                <a:srgbClr val="000000"/>
              </a:solidFill>
              <a:effectLst/>
              <a:uFillTx/>
              <a:latin typeface="Arial"/>
            </a:endParaRPr>
          </a:p>
        </p:txBody>
      </p:sp>
      <p:sp>
        <p:nvSpPr>
          <p:cNvPr id="1637" name="Shape 41"/>
          <p:cNvSpPr/>
          <p:nvPr/>
        </p:nvSpPr>
        <p:spPr>
          <a:xfrm>
            <a:off x="4684680" y="327816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38" name="Shape 42"/>
          <p:cNvSpPr/>
          <p:nvPr/>
        </p:nvSpPr>
        <p:spPr>
          <a:xfrm>
            <a:off x="4924800" y="381852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39" name="Shape 43"/>
          <p:cNvSpPr/>
          <p:nvPr/>
        </p:nvSpPr>
        <p:spPr>
          <a:xfrm>
            <a:off x="5100840" y="34012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40" name="Shape 44"/>
          <p:cNvSpPr/>
          <p:nvPr/>
        </p:nvSpPr>
        <p:spPr>
          <a:xfrm>
            <a:off x="5313960" y="314712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41" name="Shape 45"/>
          <p:cNvSpPr/>
          <p:nvPr/>
        </p:nvSpPr>
        <p:spPr>
          <a:xfrm>
            <a:off x="5523480" y="371592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42" name="Shape 46"/>
          <p:cNvSpPr/>
          <p:nvPr/>
        </p:nvSpPr>
        <p:spPr>
          <a:xfrm>
            <a:off x="5729400" y="332496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43" name="Shape 47"/>
          <p:cNvSpPr/>
          <p:nvPr/>
        </p:nvSpPr>
        <p:spPr>
          <a:xfrm>
            <a:off x="5967360" y="381096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44" name="Shape 48"/>
          <p:cNvSpPr/>
          <p:nvPr/>
        </p:nvSpPr>
        <p:spPr>
          <a:xfrm>
            <a:off x="6140160" y="325620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45" name="Shape 49"/>
          <p:cNvSpPr/>
          <p:nvPr/>
        </p:nvSpPr>
        <p:spPr>
          <a:xfrm>
            <a:off x="6370200" y="360504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46" name="Shape 50"/>
          <p:cNvSpPr/>
          <p:nvPr/>
        </p:nvSpPr>
        <p:spPr>
          <a:xfrm>
            <a:off x="6549480" y="31600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47" name="Shape 51"/>
          <p:cNvSpPr/>
          <p:nvPr/>
        </p:nvSpPr>
        <p:spPr>
          <a:xfrm>
            <a:off x="6758280" y="370152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48" name="Shape 52"/>
          <p:cNvSpPr/>
          <p:nvPr/>
        </p:nvSpPr>
        <p:spPr>
          <a:xfrm>
            <a:off x="6938280" y="336636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49" name="Shape 53"/>
          <p:cNvSpPr/>
          <p:nvPr/>
        </p:nvSpPr>
        <p:spPr>
          <a:xfrm>
            <a:off x="7116840" y="371700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50" name="Shape 54"/>
          <p:cNvSpPr/>
          <p:nvPr/>
        </p:nvSpPr>
        <p:spPr>
          <a:xfrm>
            <a:off x="7237800" y="32464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51" name="Text 55"/>
          <p:cNvSpPr/>
          <p:nvPr/>
        </p:nvSpPr>
        <p:spPr>
          <a:xfrm>
            <a:off x="6599160" y="4626720"/>
            <a:ext cx="914040" cy="237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150" strike="noStrike" u="none">
                <a:solidFill>
                  <a:srgbClr val="ff6b35"/>
                </a:solidFill>
                <a:effectLst/>
                <a:uFillTx/>
                <a:latin typeface="Calibri"/>
                <a:ea typeface="Calibri"/>
              </a:rPr>
              <a:t>PC1</a:t>
            </a:r>
            <a:endParaRPr b="0" lang="en-US" sz="1150" strike="noStrike" u="none">
              <a:solidFill>
                <a:srgbClr val="000000"/>
              </a:solidFill>
              <a:effectLst/>
              <a:uFillTx/>
              <a:latin typeface="Arial"/>
            </a:endParaRPr>
          </a:p>
        </p:txBody>
      </p:sp>
      <p:sp>
        <p:nvSpPr>
          <p:cNvPr id="1652" name="Text 56"/>
          <p:cNvSpPr/>
          <p:nvPr/>
        </p:nvSpPr>
        <p:spPr>
          <a:xfrm>
            <a:off x="6169320" y="2176200"/>
            <a:ext cx="8226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50" strike="noStrike" u="none">
                <a:solidFill>
                  <a:srgbClr val="7d4e9e"/>
                </a:solidFill>
                <a:effectLst/>
                <a:uFillTx/>
                <a:latin typeface="Calibri"/>
                <a:ea typeface="Calibri"/>
              </a:rPr>
              <a:t>PC2</a:t>
            </a:r>
            <a:endParaRPr b="0" lang="en-US" sz="1150" strike="noStrike" u="none">
              <a:solidFill>
                <a:srgbClr val="000000"/>
              </a:solidFill>
              <a:effectLst/>
              <a:uFillTx/>
              <a:latin typeface="Arial"/>
            </a:endParaRPr>
          </a:p>
        </p:txBody>
      </p:sp>
      <p:sp>
        <p:nvSpPr>
          <p:cNvPr id="1653" name="Shape 57"/>
          <p:cNvSpPr/>
          <p:nvPr/>
        </p:nvSpPr>
        <p:spPr>
          <a:xfrm>
            <a:off x="8153640" y="4939560"/>
            <a:ext cx="301716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654" name="Shape 58"/>
          <p:cNvSpPr/>
          <p:nvPr/>
        </p:nvSpPr>
        <p:spPr>
          <a:xfrm rot="5400000">
            <a:off x="6736680" y="3522240"/>
            <a:ext cx="2834280" cy="32400"/>
          </a:xfrm>
          <a:prstGeom prst="rect">
            <a:avLst/>
          </a:prstGeom>
          <a:solidFill>
            <a:srgbClr val="c3ccd4"/>
          </a:solidFill>
          <a:ln w="0">
            <a:noFill/>
          </a:ln>
        </p:spPr>
        <p:style>
          <a:lnRef idx="0"/>
          <a:fillRef idx="0"/>
          <a:effectRef idx="0"/>
          <a:fontRef idx="minor"/>
        </p:style>
        <p:txBody>
          <a:bodyPr lIns="90000" rIns="90000" tIns="-12240" bIns="-12240" anchor="t">
            <a:noAutofit/>
          </a:bodyPr>
          <a:p>
            <a:endParaRPr b="0" lang="en-US" sz="1800" strike="noStrike" u="none">
              <a:solidFill>
                <a:srgbClr val="000000"/>
              </a:solidFill>
              <a:effectLst/>
              <a:uFillTx/>
              <a:latin typeface="Arial"/>
            </a:endParaRPr>
          </a:p>
        </p:txBody>
      </p:sp>
      <p:sp>
        <p:nvSpPr>
          <p:cNvPr id="1655" name="Shape 59"/>
          <p:cNvSpPr/>
          <p:nvPr/>
        </p:nvSpPr>
        <p:spPr>
          <a:xfrm>
            <a:off x="8236080" y="3520440"/>
            <a:ext cx="2852640" cy="36000"/>
          </a:xfrm>
          <a:prstGeom prst="rect">
            <a:avLst/>
          </a:prstGeom>
          <a:solidFill>
            <a:srgbClr val="ff6b35"/>
          </a:solidFill>
          <a:ln w="0">
            <a:noFill/>
          </a:ln>
        </p:spPr>
        <p:style>
          <a:lnRef idx="0"/>
          <a:fillRef idx="0"/>
          <a:effectRef idx="0"/>
          <a:fontRef idx="minor"/>
        </p:style>
        <p:txBody>
          <a:bodyPr lIns="90000" rIns="90000" tIns="-8640" bIns="-8640" anchor="t">
            <a:noAutofit/>
          </a:bodyPr>
          <a:p>
            <a:endParaRPr b="0" lang="en-US" sz="1800" strike="noStrike" u="none">
              <a:solidFill>
                <a:srgbClr val="ffffff"/>
              </a:solidFill>
              <a:effectLst/>
              <a:uFillTx/>
              <a:latin typeface="Arial"/>
            </a:endParaRPr>
          </a:p>
        </p:txBody>
      </p:sp>
      <p:sp>
        <p:nvSpPr>
          <p:cNvPr id="1656" name="Shape 60"/>
          <p:cNvSpPr/>
          <p:nvPr/>
        </p:nvSpPr>
        <p:spPr>
          <a:xfrm>
            <a:off x="8250840" y="3467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57" name="Shape 61"/>
          <p:cNvSpPr/>
          <p:nvPr/>
        </p:nvSpPr>
        <p:spPr>
          <a:xfrm>
            <a:off x="8490960" y="3467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58" name="Shape 62"/>
          <p:cNvSpPr/>
          <p:nvPr/>
        </p:nvSpPr>
        <p:spPr>
          <a:xfrm>
            <a:off x="8667000" y="3467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59" name="Shape 63"/>
          <p:cNvSpPr/>
          <p:nvPr/>
        </p:nvSpPr>
        <p:spPr>
          <a:xfrm>
            <a:off x="8880120" y="3467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60" name="Shape 64"/>
          <p:cNvSpPr/>
          <p:nvPr/>
        </p:nvSpPr>
        <p:spPr>
          <a:xfrm>
            <a:off x="9089640" y="3467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61" name="Shape 65"/>
          <p:cNvSpPr/>
          <p:nvPr/>
        </p:nvSpPr>
        <p:spPr>
          <a:xfrm>
            <a:off x="9295560" y="3467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62" name="Shape 66"/>
          <p:cNvSpPr/>
          <p:nvPr/>
        </p:nvSpPr>
        <p:spPr>
          <a:xfrm>
            <a:off x="9533520" y="3467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63" name="Shape 67"/>
          <p:cNvSpPr/>
          <p:nvPr/>
        </p:nvSpPr>
        <p:spPr>
          <a:xfrm>
            <a:off x="9706320" y="3467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64" name="Shape 68"/>
          <p:cNvSpPr/>
          <p:nvPr/>
        </p:nvSpPr>
        <p:spPr>
          <a:xfrm>
            <a:off x="9936360" y="3467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65" name="Shape 69"/>
          <p:cNvSpPr/>
          <p:nvPr/>
        </p:nvSpPr>
        <p:spPr>
          <a:xfrm>
            <a:off x="10115640" y="3467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66" name="Shape 70"/>
          <p:cNvSpPr/>
          <p:nvPr/>
        </p:nvSpPr>
        <p:spPr>
          <a:xfrm>
            <a:off x="10324440" y="3467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67" name="Shape 71"/>
          <p:cNvSpPr/>
          <p:nvPr/>
        </p:nvSpPr>
        <p:spPr>
          <a:xfrm>
            <a:off x="10504440" y="3467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68" name="Shape 72"/>
          <p:cNvSpPr/>
          <p:nvPr/>
        </p:nvSpPr>
        <p:spPr>
          <a:xfrm>
            <a:off x="10683000" y="3467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69" name="Shape 73"/>
          <p:cNvSpPr/>
          <p:nvPr/>
        </p:nvSpPr>
        <p:spPr>
          <a:xfrm>
            <a:off x="10803960" y="3467880"/>
            <a:ext cx="141480" cy="141480"/>
          </a:xfrm>
          <a:prstGeom prst="ellipse">
            <a:avLst/>
          </a:prstGeom>
          <a:solidFill>
            <a:srgbClr val="1f6e9c"/>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70" name="Text 74"/>
          <p:cNvSpPr/>
          <p:nvPr/>
        </p:nvSpPr>
        <p:spPr>
          <a:xfrm>
            <a:off x="10165320" y="4626720"/>
            <a:ext cx="914040" cy="237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150" strike="noStrike" u="none">
                <a:solidFill>
                  <a:srgbClr val="ff6b35"/>
                </a:solidFill>
                <a:effectLst/>
                <a:uFillTx/>
                <a:latin typeface="Calibri"/>
                <a:ea typeface="Calibri"/>
              </a:rPr>
              <a:t>PC1</a:t>
            </a:r>
            <a:endParaRPr b="0" lang="en-US" sz="1150" strike="noStrike" u="none">
              <a:solidFill>
                <a:srgbClr val="000000"/>
              </a:solidFill>
              <a:effectLst/>
              <a:uFillTx/>
              <a:latin typeface="Arial"/>
            </a:endParaRPr>
          </a:p>
        </p:txBody>
      </p:sp>
      <p:sp>
        <p:nvSpPr>
          <p:cNvPr id="1671" name="Text 75"/>
          <p:cNvSpPr/>
          <p:nvPr/>
        </p:nvSpPr>
        <p:spPr>
          <a:xfrm>
            <a:off x="1021320" y="1682640"/>
            <a:ext cx="301716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100" strike="noStrike" u="none">
                <a:solidFill>
                  <a:srgbClr val="14202b"/>
                </a:solidFill>
                <a:effectLst/>
                <a:uFillTx/>
                <a:latin typeface="Cambria"/>
                <a:ea typeface="Cambria"/>
              </a:rPr>
              <a:t>3 columns</a:t>
            </a:r>
            <a:endParaRPr b="0" lang="en-US" sz="2100" strike="noStrike" u="none">
              <a:solidFill>
                <a:srgbClr val="000000"/>
              </a:solidFill>
              <a:effectLst/>
              <a:uFillTx/>
              <a:latin typeface="Arial"/>
            </a:endParaRPr>
          </a:p>
        </p:txBody>
      </p:sp>
      <p:sp>
        <p:nvSpPr>
          <p:cNvPr id="1672" name="Text 76"/>
          <p:cNvSpPr/>
          <p:nvPr/>
        </p:nvSpPr>
        <p:spPr>
          <a:xfrm>
            <a:off x="884160" y="5083920"/>
            <a:ext cx="32914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300" strike="noStrike" u="none">
                <a:solidFill>
                  <a:srgbClr val="5d6e7c"/>
                </a:solidFill>
                <a:effectLst/>
                <a:uFillTx/>
                <a:latin typeface="Calibri"/>
                <a:ea typeface="Calibri"/>
              </a:rPr>
              <a:t>sq ft → right · rooms → depth · baths → up</a:t>
            </a:r>
            <a:endParaRPr b="0" lang="en-US" sz="1300" strike="noStrike" u="none">
              <a:solidFill>
                <a:srgbClr val="000000"/>
              </a:solidFill>
              <a:effectLst/>
              <a:uFillTx/>
              <a:latin typeface="Arial"/>
            </a:endParaRPr>
          </a:p>
        </p:txBody>
      </p:sp>
      <p:sp>
        <p:nvSpPr>
          <p:cNvPr id="1673" name="Shape 77"/>
          <p:cNvSpPr/>
          <p:nvPr/>
        </p:nvSpPr>
        <p:spPr>
          <a:xfrm>
            <a:off x="4121280" y="3364920"/>
            <a:ext cx="383760" cy="273960"/>
          </a:xfrm>
          <a:prstGeom prst="rightArrow">
            <a:avLst>
              <a:gd name="adj1" fmla="val 50000"/>
              <a:gd name="adj2" fmla="val 50000"/>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74" name="Text 78"/>
          <p:cNvSpPr/>
          <p:nvPr/>
        </p:nvSpPr>
        <p:spPr>
          <a:xfrm>
            <a:off x="4587480" y="1682640"/>
            <a:ext cx="301716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100" strike="noStrike" u="none">
                <a:solidFill>
                  <a:srgbClr val="ff6b35"/>
                </a:solidFill>
                <a:effectLst/>
                <a:uFillTx/>
                <a:latin typeface="Cambria"/>
                <a:ea typeface="Cambria"/>
              </a:rPr>
              <a:t>2 columns</a:t>
            </a:r>
            <a:endParaRPr b="0" lang="en-US" sz="2100" strike="noStrike" u="none">
              <a:solidFill>
                <a:srgbClr val="000000"/>
              </a:solidFill>
              <a:effectLst/>
              <a:uFillTx/>
              <a:latin typeface="Arial"/>
            </a:endParaRPr>
          </a:p>
        </p:txBody>
      </p:sp>
      <p:sp>
        <p:nvSpPr>
          <p:cNvPr id="1675" name="Text 79"/>
          <p:cNvSpPr/>
          <p:nvPr/>
        </p:nvSpPr>
        <p:spPr>
          <a:xfrm>
            <a:off x="4450320" y="5083920"/>
            <a:ext cx="32914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300" strike="noStrike" u="none">
                <a:solidFill>
                  <a:srgbClr val="5d6e7c"/>
                </a:solidFill>
                <a:effectLst/>
                <a:uFillTx/>
                <a:latin typeface="Calibri"/>
                <a:ea typeface="Calibri"/>
              </a:rPr>
              <a:t>thinnest direction flattened · 99.4% kept</a:t>
            </a:r>
            <a:endParaRPr b="0" lang="en-US" sz="1300" strike="noStrike" u="none">
              <a:solidFill>
                <a:srgbClr val="000000"/>
              </a:solidFill>
              <a:effectLst/>
              <a:uFillTx/>
              <a:latin typeface="Arial"/>
            </a:endParaRPr>
          </a:p>
        </p:txBody>
      </p:sp>
      <p:sp>
        <p:nvSpPr>
          <p:cNvPr id="1676" name="Shape 80"/>
          <p:cNvSpPr/>
          <p:nvPr/>
        </p:nvSpPr>
        <p:spPr>
          <a:xfrm>
            <a:off x="7687440" y="3364920"/>
            <a:ext cx="383760" cy="273960"/>
          </a:xfrm>
          <a:prstGeom prst="rightArrow">
            <a:avLst>
              <a:gd name="adj1" fmla="val 50000"/>
              <a:gd name="adj2" fmla="val 50000"/>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77" name="Text 81"/>
          <p:cNvSpPr/>
          <p:nvPr/>
        </p:nvSpPr>
        <p:spPr>
          <a:xfrm>
            <a:off x="8153640" y="1682640"/>
            <a:ext cx="301716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100" strike="noStrike" u="none">
                <a:solidFill>
                  <a:srgbClr val="ff6b35"/>
                </a:solidFill>
                <a:effectLst/>
                <a:uFillTx/>
                <a:latin typeface="Cambria"/>
                <a:ea typeface="Cambria"/>
              </a:rPr>
              <a:t>1 column</a:t>
            </a:r>
            <a:endParaRPr b="0" lang="en-US" sz="2100" strike="noStrike" u="none">
              <a:solidFill>
                <a:srgbClr val="000000"/>
              </a:solidFill>
              <a:effectLst/>
              <a:uFillTx/>
              <a:latin typeface="Arial"/>
            </a:endParaRPr>
          </a:p>
        </p:txBody>
      </p:sp>
      <p:sp>
        <p:nvSpPr>
          <p:cNvPr id="1678" name="Text 82"/>
          <p:cNvSpPr/>
          <p:nvPr/>
        </p:nvSpPr>
        <p:spPr>
          <a:xfrm>
            <a:off x="8016480" y="5083920"/>
            <a:ext cx="32914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300" strike="noStrike" u="none">
                <a:solidFill>
                  <a:srgbClr val="5d6e7c"/>
                </a:solidFill>
                <a:effectLst/>
                <a:uFillTx/>
                <a:latin typeface="Calibri"/>
                <a:ea typeface="Calibri"/>
              </a:rPr>
              <a:t>and the next one too · 91.4% kept</a:t>
            </a:r>
            <a:endParaRPr b="0" lang="en-US" sz="1300" strike="noStrike" u="none">
              <a:solidFill>
                <a:srgbClr val="000000"/>
              </a:solidFill>
              <a:effectLst/>
              <a:uFillTx/>
              <a:latin typeface="Arial"/>
            </a:endParaRPr>
          </a:p>
        </p:txBody>
      </p:sp>
      <p:sp>
        <p:nvSpPr>
          <p:cNvPr id="1679" name="Shape 83"/>
          <p:cNvSpPr/>
          <p:nvPr/>
        </p:nvSpPr>
        <p:spPr>
          <a:xfrm>
            <a:off x="640080" y="5669280"/>
            <a:ext cx="10911240" cy="731160"/>
          </a:xfrm>
          <a:prstGeom prst="roundRect">
            <a:avLst>
              <a:gd name="adj" fmla="val 10000"/>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80" name="Text 84"/>
          <p:cNvSpPr/>
          <p:nvPr/>
        </p:nvSpPr>
        <p:spPr>
          <a:xfrm>
            <a:off x="960120" y="5669280"/>
            <a:ext cx="1027116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ff6b35"/>
                </a:solidFill>
                <a:effectLst/>
                <a:uFillTx/>
                <a:latin typeface="Calibri"/>
                <a:ea typeface="Calibri"/>
              </a:rPr>
              <a:t>Every step is a projection. </a:t>
            </a:r>
            <a:r>
              <a:rPr b="0" lang="en-US" sz="1550" strike="noStrike" u="none">
                <a:solidFill>
                  <a:srgbClr val="d6e0e8"/>
                </a:solidFill>
                <a:effectLst/>
                <a:uFillTx/>
                <a:latin typeface="Calibri"/>
                <a:ea typeface="Calibri"/>
              </a:rPr>
              <a:t>Find the direction the data varies along least, squash it flat, and the table is one column narrower. The points barely move, because there was nothing there to lose.</a:t>
            </a:r>
            <a:endParaRPr b="0" lang="en-US" sz="15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81"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PCA</a:t>
            </a:r>
            <a:endParaRPr b="0" lang="en-US" sz="1200" strike="noStrike" u="none">
              <a:solidFill>
                <a:srgbClr val="000000"/>
              </a:solidFill>
              <a:effectLst/>
              <a:uFillTx/>
              <a:latin typeface="Arial"/>
            </a:endParaRPr>
          </a:p>
        </p:txBody>
      </p:sp>
      <p:sp>
        <p:nvSpPr>
          <p:cNvPr id="1682"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How those directions are found</a:t>
            </a:r>
            <a:endParaRPr b="0" lang="en-US" sz="3200" strike="noStrike" u="none">
              <a:solidFill>
                <a:srgbClr val="000000"/>
              </a:solidFill>
              <a:effectLst/>
              <a:uFillTx/>
              <a:latin typeface="Arial"/>
            </a:endParaRPr>
          </a:p>
        </p:txBody>
      </p:sp>
      <p:sp>
        <p:nvSpPr>
          <p:cNvPr id="1683" name="Shape 2"/>
          <p:cNvSpPr/>
          <p:nvPr/>
        </p:nvSpPr>
        <p:spPr>
          <a:xfrm>
            <a:off x="640080" y="1783080"/>
            <a:ext cx="402120" cy="402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84" name="Text 3"/>
          <p:cNvSpPr/>
          <p:nvPr/>
        </p:nvSpPr>
        <p:spPr>
          <a:xfrm>
            <a:off x="640080" y="1783080"/>
            <a:ext cx="402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1</a:t>
            </a:r>
            <a:endParaRPr b="0" lang="en-US" sz="1600" strike="noStrike" u="none">
              <a:solidFill>
                <a:srgbClr val="000000"/>
              </a:solidFill>
              <a:effectLst/>
              <a:uFillTx/>
              <a:latin typeface="Arial"/>
            </a:endParaRPr>
          </a:p>
        </p:txBody>
      </p:sp>
      <p:sp>
        <p:nvSpPr>
          <p:cNvPr id="1685" name="Text 4"/>
          <p:cNvSpPr/>
          <p:nvPr/>
        </p:nvSpPr>
        <p:spPr>
          <a:xfrm>
            <a:off x="1188720" y="1764720"/>
            <a:ext cx="484596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Centre every column</a:t>
            </a:r>
            <a:endParaRPr b="0" lang="en-US" sz="1650" strike="noStrike" u="none">
              <a:solidFill>
                <a:srgbClr val="000000"/>
              </a:solidFill>
              <a:effectLst/>
              <a:uFillTx/>
              <a:latin typeface="Arial"/>
            </a:endParaRPr>
          </a:p>
        </p:txBody>
      </p:sp>
      <p:sp>
        <p:nvSpPr>
          <p:cNvPr id="1686" name="Text 5"/>
          <p:cNvSpPr/>
          <p:nvPr/>
        </p:nvSpPr>
        <p:spPr>
          <a:xfrm>
            <a:off x="1188720" y="2057400"/>
            <a:ext cx="4845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0e7c86"/>
                </a:solidFill>
                <a:effectLst/>
                <a:uFillTx/>
                <a:latin typeface="Courier New"/>
                <a:ea typeface="Courier New"/>
              </a:rPr>
              <a:t>X ← X − mean(X)</a:t>
            </a:r>
            <a:endParaRPr b="0" lang="en-US" sz="1300" strike="noStrike" u="none">
              <a:solidFill>
                <a:srgbClr val="000000"/>
              </a:solidFill>
              <a:effectLst/>
              <a:uFillTx/>
              <a:latin typeface="Arial"/>
            </a:endParaRPr>
          </a:p>
        </p:txBody>
      </p:sp>
      <p:sp>
        <p:nvSpPr>
          <p:cNvPr id="1687" name="Text 6"/>
          <p:cNvSpPr/>
          <p:nvPr/>
        </p:nvSpPr>
        <p:spPr>
          <a:xfrm>
            <a:off x="1188720" y="2331720"/>
            <a:ext cx="4845960" cy="43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PCA measures spread around the centre, so the centre has to sit at zero. Standardise as well if the units differ.</a:t>
            </a:r>
            <a:endParaRPr b="0" lang="en-US" sz="1300" strike="noStrike" u="none">
              <a:solidFill>
                <a:srgbClr val="000000"/>
              </a:solidFill>
              <a:effectLst/>
              <a:uFillTx/>
              <a:latin typeface="Arial"/>
            </a:endParaRPr>
          </a:p>
        </p:txBody>
      </p:sp>
      <p:sp>
        <p:nvSpPr>
          <p:cNvPr id="1688" name="Shape 7"/>
          <p:cNvSpPr/>
          <p:nvPr/>
        </p:nvSpPr>
        <p:spPr>
          <a:xfrm>
            <a:off x="640080" y="2770560"/>
            <a:ext cx="402120" cy="402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89" name="Text 8"/>
          <p:cNvSpPr/>
          <p:nvPr/>
        </p:nvSpPr>
        <p:spPr>
          <a:xfrm>
            <a:off x="640080" y="2770560"/>
            <a:ext cx="402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2</a:t>
            </a:r>
            <a:endParaRPr b="0" lang="en-US" sz="1600" strike="noStrike" u="none">
              <a:solidFill>
                <a:srgbClr val="000000"/>
              </a:solidFill>
              <a:effectLst/>
              <a:uFillTx/>
              <a:latin typeface="Arial"/>
            </a:endParaRPr>
          </a:p>
        </p:txBody>
      </p:sp>
      <p:sp>
        <p:nvSpPr>
          <p:cNvPr id="1690" name="Text 9"/>
          <p:cNvSpPr/>
          <p:nvPr/>
        </p:nvSpPr>
        <p:spPr>
          <a:xfrm>
            <a:off x="1188720" y="2752200"/>
            <a:ext cx="484596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Build the covariance matrix</a:t>
            </a:r>
            <a:endParaRPr b="0" lang="en-US" sz="1650" strike="noStrike" u="none">
              <a:solidFill>
                <a:srgbClr val="000000"/>
              </a:solidFill>
              <a:effectLst/>
              <a:uFillTx/>
              <a:latin typeface="Arial"/>
            </a:endParaRPr>
          </a:p>
        </p:txBody>
      </p:sp>
      <p:sp>
        <p:nvSpPr>
          <p:cNvPr id="1691" name="Text 10"/>
          <p:cNvSpPr/>
          <p:nvPr/>
        </p:nvSpPr>
        <p:spPr>
          <a:xfrm>
            <a:off x="1188720" y="3044880"/>
            <a:ext cx="4845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0e7c86"/>
                </a:solidFill>
                <a:effectLst/>
                <a:uFillTx/>
                <a:latin typeface="Courier New"/>
                <a:ea typeface="Courier New"/>
              </a:rPr>
              <a:t>C = XᵀX / (n − 1)</a:t>
            </a:r>
            <a:endParaRPr b="0" lang="en-US" sz="1300" strike="noStrike" u="none">
              <a:solidFill>
                <a:srgbClr val="000000"/>
              </a:solidFill>
              <a:effectLst/>
              <a:uFillTx/>
              <a:latin typeface="Arial"/>
            </a:endParaRPr>
          </a:p>
        </p:txBody>
      </p:sp>
      <p:sp>
        <p:nvSpPr>
          <p:cNvPr id="1692" name="Text 11"/>
          <p:cNvSpPr/>
          <p:nvPr/>
        </p:nvSpPr>
        <p:spPr>
          <a:xfrm>
            <a:off x="1188720" y="3319200"/>
            <a:ext cx="4845960" cy="43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One entry per pair of columns: variance down the diagonal, how each pair moves together off it.</a:t>
            </a:r>
            <a:endParaRPr b="0" lang="en-US" sz="1300" strike="noStrike" u="none">
              <a:solidFill>
                <a:srgbClr val="000000"/>
              </a:solidFill>
              <a:effectLst/>
              <a:uFillTx/>
              <a:latin typeface="Arial"/>
            </a:endParaRPr>
          </a:p>
        </p:txBody>
      </p:sp>
      <p:sp>
        <p:nvSpPr>
          <p:cNvPr id="1693" name="Shape 12"/>
          <p:cNvSpPr/>
          <p:nvPr/>
        </p:nvSpPr>
        <p:spPr>
          <a:xfrm>
            <a:off x="640080" y="3758040"/>
            <a:ext cx="402120" cy="402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94" name="Text 13"/>
          <p:cNvSpPr/>
          <p:nvPr/>
        </p:nvSpPr>
        <p:spPr>
          <a:xfrm>
            <a:off x="640080" y="3758040"/>
            <a:ext cx="402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3</a:t>
            </a:r>
            <a:endParaRPr b="0" lang="en-US" sz="1600" strike="noStrike" u="none">
              <a:solidFill>
                <a:srgbClr val="000000"/>
              </a:solidFill>
              <a:effectLst/>
              <a:uFillTx/>
              <a:latin typeface="Arial"/>
            </a:endParaRPr>
          </a:p>
        </p:txBody>
      </p:sp>
      <p:sp>
        <p:nvSpPr>
          <p:cNvPr id="1695" name="Text 14"/>
          <p:cNvSpPr/>
          <p:nvPr/>
        </p:nvSpPr>
        <p:spPr>
          <a:xfrm>
            <a:off x="1188720" y="3740040"/>
            <a:ext cx="484596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Find its eigenvectors</a:t>
            </a:r>
            <a:endParaRPr b="0" lang="en-US" sz="1650" strike="noStrike" u="none">
              <a:solidFill>
                <a:srgbClr val="000000"/>
              </a:solidFill>
              <a:effectLst/>
              <a:uFillTx/>
              <a:latin typeface="Arial"/>
            </a:endParaRPr>
          </a:p>
        </p:txBody>
      </p:sp>
      <p:sp>
        <p:nvSpPr>
          <p:cNvPr id="1696" name="Text 15"/>
          <p:cNvSpPr/>
          <p:nvPr/>
        </p:nvSpPr>
        <p:spPr>
          <a:xfrm>
            <a:off x="1188720" y="4032360"/>
            <a:ext cx="4845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0e7c86"/>
                </a:solidFill>
                <a:effectLst/>
                <a:uFillTx/>
                <a:latin typeface="Courier New"/>
                <a:ea typeface="Courier New"/>
              </a:rPr>
              <a:t>C v = λ v</a:t>
            </a:r>
            <a:endParaRPr b="0" lang="en-US" sz="1300" strike="noStrike" u="none">
              <a:solidFill>
                <a:srgbClr val="000000"/>
              </a:solidFill>
              <a:effectLst/>
              <a:uFillTx/>
              <a:latin typeface="Arial"/>
            </a:endParaRPr>
          </a:p>
        </p:txBody>
      </p:sp>
      <p:sp>
        <p:nvSpPr>
          <p:cNvPr id="1697" name="Text 16"/>
          <p:cNvSpPr/>
          <p:nvPr/>
        </p:nvSpPr>
        <p:spPr>
          <a:xfrm>
            <a:off x="1188720" y="4306680"/>
            <a:ext cx="4845960" cy="43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An eigenvector is a direction that C only stretches, never turns. Its eigenvalue is the variance along that direction.</a:t>
            </a:r>
            <a:endParaRPr b="0" lang="en-US" sz="1300" strike="noStrike" u="none">
              <a:solidFill>
                <a:srgbClr val="000000"/>
              </a:solidFill>
              <a:effectLst/>
              <a:uFillTx/>
              <a:latin typeface="Arial"/>
            </a:endParaRPr>
          </a:p>
        </p:txBody>
      </p:sp>
      <p:sp>
        <p:nvSpPr>
          <p:cNvPr id="1698" name="Shape 17"/>
          <p:cNvSpPr/>
          <p:nvPr/>
        </p:nvSpPr>
        <p:spPr>
          <a:xfrm>
            <a:off x="640080" y="4745880"/>
            <a:ext cx="402120" cy="40212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99" name="Text 18"/>
          <p:cNvSpPr/>
          <p:nvPr/>
        </p:nvSpPr>
        <p:spPr>
          <a:xfrm>
            <a:off x="640080" y="4745880"/>
            <a:ext cx="402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4</a:t>
            </a:r>
            <a:endParaRPr b="0" lang="en-US" sz="1600" strike="noStrike" u="none">
              <a:solidFill>
                <a:srgbClr val="000000"/>
              </a:solidFill>
              <a:effectLst/>
              <a:uFillTx/>
              <a:latin typeface="Arial"/>
            </a:endParaRPr>
          </a:p>
        </p:txBody>
      </p:sp>
      <p:sp>
        <p:nvSpPr>
          <p:cNvPr id="1700" name="Text 19"/>
          <p:cNvSpPr/>
          <p:nvPr/>
        </p:nvSpPr>
        <p:spPr>
          <a:xfrm>
            <a:off x="1188720" y="4727520"/>
            <a:ext cx="484596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14202b"/>
                </a:solidFill>
                <a:effectLst/>
                <a:uFillTx/>
                <a:latin typeface="Calibri"/>
                <a:ea typeface="Calibri"/>
              </a:rPr>
              <a:t>Sort, keep k, project</a:t>
            </a:r>
            <a:endParaRPr b="0" lang="en-US" sz="1650" strike="noStrike" u="none">
              <a:solidFill>
                <a:srgbClr val="000000"/>
              </a:solidFill>
              <a:effectLst/>
              <a:uFillTx/>
              <a:latin typeface="Arial"/>
            </a:endParaRPr>
          </a:p>
        </p:txBody>
      </p:sp>
      <p:sp>
        <p:nvSpPr>
          <p:cNvPr id="1701" name="Text 20"/>
          <p:cNvSpPr/>
          <p:nvPr/>
        </p:nvSpPr>
        <p:spPr>
          <a:xfrm>
            <a:off x="1188720" y="5020200"/>
            <a:ext cx="4845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0e7c86"/>
                </a:solidFill>
                <a:effectLst/>
                <a:uFillTx/>
                <a:latin typeface="Courier New"/>
                <a:ea typeface="Courier New"/>
              </a:rPr>
              <a:t>Z = X · V</a:t>
            </a:r>
            <a:endParaRPr b="0" lang="en-US" sz="1300" strike="noStrike" u="none">
              <a:solidFill>
                <a:srgbClr val="000000"/>
              </a:solidFill>
              <a:effectLst/>
              <a:uFillTx/>
              <a:latin typeface="Arial"/>
            </a:endParaRPr>
          </a:p>
        </p:txBody>
      </p:sp>
      <p:sp>
        <p:nvSpPr>
          <p:cNvPr id="1702" name="Text 21"/>
          <p:cNvSpPr/>
          <p:nvPr/>
        </p:nvSpPr>
        <p:spPr>
          <a:xfrm>
            <a:off x="1188720" y="5294520"/>
            <a:ext cx="4845960" cy="43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Rank the eigenvectors by eigenvalue, keep the top k, and multiply the centred data by them.</a:t>
            </a:r>
            <a:endParaRPr b="0" lang="en-US" sz="1300" strike="noStrike" u="none">
              <a:solidFill>
                <a:srgbClr val="000000"/>
              </a:solidFill>
              <a:effectLst/>
              <a:uFillTx/>
              <a:latin typeface="Arial"/>
            </a:endParaRPr>
          </a:p>
        </p:txBody>
      </p:sp>
      <p:sp>
        <p:nvSpPr>
          <p:cNvPr id="1703" name="Shape 22"/>
          <p:cNvSpPr/>
          <p:nvPr/>
        </p:nvSpPr>
        <p:spPr>
          <a:xfrm>
            <a:off x="6400800" y="1783080"/>
            <a:ext cx="5147640" cy="1901520"/>
          </a:xfrm>
          <a:prstGeom prst="roundRect">
            <a:avLst>
              <a:gd name="adj" fmla="val 3846"/>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04" name="Text 23"/>
          <p:cNvSpPr/>
          <p:nvPr/>
        </p:nvSpPr>
        <p:spPr>
          <a:xfrm>
            <a:off x="6693480" y="1883520"/>
            <a:ext cx="457164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for the three columns on the last slide</a:t>
            </a:r>
            <a:endParaRPr b="0" lang="en-US" sz="1300" strike="noStrike" u="none">
              <a:solidFill>
                <a:srgbClr val="000000"/>
              </a:solidFill>
              <a:effectLst/>
              <a:uFillTx/>
              <a:latin typeface="Arial"/>
            </a:endParaRPr>
          </a:p>
        </p:txBody>
      </p:sp>
      <p:sp>
        <p:nvSpPr>
          <p:cNvPr id="1705" name="Text 24"/>
          <p:cNvSpPr/>
          <p:nvPr/>
        </p:nvSpPr>
        <p:spPr>
          <a:xfrm>
            <a:off x="6693480" y="2176200"/>
            <a:ext cx="4571640" cy="868320"/>
          </a:xfrm>
          <a:prstGeom prst="rect">
            <a:avLst/>
          </a:prstGeom>
          <a:noFill/>
          <a:ln w="0">
            <a:noFill/>
          </a:ln>
        </p:spPr>
        <p:style>
          <a:lnRef idx="0"/>
          <a:fillRef idx="0"/>
          <a:effectRef idx="0"/>
          <a:fontRef idx="minor"/>
        </p:style>
        <p:txBody>
          <a:bodyPr lIns="0" rIns="0" tIns="0" bIns="0" anchor="ctr">
            <a:noAutofit/>
          </a:bodyPr>
          <a:p>
            <a:pPr defTabSz="914400">
              <a:lnSpc>
                <a:spcPct val="108000"/>
              </a:lnSpc>
              <a:tabLst>
                <a:tab algn="l" pos="0"/>
              </a:tabLst>
            </a:pPr>
            <a:r>
              <a:rPr b="1" lang="en-US" sz="1450" strike="noStrike" u="none">
                <a:solidFill>
                  <a:srgbClr val="14202b"/>
                </a:solidFill>
                <a:effectLst/>
                <a:uFillTx/>
                <a:latin typeface="Courier New"/>
                <a:ea typeface="Courier New"/>
              </a:rPr>
              <a:t>C  =    5.32   3.33   2.79</a:t>
            </a:r>
            <a:endParaRPr b="0" lang="en-US" sz="1450" strike="noStrike" u="none">
              <a:solidFill>
                <a:srgbClr val="000000"/>
              </a:solidFill>
              <a:effectLst/>
              <a:uFillTx/>
              <a:latin typeface="Arial"/>
            </a:endParaRPr>
          </a:p>
          <a:p>
            <a:pPr defTabSz="914400">
              <a:lnSpc>
                <a:spcPct val="108000"/>
              </a:lnSpc>
              <a:tabLst>
                <a:tab algn="l" pos="0"/>
              </a:tabLst>
            </a:pPr>
            <a:r>
              <a:rPr b="1" lang="en-US" sz="1450" strike="noStrike" u="none">
                <a:solidFill>
                  <a:srgbClr val="14202b"/>
                </a:solidFill>
                <a:effectLst/>
                <a:uFillTx/>
                <a:latin typeface="Courier New"/>
                <a:ea typeface="Courier New"/>
              </a:rPr>
              <a:t>        3.33   3.28   2.08</a:t>
            </a:r>
            <a:endParaRPr b="0" lang="en-US" sz="1450" strike="noStrike" u="none">
              <a:solidFill>
                <a:srgbClr val="000000"/>
              </a:solidFill>
              <a:effectLst/>
              <a:uFillTx/>
              <a:latin typeface="Arial"/>
            </a:endParaRPr>
          </a:p>
          <a:p>
            <a:pPr defTabSz="914400">
              <a:lnSpc>
                <a:spcPct val="108000"/>
              </a:lnSpc>
              <a:tabLst>
                <a:tab algn="l" pos="0"/>
              </a:tabLst>
            </a:pPr>
            <a:r>
              <a:rPr b="1" lang="en-US" sz="1450" strike="noStrike" u="none">
                <a:solidFill>
                  <a:srgbClr val="14202b"/>
                </a:solidFill>
                <a:effectLst/>
                <a:uFillTx/>
                <a:latin typeface="Courier New"/>
                <a:ea typeface="Courier New"/>
              </a:rPr>
              <a:t>        2.79   2.08   1.63</a:t>
            </a:r>
            <a:endParaRPr b="0" lang="en-US" sz="1450" strike="noStrike" u="none">
              <a:solidFill>
                <a:srgbClr val="000000"/>
              </a:solidFill>
              <a:effectLst/>
              <a:uFillTx/>
              <a:latin typeface="Arial"/>
            </a:endParaRPr>
          </a:p>
        </p:txBody>
      </p:sp>
      <p:sp>
        <p:nvSpPr>
          <p:cNvPr id="1706" name="Text 25"/>
          <p:cNvSpPr/>
          <p:nvPr/>
        </p:nvSpPr>
        <p:spPr>
          <a:xfrm>
            <a:off x="6693480" y="3108960"/>
            <a:ext cx="45716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250" strike="noStrike" u="none">
                <a:solidFill>
                  <a:srgbClr val="5d6e7c"/>
                </a:solidFill>
                <a:effectLst/>
                <a:uFillTx/>
                <a:latin typeface="Calibri"/>
                <a:ea typeface="Calibri"/>
              </a:rPr>
              <a:t>big off-diagonal numbers are the redundancy PCA is about to cash in</a:t>
            </a:r>
            <a:endParaRPr b="0" lang="en-US" sz="1250" strike="noStrike" u="none">
              <a:solidFill>
                <a:srgbClr val="000000"/>
              </a:solidFill>
              <a:effectLst/>
              <a:uFillTx/>
              <a:latin typeface="Arial"/>
            </a:endParaRPr>
          </a:p>
        </p:txBody>
      </p:sp>
      <p:sp>
        <p:nvSpPr>
          <p:cNvPr id="1707" name="Text 26"/>
          <p:cNvSpPr/>
          <p:nvPr/>
        </p:nvSpPr>
        <p:spPr>
          <a:xfrm>
            <a:off x="6400800" y="3877200"/>
            <a:ext cx="5147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trike="noStrike" u="none">
                <a:solidFill>
                  <a:srgbClr val="14202b"/>
                </a:solidFill>
                <a:effectLst/>
                <a:uFillTx/>
                <a:latin typeface="Calibri"/>
                <a:ea typeface="Calibri"/>
              </a:rPr>
              <a:t>What the eigenvalues came out as</a:t>
            </a:r>
            <a:endParaRPr b="0" lang="en-US" sz="1450" strike="noStrike" u="none">
              <a:solidFill>
                <a:srgbClr val="000000"/>
              </a:solidFill>
              <a:effectLst/>
              <a:uFillTx/>
              <a:latin typeface="Arial"/>
            </a:endParaRPr>
          </a:p>
        </p:txBody>
      </p:sp>
      <p:sp>
        <p:nvSpPr>
          <p:cNvPr id="1708" name="Shape 27"/>
          <p:cNvSpPr/>
          <p:nvPr/>
        </p:nvSpPr>
        <p:spPr>
          <a:xfrm>
            <a:off x="6675120" y="5471640"/>
            <a:ext cx="2651400" cy="28800"/>
          </a:xfrm>
          <a:prstGeom prst="rect">
            <a:avLst/>
          </a:prstGeom>
          <a:solidFill>
            <a:srgbClr val="c3ccd4"/>
          </a:solidFill>
          <a:ln w="0">
            <a:noFill/>
          </a:ln>
        </p:spPr>
        <p:style>
          <a:lnRef idx="0"/>
          <a:fillRef idx="0"/>
          <a:effectRef idx="0"/>
          <a:fontRef idx="minor"/>
        </p:style>
        <p:txBody>
          <a:bodyPr lIns="90000" rIns="90000" tIns="-15840" bIns="-15840" anchor="t">
            <a:noAutofit/>
          </a:bodyPr>
          <a:p>
            <a:endParaRPr b="0" lang="en-US" sz="1800" strike="noStrike" u="none">
              <a:solidFill>
                <a:srgbClr val="000000"/>
              </a:solidFill>
              <a:effectLst/>
              <a:uFillTx/>
              <a:latin typeface="Arial"/>
            </a:endParaRPr>
          </a:p>
        </p:txBody>
      </p:sp>
      <p:sp>
        <p:nvSpPr>
          <p:cNvPr id="1709" name="Shape 28"/>
          <p:cNvSpPr/>
          <p:nvPr/>
        </p:nvSpPr>
        <p:spPr>
          <a:xfrm>
            <a:off x="6766560" y="4224600"/>
            <a:ext cx="676440" cy="1261440"/>
          </a:xfrm>
          <a:prstGeom prst="rect">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710" name="Text 29"/>
          <p:cNvSpPr/>
          <p:nvPr/>
        </p:nvSpPr>
        <p:spPr>
          <a:xfrm>
            <a:off x="6766560" y="5532120"/>
            <a:ext cx="676440" cy="237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50" strike="noStrike" u="none">
                <a:solidFill>
                  <a:srgbClr val="5d6e7c"/>
                </a:solidFill>
                <a:effectLst/>
                <a:uFillTx/>
                <a:latin typeface="Calibri"/>
                <a:ea typeface="Calibri"/>
              </a:rPr>
              <a:t>PC1</a:t>
            </a:r>
            <a:endParaRPr b="0" lang="en-US" sz="1150" strike="noStrike" u="none">
              <a:solidFill>
                <a:srgbClr val="000000"/>
              </a:solidFill>
              <a:effectLst/>
              <a:uFillTx/>
              <a:latin typeface="Arial"/>
            </a:endParaRPr>
          </a:p>
        </p:txBody>
      </p:sp>
      <p:sp>
        <p:nvSpPr>
          <p:cNvPr id="1711" name="Shape 30"/>
          <p:cNvSpPr/>
          <p:nvPr/>
        </p:nvSpPr>
        <p:spPr>
          <a:xfrm>
            <a:off x="7680960" y="5375880"/>
            <a:ext cx="676440" cy="110160"/>
          </a:xfrm>
          <a:prstGeom prst="rect">
            <a:avLst/>
          </a:prstGeom>
          <a:solidFill>
            <a:srgbClr val="7d4e9e"/>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712" name="Text 31"/>
          <p:cNvSpPr/>
          <p:nvPr/>
        </p:nvSpPr>
        <p:spPr>
          <a:xfrm>
            <a:off x="7680960" y="5532120"/>
            <a:ext cx="676440" cy="237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50" strike="noStrike" u="none">
                <a:solidFill>
                  <a:srgbClr val="5d6e7c"/>
                </a:solidFill>
                <a:effectLst/>
                <a:uFillTx/>
                <a:latin typeface="Calibri"/>
                <a:ea typeface="Calibri"/>
              </a:rPr>
              <a:t>PC2</a:t>
            </a:r>
            <a:endParaRPr b="0" lang="en-US" sz="1150" strike="noStrike" u="none">
              <a:solidFill>
                <a:srgbClr val="000000"/>
              </a:solidFill>
              <a:effectLst/>
              <a:uFillTx/>
              <a:latin typeface="Arial"/>
            </a:endParaRPr>
          </a:p>
        </p:txBody>
      </p:sp>
      <p:sp>
        <p:nvSpPr>
          <p:cNvPr id="1713" name="Shape 32"/>
          <p:cNvSpPr/>
          <p:nvPr/>
        </p:nvSpPr>
        <p:spPr>
          <a:xfrm>
            <a:off x="8595360" y="5445360"/>
            <a:ext cx="676440" cy="40680"/>
          </a:xfrm>
          <a:prstGeom prst="rect">
            <a:avLst/>
          </a:prstGeom>
          <a:solidFill>
            <a:srgbClr val="c9d2d9"/>
          </a:solidFill>
          <a:ln w="0">
            <a:noFill/>
          </a:ln>
        </p:spPr>
        <p:style>
          <a:lnRef idx="0"/>
          <a:fillRef idx="0"/>
          <a:effectRef idx="0"/>
          <a:fontRef idx="minor"/>
        </p:style>
        <p:txBody>
          <a:bodyPr lIns="90000" rIns="90000" tIns="-3960" bIns="-3960" anchor="t">
            <a:noAutofit/>
          </a:bodyPr>
          <a:p>
            <a:endParaRPr b="0" lang="en-US" sz="1800" strike="noStrike" u="none">
              <a:solidFill>
                <a:srgbClr val="000000"/>
              </a:solidFill>
              <a:effectLst/>
              <a:uFillTx/>
              <a:latin typeface="Arial"/>
            </a:endParaRPr>
          </a:p>
        </p:txBody>
      </p:sp>
      <p:sp>
        <p:nvSpPr>
          <p:cNvPr id="1714" name="Text 33"/>
          <p:cNvSpPr/>
          <p:nvPr/>
        </p:nvSpPr>
        <p:spPr>
          <a:xfrm>
            <a:off x="8595360" y="5532120"/>
            <a:ext cx="676440" cy="237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50" strike="noStrike" u="none">
                <a:solidFill>
                  <a:srgbClr val="5d6e7c"/>
                </a:solidFill>
                <a:effectLst/>
                <a:uFillTx/>
                <a:latin typeface="Calibri"/>
                <a:ea typeface="Calibri"/>
              </a:rPr>
              <a:t>PC3</a:t>
            </a:r>
            <a:endParaRPr b="0" lang="en-US" sz="1150" strike="noStrike" u="none">
              <a:solidFill>
                <a:srgbClr val="000000"/>
              </a:solidFill>
              <a:effectLst/>
              <a:uFillTx/>
              <a:latin typeface="Arial"/>
            </a:endParaRPr>
          </a:p>
        </p:txBody>
      </p:sp>
      <p:sp>
        <p:nvSpPr>
          <p:cNvPr id="1715" name="Text 34"/>
          <p:cNvSpPr/>
          <p:nvPr/>
        </p:nvSpPr>
        <p:spPr>
          <a:xfrm>
            <a:off x="9491400" y="4462200"/>
            <a:ext cx="2057040" cy="868320"/>
          </a:xfrm>
          <a:prstGeom prst="rect">
            <a:avLst/>
          </a:prstGeom>
          <a:noFill/>
          <a:ln w="0">
            <a:noFill/>
          </a:ln>
        </p:spPr>
        <p:style>
          <a:lnRef idx="0"/>
          <a:fillRef idx="0"/>
          <a:effectRef idx="0"/>
          <a:fontRef idx="minor"/>
        </p:style>
        <p:txBody>
          <a:bodyPr lIns="0" rIns="0" tIns="0" bIns="0" anchor="ctr">
            <a:noAutofit/>
          </a:bodyPr>
          <a:p>
            <a:pPr defTabSz="914400">
              <a:lnSpc>
                <a:spcPct val="130000"/>
              </a:lnSpc>
              <a:tabLst>
                <a:tab algn="l" pos="0"/>
              </a:tabLst>
            </a:pPr>
            <a:r>
              <a:rPr b="1" lang="en-US" sz="1100" strike="noStrike" u="none">
                <a:solidFill>
                  <a:srgbClr val="ff6b35"/>
                </a:solidFill>
                <a:effectLst/>
                <a:uFillTx/>
                <a:latin typeface="Courier New"/>
                <a:ea typeface="Courier New"/>
              </a:rPr>
              <a:t>PC1  λ 9.35  91.4%</a:t>
            </a:r>
            <a:endParaRPr b="0" lang="en-US" sz="1100" strike="noStrike" u="none">
              <a:solidFill>
                <a:srgbClr val="000000"/>
              </a:solidFill>
              <a:effectLst/>
              <a:uFillTx/>
              <a:latin typeface="Arial"/>
            </a:endParaRPr>
          </a:p>
          <a:p>
            <a:pPr defTabSz="914400">
              <a:lnSpc>
                <a:spcPct val="130000"/>
              </a:lnSpc>
              <a:tabLst>
                <a:tab algn="l" pos="0"/>
              </a:tabLst>
            </a:pPr>
            <a:r>
              <a:rPr b="1" lang="en-US" sz="1100" strike="noStrike" u="none">
                <a:solidFill>
                  <a:srgbClr val="7d4e9e"/>
                </a:solidFill>
                <a:effectLst/>
                <a:uFillTx/>
                <a:latin typeface="Courier New"/>
                <a:ea typeface="Courier New"/>
              </a:rPr>
              <a:t>PC2  λ 0.82   8.0%</a:t>
            </a:r>
            <a:endParaRPr b="0" lang="en-US" sz="1100" strike="noStrike" u="none">
              <a:solidFill>
                <a:srgbClr val="000000"/>
              </a:solidFill>
              <a:effectLst/>
              <a:uFillTx/>
              <a:latin typeface="Arial"/>
            </a:endParaRPr>
          </a:p>
          <a:p>
            <a:pPr defTabSz="914400">
              <a:lnSpc>
                <a:spcPct val="130000"/>
              </a:lnSpc>
              <a:tabLst>
                <a:tab algn="l" pos="0"/>
              </a:tabLst>
            </a:pPr>
            <a:r>
              <a:rPr b="1" lang="en-US" sz="1100" strike="noStrike" u="none">
                <a:solidFill>
                  <a:srgbClr val="5d6e7c"/>
                </a:solidFill>
                <a:effectLst/>
                <a:uFillTx/>
                <a:latin typeface="Courier New"/>
                <a:ea typeface="Courier New"/>
              </a:rPr>
              <a:t>PC3  λ 0.06   0.6%</a:t>
            </a:r>
            <a:endParaRPr b="0" lang="en-US" sz="1100" strike="noStrike" u="none">
              <a:solidFill>
                <a:srgbClr val="000000"/>
              </a:solidFill>
              <a:effectLst/>
              <a:uFillTx/>
              <a:latin typeface="Arial"/>
            </a:endParaRPr>
          </a:p>
        </p:txBody>
      </p:sp>
      <p:sp>
        <p:nvSpPr>
          <p:cNvPr id="1716" name="Text 35"/>
          <p:cNvSpPr/>
          <p:nvPr/>
        </p:nvSpPr>
        <p:spPr>
          <a:xfrm>
            <a:off x="6400800" y="5833800"/>
            <a:ext cx="51476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One component carries 91%. Two carry 99.4%. The third is noise — which is why the cascade on the last slide cost almost nothing.</a:t>
            </a:r>
            <a:endParaRPr b="0" lang="en-US" sz="13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17" name="Text 0"/>
          <p:cNvSpPr/>
          <p:nvPr/>
        </p:nvSpPr>
        <p:spPr>
          <a:xfrm>
            <a:off x="640080" y="32904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THE CATCH</a:t>
            </a:r>
            <a:endParaRPr b="0" lang="en-US" sz="1200" strike="noStrike" u="none">
              <a:solidFill>
                <a:srgbClr val="000000"/>
              </a:solidFill>
              <a:effectLst/>
              <a:uFillTx/>
              <a:latin typeface="Arial"/>
            </a:endParaRPr>
          </a:p>
        </p:txBody>
      </p:sp>
      <p:sp>
        <p:nvSpPr>
          <p:cNvPr id="1718" name="Text 1"/>
          <p:cNvSpPr/>
          <p:nvPr/>
        </p:nvSpPr>
        <p:spPr>
          <a:xfrm>
            <a:off x="640080" y="62172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4202b"/>
                </a:solidFill>
                <a:effectLst/>
                <a:uFillTx/>
                <a:latin typeface="Cambria"/>
                <a:ea typeface="Cambria"/>
              </a:rPr>
              <a:t>No answer key means no score</a:t>
            </a:r>
            <a:endParaRPr b="0" lang="en-US" sz="3200" strike="noStrike" u="none">
              <a:solidFill>
                <a:srgbClr val="000000"/>
              </a:solidFill>
              <a:effectLst/>
              <a:uFillTx/>
              <a:latin typeface="Arial"/>
            </a:endParaRPr>
          </a:p>
        </p:txBody>
      </p:sp>
      <p:sp>
        <p:nvSpPr>
          <p:cNvPr id="1719" name="Shape 2"/>
          <p:cNvSpPr/>
          <p:nvPr/>
        </p:nvSpPr>
        <p:spPr>
          <a:xfrm>
            <a:off x="640080" y="1783080"/>
            <a:ext cx="5266440" cy="3748680"/>
          </a:xfrm>
          <a:prstGeom prst="roundRect">
            <a:avLst>
              <a:gd name="adj" fmla="val 1951"/>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20" name="Text 3"/>
          <p:cNvSpPr/>
          <p:nvPr/>
        </p:nvSpPr>
        <p:spPr>
          <a:xfrm>
            <a:off x="960120" y="1938600"/>
            <a:ext cx="457164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trike="noStrike" u="none">
                <a:solidFill>
                  <a:srgbClr val="14202b"/>
                </a:solidFill>
                <a:effectLst/>
                <a:uFillTx/>
                <a:latin typeface="Cambria"/>
                <a:ea typeface="Cambria"/>
              </a:rPr>
              <a:t>You cannot just measure it</a:t>
            </a:r>
            <a:endParaRPr b="0" lang="en-US" sz="2000" strike="noStrike" u="none">
              <a:solidFill>
                <a:srgbClr val="000000"/>
              </a:solidFill>
              <a:effectLst/>
              <a:uFillTx/>
              <a:latin typeface="Arial"/>
            </a:endParaRPr>
          </a:p>
        </p:txBody>
      </p:sp>
      <p:sp>
        <p:nvSpPr>
          <p:cNvPr id="1721" name="Text 4"/>
          <p:cNvSpPr/>
          <p:nvPr/>
        </p:nvSpPr>
        <p:spPr>
          <a:xfrm>
            <a:off x="960120" y="2340720"/>
            <a:ext cx="4571640" cy="749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5d6e7c"/>
                </a:solidFill>
                <a:effectLst/>
                <a:uFillTx/>
                <a:latin typeface="Calibri"/>
                <a:ea typeface="Calibri"/>
              </a:rPr>
              <a:t>With labels you hold out rows and get an honest number. Here there is nothing to hold out against, so every metric scores the shape of the answer rather than its correctness.</a:t>
            </a:r>
            <a:endParaRPr b="0" lang="en-US" sz="1400" strike="noStrike" u="none">
              <a:solidFill>
                <a:srgbClr val="000000"/>
              </a:solidFill>
              <a:effectLst/>
              <a:uFillTx/>
              <a:latin typeface="Arial"/>
            </a:endParaRPr>
          </a:p>
        </p:txBody>
      </p:sp>
      <p:sp>
        <p:nvSpPr>
          <p:cNvPr id="1722" name="Text 5"/>
          <p:cNvSpPr/>
          <p:nvPr/>
        </p:nvSpPr>
        <p:spPr>
          <a:xfrm>
            <a:off x="960120" y="3182040"/>
            <a:ext cx="457164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trike="noStrike" u="none">
                <a:solidFill>
                  <a:srgbClr val="14202b"/>
                </a:solidFill>
                <a:effectLst/>
                <a:uFillTx/>
                <a:latin typeface="Calibri"/>
                <a:ea typeface="Calibri"/>
              </a:rPr>
              <a:t>Inertia</a:t>
            </a:r>
            <a:endParaRPr b="0" lang="en-US" sz="1550" strike="noStrike" u="none">
              <a:solidFill>
                <a:srgbClr val="000000"/>
              </a:solidFill>
              <a:effectLst/>
              <a:uFillTx/>
              <a:latin typeface="Arial"/>
            </a:endParaRPr>
          </a:p>
        </p:txBody>
      </p:sp>
      <p:sp>
        <p:nvSpPr>
          <p:cNvPr id="1723" name="Text 6"/>
          <p:cNvSpPr/>
          <p:nvPr/>
        </p:nvSpPr>
        <p:spPr>
          <a:xfrm>
            <a:off x="960120" y="3429000"/>
            <a:ext cx="4571640" cy="493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Σ‖x − μ‖². Falls every time you raise k, so it can never choose k by itself.</a:t>
            </a:r>
            <a:endParaRPr b="0" lang="en-US" sz="1300" strike="noStrike" u="none">
              <a:solidFill>
                <a:srgbClr val="000000"/>
              </a:solidFill>
              <a:effectLst/>
              <a:uFillTx/>
              <a:latin typeface="Arial"/>
            </a:endParaRPr>
          </a:p>
        </p:txBody>
      </p:sp>
      <p:sp>
        <p:nvSpPr>
          <p:cNvPr id="1724" name="Text 7"/>
          <p:cNvSpPr/>
          <p:nvPr/>
        </p:nvSpPr>
        <p:spPr>
          <a:xfrm>
            <a:off x="960120" y="3968640"/>
            <a:ext cx="457164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trike="noStrike" u="none">
                <a:solidFill>
                  <a:srgbClr val="14202b"/>
                </a:solidFill>
                <a:effectLst/>
                <a:uFillTx/>
                <a:latin typeface="Calibri"/>
                <a:ea typeface="Calibri"/>
              </a:rPr>
              <a:t>Silhouette</a:t>
            </a:r>
            <a:endParaRPr b="0" lang="en-US" sz="1550" strike="noStrike" u="none">
              <a:solidFill>
                <a:srgbClr val="000000"/>
              </a:solidFill>
              <a:effectLst/>
              <a:uFillTx/>
              <a:latin typeface="Arial"/>
            </a:endParaRPr>
          </a:p>
        </p:txBody>
      </p:sp>
      <p:sp>
        <p:nvSpPr>
          <p:cNvPr id="1725" name="Text 8"/>
          <p:cNvSpPr/>
          <p:nvPr/>
        </p:nvSpPr>
        <p:spPr>
          <a:xfrm>
            <a:off x="960120" y="4215240"/>
            <a:ext cx="4571640" cy="493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(b − a) / max(a, b) per point: own-cluster distance a against nearest-other b. Near 1 is clean, negative means misfiled.</a:t>
            </a:r>
            <a:endParaRPr b="0" lang="en-US" sz="1300" strike="noStrike" u="none">
              <a:solidFill>
                <a:srgbClr val="000000"/>
              </a:solidFill>
              <a:effectLst/>
              <a:uFillTx/>
              <a:latin typeface="Arial"/>
            </a:endParaRPr>
          </a:p>
        </p:txBody>
      </p:sp>
      <p:sp>
        <p:nvSpPr>
          <p:cNvPr id="1726" name="Text 9"/>
          <p:cNvSpPr/>
          <p:nvPr/>
        </p:nvSpPr>
        <p:spPr>
          <a:xfrm>
            <a:off x="960120" y="4754880"/>
            <a:ext cx="457164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trike="noStrike" u="none">
                <a:solidFill>
                  <a:srgbClr val="14202b"/>
                </a:solidFill>
                <a:effectLst/>
                <a:uFillTx/>
                <a:latin typeface="Calibri"/>
                <a:ea typeface="Calibri"/>
              </a:rPr>
              <a:t>Explained variance</a:t>
            </a:r>
            <a:endParaRPr b="0" lang="en-US" sz="1550" strike="noStrike" u="none">
              <a:solidFill>
                <a:srgbClr val="000000"/>
              </a:solidFill>
              <a:effectLst/>
              <a:uFillTx/>
              <a:latin typeface="Arial"/>
            </a:endParaRPr>
          </a:p>
        </p:txBody>
      </p:sp>
      <p:sp>
        <p:nvSpPr>
          <p:cNvPr id="1727" name="Text 10"/>
          <p:cNvSpPr/>
          <p:nvPr/>
        </p:nvSpPr>
        <p:spPr>
          <a:xfrm>
            <a:off x="960120" y="5001840"/>
            <a:ext cx="4571640" cy="493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5d6e7c"/>
                </a:solidFill>
                <a:effectLst/>
                <a:uFillTx/>
                <a:latin typeface="Calibri"/>
                <a:ea typeface="Calibri"/>
              </a:rPr>
              <a:t>The share of the total eigenvalue your kept components account for.</a:t>
            </a:r>
            <a:endParaRPr b="0" lang="en-US" sz="1300" strike="noStrike" u="none">
              <a:solidFill>
                <a:srgbClr val="000000"/>
              </a:solidFill>
              <a:effectLst/>
              <a:uFillTx/>
              <a:latin typeface="Arial"/>
            </a:endParaRPr>
          </a:p>
        </p:txBody>
      </p:sp>
      <p:sp>
        <p:nvSpPr>
          <p:cNvPr id="1728" name="Shape 11"/>
          <p:cNvSpPr/>
          <p:nvPr/>
        </p:nvSpPr>
        <p:spPr>
          <a:xfrm>
            <a:off x="6282000" y="1783080"/>
            <a:ext cx="5266440" cy="3748680"/>
          </a:xfrm>
          <a:prstGeom prst="roundRect">
            <a:avLst>
              <a:gd name="adj" fmla="val 1951"/>
            </a:avLst>
          </a:prstGeom>
          <a:solidFill>
            <a:srgbClr val="f2f5f8"/>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29" name="Text 12"/>
          <p:cNvSpPr/>
          <p:nvPr/>
        </p:nvSpPr>
        <p:spPr>
          <a:xfrm>
            <a:off x="6602040" y="1938600"/>
            <a:ext cx="457164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trike="noStrike" u="none">
                <a:solidFill>
                  <a:srgbClr val="14202b"/>
                </a:solidFill>
                <a:effectLst/>
                <a:uFillTx/>
                <a:latin typeface="Cambria"/>
                <a:ea typeface="Cambria"/>
              </a:rPr>
              <a:t>What it is actually for</a:t>
            </a:r>
            <a:endParaRPr b="0" lang="en-US" sz="2000" strike="noStrike" u="none">
              <a:solidFill>
                <a:srgbClr val="000000"/>
              </a:solidFill>
              <a:effectLst/>
              <a:uFillTx/>
              <a:latin typeface="Arial"/>
            </a:endParaRPr>
          </a:p>
        </p:txBody>
      </p:sp>
      <p:sp>
        <p:nvSpPr>
          <p:cNvPr id="1730" name="Shape 13"/>
          <p:cNvSpPr/>
          <p:nvPr/>
        </p:nvSpPr>
        <p:spPr>
          <a:xfrm>
            <a:off x="6602040" y="260604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731" name="Text 14"/>
          <p:cNvSpPr/>
          <p:nvPr/>
        </p:nvSpPr>
        <p:spPr>
          <a:xfrm>
            <a:off x="6967800" y="2523600"/>
            <a:ext cx="429732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14202b"/>
                </a:solidFill>
                <a:effectLst/>
                <a:uFillTx/>
                <a:latin typeface="Calibri"/>
                <a:ea typeface="Calibri"/>
              </a:rPr>
              <a:t>Exploration</a:t>
            </a:r>
            <a:endParaRPr b="0" lang="en-US" sz="1600" strike="noStrike" u="none">
              <a:solidFill>
                <a:srgbClr val="000000"/>
              </a:solidFill>
              <a:effectLst/>
              <a:uFillTx/>
              <a:latin typeface="Arial"/>
            </a:endParaRPr>
          </a:p>
        </p:txBody>
      </p:sp>
      <p:sp>
        <p:nvSpPr>
          <p:cNvPr id="1732" name="Text 15"/>
          <p:cNvSpPr/>
          <p:nvPr/>
        </p:nvSpPr>
        <p:spPr>
          <a:xfrm>
            <a:off x="6967800" y="2797920"/>
            <a:ext cx="4297320" cy="43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What kinds of houses are even in this market?</a:t>
            </a:r>
            <a:endParaRPr b="0" lang="en-US" sz="1350" strike="noStrike" u="none">
              <a:solidFill>
                <a:srgbClr val="000000"/>
              </a:solidFill>
              <a:effectLst/>
              <a:uFillTx/>
              <a:latin typeface="Arial"/>
            </a:endParaRPr>
          </a:p>
        </p:txBody>
      </p:sp>
      <p:sp>
        <p:nvSpPr>
          <p:cNvPr id="1733" name="Shape 16"/>
          <p:cNvSpPr/>
          <p:nvPr/>
        </p:nvSpPr>
        <p:spPr>
          <a:xfrm>
            <a:off x="6602040" y="335592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734" name="Text 17"/>
          <p:cNvSpPr/>
          <p:nvPr/>
        </p:nvSpPr>
        <p:spPr>
          <a:xfrm>
            <a:off x="6967800" y="3273480"/>
            <a:ext cx="429732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14202b"/>
                </a:solidFill>
                <a:effectLst/>
                <a:uFillTx/>
                <a:latin typeface="Calibri"/>
                <a:ea typeface="Calibri"/>
              </a:rPr>
              <a:t>Compression</a:t>
            </a:r>
            <a:endParaRPr b="0" lang="en-US" sz="1600" strike="noStrike" u="none">
              <a:solidFill>
                <a:srgbClr val="000000"/>
              </a:solidFill>
              <a:effectLst/>
              <a:uFillTx/>
              <a:latin typeface="Arial"/>
            </a:endParaRPr>
          </a:p>
        </p:txBody>
      </p:sp>
      <p:sp>
        <p:nvSpPr>
          <p:cNvPr id="1735" name="Text 18"/>
          <p:cNvSpPr/>
          <p:nvPr/>
        </p:nvSpPr>
        <p:spPr>
          <a:xfrm>
            <a:off x="6967800" y="3547800"/>
            <a:ext cx="4297320" cy="43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Fewer columns means faster training and smaller models.</a:t>
            </a:r>
            <a:endParaRPr b="0" lang="en-US" sz="1350" strike="noStrike" u="none">
              <a:solidFill>
                <a:srgbClr val="000000"/>
              </a:solidFill>
              <a:effectLst/>
              <a:uFillTx/>
              <a:latin typeface="Arial"/>
            </a:endParaRPr>
          </a:p>
        </p:txBody>
      </p:sp>
      <p:sp>
        <p:nvSpPr>
          <p:cNvPr id="1736" name="Shape 19"/>
          <p:cNvSpPr/>
          <p:nvPr/>
        </p:nvSpPr>
        <p:spPr>
          <a:xfrm>
            <a:off x="6602040" y="410580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737" name="Text 20"/>
          <p:cNvSpPr/>
          <p:nvPr/>
        </p:nvSpPr>
        <p:spPr>
          <a:xfrm>
            <a:off x="6967800" y="4023360"/>
            <a:ext cx="429732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14202b"/>
                </a:solidFill>
                <a:effectLst/>
                <a:uFillTx/>
                <a:latin typeface="Calibri"/>
                <a:ea typeface="Calibri"/>
              </a:rPr>
              <a:t>Features for a supervised model</a:t>
            </a:r>
            <a:endParaRPr b="0" lang="en-US" sz="1600" strike="noStrike" u="none">
              <a:solidFill>
                <a:srgbClr val="000000"/>
              </a:solidFill>
              <a:effectLst/>
              <a:uFillTx/>
              <a:latin typeface="Arial"/>
            </a:endParaRPr>
          </a:p>
        </p:txBody>
      </p:sp>
      <p:sp>
        <p:nvSpPr>
          <p:cNvPr id="1738" name="Text 21"/>
          <p:cNvSpPr/>
          <p:nvPr/>
        </p:nvSpPr>
        <p:spPr>
          <a:xfrm>
            <a:off x="6967800" y="4297680"/>
            <a:ext cx="4297320" cy="43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Feed the cluster id or the first few components into your line or your tree.</a:t>
            </a:r>
            <a:endParaRPr b="0" lang="en-US" sz="1350" strike="noStrike" u="none">
              <a:solidFill>
                <a:srgbClr val="000000"/>
              </a:solidFill>
              <a:effectLst/>
              <a:uFillTx/>
              <a:latin typeface="Arial"/>
            </a:endParaRPr>
          </a:p>
        </p:txBody>
      </p:sp>
      <p:sp>
        <p:nvSpPr>
          <p:cNvPr id="1739" name="Shape 22"/>
          <p:cNvSpPr/>
          <p:nvPr/>
        </p:nvSpPr>
        <p:spPr>
          <a:xfrm>
            <a:off x="6602040" y="4855320"/>
            <a:ext cx="164160" cy="164160"/>
          </a:xfrm>
          <a:prstGeom prst="ellipse">
            <a:avLst/>
          </a:prstGeom>
          <a:solidFill>
            <a:srgbClr val="ff6b35"/>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740" name="Text 23"/>
          <p:cNvSpPr/>
          <p:nvPr/>
        </p:nvSpPr>
        <p:spPr>
          <a:xfrm>
            <a:off x="6967800" y="4773240"/>
            <a:ext cx="429732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14202b"/>
                </a:solidFill>
                <a:effectLst/>
                <a:uFillTx/>
                <a:latin typeface="Calibri"/>
                <a:ea typeface="Calibri"/>
              </a:rPr>
              <a:t>Anomaly detection</a:t>
            </a:r>
            <a:endParaRPr b="0" lang="en-US" sz="1600" strike="noStrike" u="none">
              <a:solidFill>
                <a:srgbClr val="000000"/>
              </a:solidFill>
              <a:effectLst/>
              <a:uFillTx/>
              <a:latin typeface="Arial"/>
            </a:endParaRPr>
          </a:p>
        </p:txBody>
      </p:sp>
      <p:sp>
        <p:nvSpPr>
          <p:cNvPr id="1741" name="Text 24"/>
          <p:cNvSpPr/>
          <p:nvPr/>
        </p:nvSpPr>
        <p:spPr>
          <a:xfrm>
            <a:off x="6967800" y="5047560"/>
            <a:ext cx="4297320" cy="43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5d6e7c"/>
                </a:solidFill>
                <a:effectLst/>
                <a:uFillTx/>
                <a:latin typeface="Calibri"/>
                <a:ea typeface="Calibri"/>
              </a:rPr>
              <a:t>A house sitting far from every centre is worth a second look.</a:t>
            </a:r>
            <a:endParaRPr b="0" lang="en-US" sz="1350" strike="noStrike" u="none">
              <a:solidFill>
                <a:srgbClr val="000000"/>
              </a:solidFill>
              <a:effectLst/>
              <a:uFillTx/>
              <a:latin typeface="Arial"/>
            </a:endParaRPr>
          </a:p>
        </p:txBody>
      </p:sp>
      <p:sp>
        <p:nvSpPr>
          <p:cNvPr id="1742" name="Shape 25"/>
          <p:cNvSpPr/>
          <p:nvPr/>
        </p:nvSpPr>
        <p:spPr>
          <a:xfrm>
            <a:off x="640080" y="5669280"/>
            <a:ext cx="10911240" cy="731160"/>
          </a:xfrm>
          <a:prstGeom prst="roundRect">
            <a:avLst>
              <a:gd name="adj" fmla="val 10000"/>
            </a:avLst>
          </a:prstGeom>
          <a:solidFill>
            <a:srgbClr val="14202b"/>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743" name="Text 26"/>
          <p:cNvSpPr/>
          <p:nvPr/>
        </p:nvSpPr>
        <p:spPr>
          <a:xfrm>
            <a:off x="960120" y="5669280"/>
            <a:ext cx="1027116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50" strike="noStrike" u="none">
                <a:solidFill>
                  <a:srgbClr val="ff6b35"/>
                </a:solidFill>
                <a:effectLst/>
                <a:uFillTx/>
                <a:latin typeface="Calibri"/>
                <a:ea typeface="Calibri"/>
              </a:rPr>
              <a:t>Supervised learning answers a question you already asked. </a:t>
            </a:r>
            <a:r>
              <a:rPr b="0" lang="en-US" sz="1600" strike="noStrike" u="none">
                <a:solidFill>
                  <a:srgbClr val="d6e0e8"/>
                </a:solidFill>
                <a:effectLst/>
                <a:uFillTx/>
                <a:latin typeface="Calibri"/>
                <a:ea typeface="Calibri"/>
              </a:rPr>
              <a:t>Unsupervised learning helps you work out which questions are there to ask.</a:t>
            </a: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4202b"/>
        </a:solidFill>
      </p:bgPr>
    </p:bg>
    <p:spTree>
      <p:nvGrpSpPr>
        <p:cNvPr id="1" name=""/>
        <p:cNvGrpSpPr/>
        <p:nvPr/>
      </p:nvGrpSpPr>
      <p:grpSpPr>
        <a:xfrm>
          <a:off x="0" y="0"/>
          <a:ext cx="0" cy="0"/>
          <a:chOff x="0" y="0"/>
          <a:chExt cx="0" cy="0"/>
        </a:xfrm>
      </p:grpSpPr>
      <p:sp>
        <p:nvSpPr>
          <p:cNvPr id="1744" name="Text 0"/>
          <p:cNvSpPr/>
          <p:nvPr/>
        </p:nvSpPr>
        <p:spPr>
          <a:xfrm>
            <a:off x="640080" y="457200"/>
            <a:ext cx="1091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201" strike="noStrike" u="none">
                <a:solidFill>
                  <a:srgbClr val="ff6b35"/>
                </a:solidFill>
                <a:effectLst/>
                <a:uFillTx/>
                <a:latin typeface="Calibri"/>
                <a:ea typeface="Calibri"/>
              </a:rPr>
              <a:t>RECAP</a:t>
            </a:r>
            <a:endParaRPr b="0" lang="en-US" sz="1200" strike="noStrike" u="none">
              <a:solidFill>
                <a:srgbClr val="ffffff"/>
              </a:solidFill>
              <a:effectLst/>
              <a:uFillTx/>
              <a:latin typeface="Arial"/>
            </a:endParaRPr>
          </a:p>
        </p:txBody>
      </p:sp>
      <p:sp>
        <p:nvSpPr>
          <p:cNvPr id="1745" name="Text 1"/>
          <p:cNvSpPr/>
          <p:nvPr/>
        </p:nvSpPr>
        <p:spPr>
          <a:xfrm>
            <a:off x="640080" y="777240"/>
            <a:ext cx="10911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ffffff"/>
                </a:solidFill>
                <a:effectLst/>
                <a:uFillTx/>
                <a:latin typeface="Cambria"/>
                <a:ea typeface="Cambria"/>
              </a:rPr>
              <a:t>What to take away</a:t>
            </a:r>
            <a:endParaRPr b="0" lang="en-US" sz="3200" strike="noStrike" u="none">
              <a:solidFill>
                <a:srgbClr val="ffffff"/>
              </a:solidFill>
              <a:effectLst/>
              <a:uFillTx/>
              <a:latin typeface="Arial"/>
            </a:endParaRPr>
          </a:p>
        </p:txBody>
      </p:sp>
      <p:sp>
        <p:nvSpPr>
          <p:cNvPr id="1746" name="Shape 2"/>
          <p:cNvSpPr/>
          <p:nvPr/>
        </p:nvSpPr>
        <p:spPr>
          <a:xfrm>
            <a:off x="640080" y="1901880"/>
            <a:ext cx="273960" cy="44280"/>
          </a:xfrm>
          <a:prstGeom prst="rect">
            <a:avLst/>
          </a:prstGeom>
          <a:solidFill>
            <a:srgbClr val="ff6b35"/>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1747" name="Text 3"/>
          <p:cNvSpPr/>
          <p:nvPr/>
        </p:nvSpPr>
        <p:spPr>
          <a:xfrm>
            <a:off x="1188720" y="1664280"/>
            <a:ext cx="10332360" cy="5299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750" strike="noStrike" u="none">
                <a:solidFill>
                  <a:srgbClr val="e4ebf1"/>
                </a:solidFill>
                <a:effectLst/>
                <a:uFillTx/>
                <a:latin typeface="Calibri"/>
                <a:ea typeface="Calibri"/>
              </a:rPr>
              <a:t>Hand-written rules put the knowledge in your head. It belongs in the data.</a:t>
            </a:r>
            <a:endParaRPr b="0" lang="en-US" sz="1750" strike="noStrike" u="none">
              <a:solidFill>
                <a:srgbClr val="ffffff"/>
              </a:solidFill>
              <a:effectLst/>
              <a:uFillTx/>
              <a:latin typeface="Arial"/>
            </a:endParaRPr>
          </a:p>
        </p:txBody>
      </p:sp>
      <p:sp>
        <p:nvSpPr>
          <p:cNvPr id="1748" name="Shape 4"/>
          <p:cNvSpPr/>
          <p:nvPr/>
        </p:nvSpPr>
        <p:spPr>
          <a:xfrm>
            <a:off x="640080" y="2514600"/>
            <a:ext cx="273960" cy="44280"/>
          </a:xfrm>
          <a:prstGeom prst="rect">
            <a:avLst/>
          </a:prstGeom>
          <a:solidFill>
            <a:srgbClr val="ff6b35"/>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1749" name="Text 5"/>
          <p:cNvSpPr/>
          <p:nvPr/>
        </p:nvSpPr>
        <p:spPr>
          <a:xfrm>
            <a:off x="1188720" y="2277000"/>
            <a:ext cx="10332360" cy="5299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750" strike="noStrike" u="none">
                <a:solidFill>
                  <a:srgbClr val="e4ebf1"/>
                </a:solidFill>
                <a:effectLst/>
                <a:uFillTx/>
                <a:latin typeface="Calibri"/>
                <a:ea typeface="Calibri"/>
              </a:rPr>
              <a:t>A linear model is y = mx + b with new names: weights and a bias.</a:t>
            </a:r>
            <a:endParaRPr b="0" lang="en-US" sz="1750" strike="noStrike" u="none">
              <a:solidFill>
                <a:srgbClr val="ffffff"/>
              </a:solidFill>
              <a:effectLst/>
              <a:uFillTx/>
              <a:latin typeface="Arial"/>
            </a:endParaRPr>
          </a:p>
        </p:txBody>
      </p:sp>
      <p:sp>
        <p:nvSpPr>
          <p:cNvPr id="1750" name="Shape 6"/>
          <p:cNvSpPr/>
          <p:nvPr/>
        </p:nvSpPr>
        <p:spPr>
          <a:xfrm>
            <a:off x="640080" y="3127320"/>
            <a:ext cx="273960" cy="44280"/>
          </a:xfrm>
          <a:prstGeom prst="rect">
            <a:avLst/>
          </a:prstGeom>
          <a:solidFill>
            <a:srgbClr val="ff6b35"/>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1751" name="Text 7"/>
          <p:cNvSpPr/>
          <p:nvPr/>
        </p:nvSpPr>
        <p:spPr>
          <a:xfrm>
            <a:off x="1188720" y="2889360"/>
            <a:ext cx="10332360" cy="5299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750" strike="noStrike" u="none">
                <a:solidFill>
                  <a:srgbClr val="e4ebf1"/>
                </a:solidFill>
                <a:effectLst/>
                <a:uFillTx/>
                <a:latin typeface="Calibri"/>
                <a:ea typeface="Calibri"/>
              </a:rPr>
              <a:t>Every model shares one pipeline: data, split, train, evaluate, infer, retrain.</a:t>
            </a:r>
            <a:endParaRPr b="0" lang="en-US" sz="1750" strike="noStrike" u="none">
              <a:solidFill>
                <a:srgbClr val="ffffff"/>
              </a:solidFill>
              <a:effectLst/>
              <a:uFillTx/>
              <a:latin typeface="Arial"/>
            </a:endParaRPr>
          </a:p>
        </p:txBody>
      </p:sp>
      <p:sp>
        <p:nvSpPr>
          <p:cNvPr id="1752" name="Shape 8"/>
          <p:cNvSpPr/>
          <p:nvPr/>
        </p:nvSpPr>
        <p:spPr>
          <a:xfrm>
            <a:off x="640080" y="3740040"/>
            <a:ext cx="273960" cy="44280"/>
          </a:xfrm>
          <a:prstGeom prst="rect">
            <a:avLst/>
          </a:prstGeom>
          <a:solidFill>
            <a:srgbClr val="ff6b35"/>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1753" name="Text 9"/>
          <p:cNvSpPr/>
          <p:nvPr/>
        </p:nvSpPr>
        <p:spPr>
          <a:xfrm>
            <a:off x="1188720" y="3502080"/>
            <a:ext cx="10332360" cy="5299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750" strike="noStrike" u="none">
                <a:solidFill>
                  <a:srgbClr val="e4ebf1"/>
                </a:solidFill>
                <a:effectLst/>
                <a:uFillTx/>
                <a:latin typeface="Calibri"/>
                <a:ea typeface="Calibri"/>
              </a:rPr>
              <a:t>A decision tree learns the if-statements you would have written by hand.</a:t>
            </a:r>
            <a:endParaRPr b="0" lang="en-US" sz="1750" strike="noStrike" u="none">
              <a:solidFill>
                <a:srgbClr val="ffffff"/>
              </a:solidFill>
              <a:effectLst/>
              <a:uFillTx/>
              <a:latin typeface="Arial"/>
            </a:endParaRPr>
          </a:p>
        </p:txBody>
      </p:sp>
      <p:sp>
        <p:nvSpPr>
          <p:cNvPr id="1754" name="Shape 10"/>
          <p:cNvSpPr/>
          <p:nvPr/>
        </p:nvSpPr>
        <p:spPr>
          <a:xfrm>
            <a:off x="640080" y="4352400"/>
            <a:ext cx="273960" cy="44280"/>
          </a:xfrm>
          <a:prstGeom prst="rect">
            <a:avLst/>
          </a:prstGeom>
          <a:solidFill>
            <a:srgbClr val="ff6b35"/>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1755" name="Text 11"/>
          <p:cNvSpPr/>
          <p:nvPr/>
        </p:nvSpPr>
        <p:spPr>
          <a:xfrm>
            <a:off x="1188720" y="4114800"/>
            <a:ext cx="10332360" cy="5299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750" strike="noStrike" u="none">
                <a:solidFill>
                  <a:srgbClr val="e4ebf1"/>
                </a:solidFill>
                <a:effectLst/>
                <a:uFillTx/>
                <a:latin typeface="Calibri"/>
                <a:ea typeface="Calibri"/>
              </a:rPr>
              <a:t>A perceptron is that same line with a switch on the end. A network is a pile of them.</a:t>
            </a:r>
            <a:endParaRPr b="0" lang="en-US" sz="1750" strike="noStrike" u="none">
              <a:solidFill>
                <a:srgbClr val="ffffff"/>
              </a:solidFill>
              <a:effectLst/>
              <a:uFillTx/>
              <a:latin typeface="Arial"/>
            </a:endParaRPr>
          </a:p>
        </p:txBody>
      </p:sp>
      <p:sp>
        <p:nvSpPr>
          <p:cNvPr id="1756" name="Shape 12"/>
          <p:cNvSpPr/>
          <p:nvPr/>
        </p:nvSpPr>
        <p:spPr>
          <a:xfrm>
            <a:off x="640080" y="4965120"/>
            <a:ext cx="273960" cy="44280"/>
          </a:xfrm>
          <a:prstGeom prst="rect">
            <a:avLst/>
          </a:prstGeom>
          <a:solidFill>
            <a:srgbClr val="ff6b35"/>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1757" name="Text 13"/>
          <p:cNvSpPr/>
          <p:nvPr/>
        </p:nvSpPr>
        <p:spPr>
          <a:xfrm>
            <a:off x="1188720" y="4727520"/>
            <a:ext cx="10332360" cy="5299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750" strike="noStrike" u="none">
                <a:solidFill>
                  <a:srgbClr val="e4ebf1"/>
                </a:solidFill>
                <a:effectLst/>
                <a:uFillTx/>
                <a:latin typeface="Calibri"/>
                <a:ea typeface="Calibri"/>
              </a:rPr>
              <a:t>Gradient descent nudges every weight by the error times its own input.</a:t>
            </a:r>
            <a:endParaRPr b="0" lang="en-US" sz="1750" strike="noStrike" u="none">
              <a:solidFill>
                <a:srgbClr val="ffffff"/>
              </a:solidFill>
              <a:effectLst/>
              <a:uFillTx/>
              <a:latin typeface="Arial"/>
            </a:endParaRPr>
          </a:p>
        </p:txBody>
      </p:sp>
      <p:sp>
        <p:nvSpPr>
          <p:cNvPr id="1758" name="Shape 14"/>
          <p:cNvSpPr/>
          <p:nvPr/>
        </p:nvSpPr>
        <p:spPr>
          <a:xfrm>
            <a:off x="640080" y="5577840"/>
            <a:ext cx="273960" cy="44280"/>
          </a:xfrm>
          <a:prstGeom prst="rect">
            <a:avLst/>
          </a:prstGeom>
          <a:solidFill>
            <a:srgbClr val="ff6b35"/>
          </a:solidFill>
          <a:ln w="0">
            <a:noFill/>
          </a:ln>
        </p:spPr>
        <p:style>
          <a:lnRef idx="0"/>
          <a:fillRef idx="0"/>
          <a:effectRef idx="0"/>
          <a:fontRef idx="minor"/>
        </p:style>
        <p:txBody>
          <a:bodyPr lIns="90000" rIns="90000" tIns="-360" bIns="-360" anchor="t">
            <a:noAutofit/>
          </a:bodyPr>
          <a:p>
            <a:endParaRPr b="0" lang="en-US" sz="1800" strike="noStrike" u="none">
              <a:solidFill>
                <a:srgbClr val="ffffff"/>
              </a:solidFill>
              <a:effectLst/>
              <a:uFillTx/>
              <a:latin typeface="Arial"/>
            </a:endParaRPr>
          </a:p>
        </p:txBody>
      </p:sp>
      <p:sp>
        <p:nvSpPr>
          <p:cNvPr id="1759" name="Text 15"/>
          <p:cNvSpPr/>
          <p:nvPr/>
        </p:nvSpPr>
        <p:spPr>
          <a:xfrm>
            <a:off x="1188720" y="5340240"/>
            <a:ext cx="10332360" cy="5299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750" strike="noStrike" u="none">
                <a:solidFill>
                  <a:srgbClr val="e4ebf1"/>
                </a:solidFill>
                <a:effectLst/>
                <a:uFillTx/>
                <a:latin typeface="Calibri"/>
                <a:ea typeface="Calibri"/>
              </a:rPr>
              <a:t>With no labels you can still find groups and shed columns — you just cannot score it.</a:t>
            </a:r>
            <a:endParaRPr b="0" lang="en-US" sz="1750" strike="noStrike" u="none">
              <a:solidFill>
                <a:srgbClr val="ffffff"/>
              </a:solidFill>
              <a:effectLst/>
              <a:uFillTx/>
              <a:latin typeface="Arial"/>
            </a:endParaRPr>
          </a:p>
        </p:txBody>
      </p:sp>
      <p:sp>
        <p:nvSpPr>
          <p:cNvPr id="1760" name="Text 16"/>
          <p:cNvSpPr/>
          <p:nvPr/>
        </p:nvSpPr>
        <p:spPr>
          <a:xfrm>
            <a:off x="640080" y="6035040"/>
            <a:ext cx="109112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2600" strike="noStrike" u="none">
                <a:solidFill>
                  <a:srgbClr val="ff6b35"/>
                </a:solidFill>
                <a:effectLst/>
                <a:uFillTx/>
                <a:latin typeface="Cambria"/>
                <a:ea typeface="Cambria"/>
              </a:rPr>
              <a:t>Questions.</a:t>
            </a:r>
            <a:endParaRPr b="0" lang="en-US" sz="26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LibreOffice/25.2.3.2$Linux_X86_64 LibreOffice_project/520$Build-2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2026-10-04T01:09:06Z</dcterms:created>
  <dc:creator>Jacob Shultz</dc:creator>
  <dc:description/>
  <dc:language>en-US</dc:language>
  <cp:lastModifiedBy/>
  <dcterms:modified xsi:type="dcterms:W3CDTF">2026-10-04T20:40:30Z</dcterms:modified>
  <cp:revision>2</cp:revision>
  <dc:subject>PptxGenJS Presentation</dc:subject>
  <dc:title>Intro to Machine Learning</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50</vt:i4>
  </property>
  <property fmtid="{D5CDD505-2E9C-101B-9397-08002B2CF9AE}" pid="3" name="PresentationFormat">
    <vt:lpwstr>On-screen Show (16:9)</vt:lpwstr>
  </property>
  <property fmtid="{D5CDD505-2E9C-101B-9397-08002B2CF9AE}" pid="4" name="Slides">
    <vt:i4>50</vt:i4>
  </property>
</Properties>
</file>